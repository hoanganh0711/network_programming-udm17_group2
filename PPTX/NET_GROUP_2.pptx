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Big Shoulders Display Bold" panose="020B0604020202020204" charset="-93"/>
      <p:regular r:id="rId21"/>
    </p:embeddedFont>
    <p:embeddedFont>
      <p:font typeface="Big Shoulders Display" panose="020B0604020202020204" charset="-93"/>
      <p:regular r:id="rId22"/>
    </p:embeddedFont>
    <p:embeddedFont>
      <p:font typeface="Poppins Bold" panose="020B0604020202020204" charset="0"/>
      <p:regular r:id="rId23"/>
    </p:embeddedFont>
    <p:embeddedFont>
      <p:font typeface="Poppins" panose="020B0604020202020204" charset="0"/>
      <p:regular r:id="rId24"/>
    </p:embeddedFont>
    <p:embeddedFont>
      <p:font typeface="Calibri" panose="020F0502020204030204" pitchFamily="34"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1" d="100"/>
          <a:sy n="71" d="100"/>
        </p:scale>
        <p:origin x="71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2.pn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2.pn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2.pn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sv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2.png"/><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2.png"/><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646234">
            <a:off x="14249597" y="7258779"/>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041331">
            <a:off x="314996" y="7116808"/>
            <a:ext cx="3820236" cy="2695003"/>
          </a:xfrm>
          <a:custGeom>
            <a:avLst/>
            <a:gdLst/>
            <a:ahLst/>
            <a:cxnLst/>
            <a:rect l="l" t="t" r="r" b="b"/>
            <a:pathLst>
              <a:path w="3820236" h="2695003">
                <a:moveTo>
                  <a:pt x="0" y="0"/>
                </a:moveTo>
                <a:lnTo>
                  <a:pt x="3820236" y="0"/>
                </a:lnTo>
                <a:lnTo>
                  <a:pt x="3820236" y="2695002"/>
                </a:lnTo>
                <a:lnTo>
                  <a:pt x="0" y="269500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4510730" y="-4098552"/>
            <a:ext cx="5497139" cy="5497139"/>
          </a:xfrm>
          <a:custGeom>
            <a:avLst/>
            <a:gdLst/>
            <a:ahLst/>
            <a:cxnLst/>
            <a:rect l="l" t="t" r="r" b="b"/>
            <a:pathLst>
              <a:path w="5497139" h="5497139">
                <a:moveTo>
                  <a:pt x="0" y="0"/>
                </a:moveTo>
                <a:lnTo>
                  <a:pt x="5497140" y="0"/>
                </a:lnTo>
                <a:lnTo>
                  <a:pt x="5497140" y="5497139"/>
                </a:lnTo>
                <a:lnTo>
                  <a:pt x="0" y="549713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TextBox 5"/>
          <p:cNvSpPr txBox="1"/>
          <p:nvPr/>
        </p:nvSpPr>
        <p:spPr>
          <a:xfrm>
            <a:off x="5161586" y="3990650"/>
            <a:ext cx="8146365" cy="1821176"/>
          </a:xfrm>
          <a:prstGeom prst="rect">
            <a:avLst/>
          </a:prstGeom>
        </p:spPr>
        <p:txBody>
          <a:bodyPr lIns="0" tIns="0" rIns="0" bIns="0" rtlCol="0" anchor="t">
            <a:spAutoFit/>
          </a:bodyPr>
          <a:lstStyle/>
          <a:p>
            <a:pPr algn="ctr">
              <a:lnSpc>
                <a:spcPts val="13177"/>
              </a:lnSpc>
            </a:pPr>
            <a:r>
              <a:rPr lang="en-US" sz="14806" b="1">
                <a:solidFill>
                  <a:srgbClr val="1A1F41"/>
                </a:solidFill>
                <a:latin typeface="Big Shoulders Display Bold"/>
                <a:ea typeface="Big Shoulders Display Bold"/>
                <a:cs typeface="Big Shoulders Display Bold"/>
                <a:sym typeface="Big Shoulders Display Bold"/>
              </a:rPr>
              <a:t>CARO-GAME</a:t>
            </a:r>
          </a:p>
        </p:txBody>
      </p:sp>
      <p:sp>
        <p:nvSpPr>
          <p:cNvPr id="6" name="TextBox 6"/>
          <p:cNvSpPr txBox="1"/>
          <p:nvPr/>
        </p:nvSpPr>
        <p:spPr>
          <a:xfrm>
            <a:off x="6278457" y="8816975"/>
            <a:ext cx="5731086" cy="4413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NET_GROUP_02-UDM_17</a:t>
            </a:r>
          </a:p>
        </p:txBody>
      </p:sp>
      <p:sp>
        <p:nvSpPr>
          <p:cNvPr id="7" name="Freeform 7"/>
          <p:cNvSpPr/>
          <p:nvPr/>
        </p:nvSpPr>
        <p:spPr>
          <a:xfrm>
            <a:off x="-1722099" y="-4098552"/>
            <a:ext cx="5497139" cy="5497139"/>
          </a:xfrm>
          <a:custGeom>
            <a:avLst/>
            <a:gdLst/>
            <a:ahLst/>
            <a:cxnLst/>
            <a:rect l="l" t="t" r="r" b="b"/>
            <a:pathLst>
              <a:path w="5497139" h="5497139">
                <a:moveTo>
                  <a:pt x="0" y="0"/>
                </a:moveTo>
                <a:lnTo>
                  <a:pt x="5497139" y="0"/>
                </a:lnTo>
                <a:lnTo>
                  <a:pt x="5497139" y="5497139"/>
                </a:lnTo>
                <a:lnTo>
                  <a:pt x="0" y="549713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646234">
            <a:off x="15349182" y="526870"/>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041331">
            <a:off x="15228878" y="8663504"/>
            <a:ext cx="3159718" cy="2229037"/>
          </a:xfrm>
          <a:custGeom>
            <a:avLst/>
            <a:gdLst/>
            <a:ahLst/>
            <a:cxnLst/>
            <a:rect l="l" t="t" r="r" b="b"/>
            <a:pathLst>
              <a:path w="3159718" h="2229037">
                <a:moveTo>
                  <a:pt x="0" y="0"/>
                </a:moveTo>
                <a:lnTo>
                  <a:pt x="3159718" y="0"/>
                </a:lnTo>
                <a:lnTo>
                  <a:pt x="3159718" y="2229037"/>
                </a:lnTo>
                <a:lnTo>
                  <a:pt x="0" y="222903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7044792" y="-4468439"/>
            <a:ext cx="5497139" cy="5497139"/>
          </a:xfrm>
          <a:custGeom>
            <a:avLst/>
            <a:gdLst/>
            <a:ahLst/>
            <a:cxnLst/>
            <a:rect l="l" t="t" r="r" b="b"/>
            <a:pathLst>
              <a:path w="5497139" h="5497139">
                <a:moveTo>
                  <a:pt x="0" y="0"/>
                </a:moveTo>
                <a:lnTo>
                  <a:pt x="5497139" y="0"/>
                </a:lnTo>
                <a:lnTo>
                  <a:pt x="5497139" y="5497139"/>
                </a:lnTo>
                <a:lnTo>
                  <a:pt x="0" y="549713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TextBox 5"/>
          <p:cNvSpPr txBox="1"/>
          <p:nvPr/>
        </p:nvSpPr>
        <p:spPr>
          <a:xfrm>
            <a:off x="6877415" y="2818492"/>
            <a:ext cx="2370084" cy="736600"/>
          </a:xfrm>
          <a:prstGeom prst="rect">
            <a:avLst/>
          </a:prstGeom>
        </p:spPr>
        <p:txBody>
          <a:bodyPr lIns="0" tIns="0" rIns="0" bIns="0" rtlCol="0" anchor="t">
            <a:spAutoFit/>
          </a:bodyPr>
          <a:lstStyle/>
          <a:p>
            <a:pPr algn="l">
              <a:lnSpc>
                <a:spcPts val="5750"/>
              </a:lnSpc>
            </a:pPr>
            <a:r>
              <a:rPr lang="en-US" sz="5000" b="1">
                <a:solidFill>
                  <a:srgbClr val="1A1F41"/>
                </a:solidFill>
                <a:latin typeface="Big Shoulders Display Bold"/>
                <a:ea typeface="Big Shoulders Display Bold"/>
                <a:cs typeface="Big Shoulders Display Bold"/>
                <a:sym typeface="Big Shoulders Display Bold"/>
              </a:rPr>
              <a:t>OUR TEAM</a:t>
            </a:r>
          </a:p>
        </p:txBody>
      </p:sp>
      <p:sp>
        <p:nvSpPr>
          <p:cNvPr id="6" name="TextBox 6"/>
          <p:cNvSpPr txBox="1"/>
          <p:nvPr/>
        </p:nvSpPr>
        <p:spPr>
          <a:xfrm>
            <a:off x="5338035" y="3919288"/>
            <a:ext cx="5448843" cy="4051473"/>
          </a:xfrm>
          <a:prstGeom prst="rect">
            <a:avLst/>
          </a:prstGeom>
        </p:spPr>
        <p:txBody>
          <a:bodyPr lIns="0" tIns="0" rIns="0" bIns="0" rtlCol="0" anchor="t">
            <a:spAutoFit/>
          </a:bodyPr>
          <a:lstStyle/>
          <a:p>
            <a:pPr algn="ctr">
              <a:lnSpc>
                <a:spcPts val="5384"/>
              </a:lnSpc>
            </a:pPr>
            <a:r>
              <a:rPr lang="en-US" sz="3846">
                <a:solidFill>
                  <a:srgbClr val="1A1F41"/>
                </a:solidFill>
                <a:latin typeface="Poppins"/>
                <a:ea typeface="Poppins"/>
                <a:cs typeface="Poppins"/>
                <a:sym typeface="Poppins"/>
              </a:rPr>
              <a:t>Lê Hoàng Anh</a:t>
            </a:r>
          </a:p>
          <a:p>
            <a:pPr algn="ctr">
              <a:lnSpc>
                <a:spcPts val="5384"/>
              </a:lnSpc>
            </a:pPr>
            <a:r>
              <a:rPr lang="en-US" sz="3846">
                <a:solidFill>
                  <a:srgbClr val="1A1F41"/>
                </a:solidFill>
                <a:latin typeface="Poppins"/>
                <a:ea typeface="Poppins"/>
                <a:cs typeface="Poppins"/>
                <a:sym typeface="Poppins"/>
              </a:rPr>
              <a:t>Hồ Nguyễn Đăng Khoa</a:t>
            </a:r>
          </a:p>
          <a:p>
            <a:pPr algn="ctr">
              <a:lnSpc>
                <a:spcPts val="5384"/>
              </a:lnSpc>
            </a:pPr>
            <a:r>
              <a:rPr lang="en-US" sz="3846">
                <a:solidFill>
                  <a:srgbClr val="1A1F41"/>
                </a:solidFill>
                <a:latin typeface="Poppins"/>
                <a:ea typeface="Poppins"/>
                <a:cs typeface="Poppins"/>
                <a:sym typeface="Poppins"/>
              </a:rPr>
              <a:t>Lâm Gia An</a:t>
            </a:r>
          </a:p>
          <a:p>
            <a:pPr algn="ctr">
              <a:lnSpc>
                <a:spcPts val="5384"/>
              </a:lnSpc>
            </a:pPr>
            <a:r>
              <a:rPr lang="en-US" sz="3846">
                <a:solidFill>
                  <a:srgbClr val="1A1F41"/>
                </a:solidFill>
                <a:latin typeface="Poppins"/>
                <a:ea typeface="Poppins"/>
                <a:cs typeface="Poppins"/>
                <a:sym typeface="Poppins"/>
              </a:rPr>
              <a:t>Trần Thị Ánh Nguyện</a:t>
            </a:r>
          </a:p>
          <a:p>
            <a:pPr algn="ctr">
              <a:lnSpc>
                <a:spcPts val="5384"/>
              </a:lnSpc>
            </a:pPr>
            <a:r>
              <a:rPr lang="en-US" sz="3846">
                <a:solidFill>
                  <a:srgbClr val="1A1F41"/>
                </a:solidFill>
                <a:latin typeface="Poppins"/>
                <a:ea typeface="Poppins"/>
                <a:cs typeface="Poppins"/>
                <a:sym typeface="Poppins"/>
              </a:rPr>
              <a:t>Nguyễn Trọng Nhân</a:t>
            </a:r>
          </a:p>
          <a:p>
            <a:pPr algn="ctr">
              <a:lnSpc>
                <a:spcPts val="5384"/>
              </a:lnSpc>
              <a:spcBef>
                <a:spcPct val="0"/>
              </a:spcBef>
            </a:pPr>
            <a:endParaRPr lang="en-US" sz="3846">
              <a:solidFill>
                <a:srgbClr val="1A1F4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646234">
            <a:off x="15349182" y="526870"/>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041331">
            <a:off x="15228878" y="8663504"/>
            <a:ext cx="3159718" cy="2229037"/>
          </a:xfrm>
          <a:custGeom>
            <a:avLst/>
            <a:gdLst/>
            <a:ahLst/>
            <a:cxnLst/>
            <a:rect l="l" t="t" r="r" b="b"/>
            <a:pathLst>
              <a:path w="3159718" h="2229037">
                <a:moveTo>
                  <a:pt x="0" y="0"/>
                </a:moveTo>
                <a:lnTo>
                  <a:pt x="3159718" y="0"/>
                </a:lnTo>
                <a:lnTo>
                  <a:pt x="3159718" y="2229037"/>
                </a:lnTo>
                <a:lnTo>
                  <a:pt x="0" y="222903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7044792" y="-4468439"/>
            <a:ext cx="5497139" cy="5497139"/>
          </a:xfrm>
          <a:custGeom>
            <a:avLst/>
            <a:gdLst/>
            <a:ahLst/>
            <a:cxnLst/>
            <a:rect l="l" t="t" r="r" b="b"/>
            <a:pathLst>
              <a:path w="5497139" h="5497139">
                <a:moveTo>
                  <a:pt x="0" y="0"/>
                </a:moveTo>
                <a:lnTo>
                  <a:pt x="5497139" y="0"/>
                </a:lnTo>
                <a:lnTo>
                  <a:pt x="5497139" y="5497139"/>
                </a:lnTo>
                <a:lnTo>
                  <a:pt x="0" y="549713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10098966" y="2974067"/>
            <a:ext cx="6101530" cy="4338866"/>
          </a:xfrm>
          <a:custGeom>
            <a:avLst/>
            <a:gdLst/>
            <a:ahLst/>
            <a:cxnLst/>
            <a:rect l="l" t="t" r="r" b="b"/>
            <a:pathLst>
              <a:path w="6101530" h="4338866">
                <a:moveTo>
                  <a:pt x="0" y="0"/>
                </a:moveTo>
                <a:lnTo>
                  <a:pt x="6101530" y="0"/>
                </a:lnTo>
                <a:lnTo>
                  <a:pt x="6101530" y="4338866"/>
                </a:lnTo>
                <a:lnTo>
                  <a:pt x="0" y="4338866"/>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TextBox 6"/>
          <p:cNvSpPr txBox="1"/>
          <p:nvPr/>
        </p:nvSpPr>
        <p:spPr>
          <a:xfrm>
            <a:off x="1227837" y="1513567"/>
            <a:ext cx="3383668" cy="1460500"/>
          </a:xfrm>
          <a:prstGeom prst="rect">
            <a:avLst/>
          </a:prstGeom>
        </p:spPr>
        <p:txBody>
          <a:bodyPr lIns="0" tIns="0" rIns="0" bIns="0" rtlCol="0" anchor="t">
            <a:spAutoFit/>
          </a:bodyPr>
          <a:lstStyle/>
          <a:p>
            <a:pPr algn="l">
              <a:lnSpc>
                <a:spcPts val="5750"/>
              </a:lnSpc>
            </a:pPr>
            <a:r>
              <a:rPr lang="en-US" sz="5000" b="1">
                <a:solidFill>
                  <a:srgbClr val="1A1F41"/>
                </a:solidFill>
                <a:latin typeface="Big Shoulders Display Bold"/>
                <a:ea typeface="Big Shoulders Display Bold"/>
                <a:cs typeface="Big Shoulders Display Bold"/>
                <a:sym typeface="Big Shoulders Display Bold"/>
              </a:rPr>
              <a:t>1.TỔNG QUAN</a:t>
            </a:r>
          </a:p>
          <a:p>
            <a:pPr algn="l">
              <a:lnSpc>
                <a:spcPts val="5750"/>
              </a:lnSpc>
            </a:pPr>
            <a:endParaRPr lang="en-US" sz="5000" b="1">
              <a:solidFill>
                <a:srgbClr val="1A1F41"/>
              </a:solidFill>
              <a:latin typeface="Big Shoulders Display Bold"/>
              <a:ea typeface="Big Shoulders Display Bold"/>
              <a:cs typeface="Big Shoulders Display Bold"/>
              <a:sym typeface="Big Shoulders Display Bold"/>
            </a:endParaRPr>
          </a:p>
        </p:txBody>
      </p:sp>
      <p:sp>
        <p:nvSpPr>
          <p:cNvPr id="7" name="TextBox 7"/>
          <p:cNvSpPr txBox="1"/>
          <p:nvPr/>
        </p:nvSpPr>
        <p:spPr>
          <a:xfrm>
            <a:off x="1503393" y="2878817"/>
            <a:ext cx="5677353" cy="9694405"/>
          </a:xfrm>
          <a:prstGeom prst="rect">
            <a:avLst/>
          </a:prstGeom>
        </p:spPr>
        <p:txBody>
          <a:bodyPr lIns="0" tIns="0" rIns="0" bIns="0" rtlCol="0" anchor="t">
            <a:spAutoFit/>
          </a:bodyPr>
          <a:lstStyle/>
          <a:p>
            <a:pPr algn="just">
              <a:lnSpc>
                <a:spcPts val="4527"/>
              </a:lnSpc>
            </a:pPr>
            <a:r>
              <a:rPr lang="en-US" sz="3234">
                <a:solidFill>
                  <a:srgbClr val="1A1F41"/>
                </a:solidFill>
                <a:latin typeface="Poppins"/>
                <a:ea typeface="Poppins"/>
                <a:cs typeface="Poppins"/>
                <a:sym typeface="Poppins"/>
              </a:rPr>
              <a:t>Internet phát triển → game online phổ biến</a:t>
            </a:r>
          </a:p>
          <a:p>
            <a:pPr algn="just">
              <a:lnSpc>
                <a:spcPts val="4527"/>
              </a:lnSpc>
            </a:pPr>
            <a:r>
              <a:rPr lang="en-US" sz="3234">
                <a:solidFill>
                  <a:srgbClr val="1A1F41"/>
                </a:solidFill>
                <a:latin typeface="Poppins"/>
                <a:ea typeface="Poppins"/>
                <a:cs typeface="Poppins"/>
                <a:sym typeface="Poppins"/>
              </a:rPr>
              <a:t>Caro: đơn giản, mang tính chiến thuật</a:t>
            </a:r>
          </a:p>
          <a:p>
            <a:pPr algn="just">
              <a:lnSpc>
                <a:spcPts val="4527"/>
              </a:lnSpc>
            </a:pPr>
            <a:r>
              <a:rPr lang="en-US" sz="3234">
                <a:solidFill>
                  <a:srgbClr val="1A1F41"/>
                </a:solidFill>
                <a:latin typeface="Poppins"/>
                <a:ea typeface="Poppins"/>
                <a:cs typeface="Poppins"/>
                <a:sym typeface="Poppins"/>
              </a:rPr>
              <a:t>Xây dựng hệ thống caro chơi qua mạng</a:t>
            </a:r>
          </a:p>
          <a:p>
            <a:pPr algn="just">
              <a:lnSpc>
                <a:spcPts val="4527"/>
              </a:lnSpc>
            </a:pPr>
            <a:r>
              <a:rPr lang="en-US" sz="3234">
                <a:solidFill>
                  <a:srgbClr val="1A1F41"/>
                </a:solidFill>
                <a:latin typeface="Poppins"/>
                <a:ea typeface="Poppins"/>
                <a:cs typeface="Poppins"/>
                <a:sym typeface="Poppins"/>
              </a:rPr>
              <a:t>Phù hợp để áp dụng kiến thức đã học</a:t>
            </a:r>
          </a:p>
          <a:p>
            <a:pPr algn="just">
              <a:lnSpc>
                <a:spcPts val="4527"/>
              </a:lnSpc>
            </a:pPr>
            <a:r>
              <a:rPr lang="en-US" sz="3234">
                <a:solidFill>
                  <a:srgbClr val="1A1F41"/>
                </a:solidFill>
                <a:latin typeface="Poppins"/>
                <a:ea typeface="Poppins"/>
                <a:cs typeface="Poppins"/>
                <a:sym typeface="Poppins"/>
              </a:rPr>
              <a:t>Rèn luyện kỹ năng thiết kế hệ thống Client–Server</a:t>
            </a:r>
          </a:p>
          <a:p>
            <a:pPr algn="just">
              <a:lnSpc>
                <a:spcPts val="4527"/>
              </a:lnSpc>
            </a:pPr>
            <a:r>
              <a:rPr lang="en-US" sz="3234">
                <a:solidFill>
                  <a:srgbClr val="1A1F41"/>
                </a:solidFill>
                <a:latin typeface="Poppins"/>
                <a:ea typeface="Poppins"/>
                <a:cs typeface="Poppins"/>
                <a:sym typeface="Poppins"/>
              </a:rPr>
              <a:t>Có khả năng mở rộng trong tương lai</a:t>
            </a:r>
          </a:p>
          <a:p>
            <a:pPr algn="just">
              <a:lnSpc>
                <a:spcPts val="4527"/>
              </a:lnSpc>
            </a:pPr>
            <a:endParaRPr lang="en-US" sz="3234">
              <a:solidFill>
                <a:srgbClr val="1A1F41"/>
              </a:solidFill>
              <a:latin typeface="Poppins"/>
              <a:ea typeface="Poppins"/>
              <a:cs typeface="Poppins"/>
              <a:sym typeface="Poppins"/>
            </a:endParaRPr>
          </a:p>
          <a:p>
            <a:pPr algn="just">
              <a:lnSpc>
                <a:spcPts val="4527"/>
              </a:lnSpc>
            </a:pPr>
            <a:endParaRPr lang="en-US" sz="3234">
              <a:solidFill>
                <a:srgbClr val="1A1F41"/>
              </a:solidFill>
              <a:latin typeface="Poppins"/>
              <a:ea typeface="Poppins"/>
              <a:cs typeface="Poppins"/>
              <a:sym typeface="Poppins"/>
            </a:endParaRPr>
          </a:p>
          <a:p>
            <a:pPr algn="just">
              <a:lnSpc>
                <a:spcPts val="4527"/>
              </a:lnSpc>
            </a:pPr>
            <a:endParaRPr lang="en-US" sz="3234">
              <a:solidFill>
                <a:srgbClr val="1A1F41"/>
              </a:solidFill>
              <a:latin typeface="Poppins"/>
              <a:ea typeface="Poppins"/>
              <a:cs typeface="Poppins"/>
              <a:sym typeface="Poppins"/>
            </a:endParaRPr>
          </a:p>
          <a:p>
            <a:pPr algn="just">
              <a:lnSpc>
                <a:spcPts val="4527"/>
              </a:lnSpc>
            </a:pPr>
            <a:endParaRPr lang="en-US" sz="3234">
              <a:solidFill>
                <a:srgbClr val="1A1F41"/>
              </a:solidFill>
              <a:latin typeface="Poppins"/>
              <a:ea typeface="Poppins"/>
              <a:cs typeface="Poppins"/>
              <a:sym typeface="Poppins"/>
            </a:endParaRPr>
          </a:p>
          <a:p>
            <a:pPr algn="ctr">
              <a:lnSpc>
                <a:spcPts val="4527"/>
              </a:lnSpc>
              <a:spcBef>
                <a:spcPct val="0"/>
              </a:spcBef>
            </a:pPr>
            <a:endParaRPr lang="en-US" sz="3234">
              <a:solidFill>
                <a:srgbClr val="1A1F41"/>
              </a:solidFill>
              <a:latin typeface="Poppins"/>
              <a:ea typeface="Poppins"/>
              <a:cs typeface="Poppins"/>
              <a:sym typeface="Poppins"/>
            </a:endParaRPr>
          </a:p>
        </p:txBody>
      </p:sp>
      <p:sp>
        <p:nvSpPr>
          <p:cNvPr id="8" name="TextBox 8"/>
          <p:cNvSpPr txBox="1"/>
          <p:nvPr/>
        </p:nvSpPr>
        <p:spPr>
          <a:xfrm>
            <a:off x="1503393" y="2287464"/>
            <a:ext cx="1817191" cy="1317625"/>
          </a:xfrm>
          <a:prstGeom prst="rect">
            <a:avLst/>
          </a:prstGeom>
        </p:spPr>
        <p:txBody>
          <a:bodyPr lIns="0" tIns="0" rIns="0" bIns="0" rtlCol="0" anchor="t">
            <a:spAutoFit/>
          </a:bodyPr>
          <a:lstStyle/>
          <a:p>
            <a:pPr algn="ctr">
              <a:lnSpc>
                <a:spcPts val="3499"/>
              </a:lnSpc>
            </a:pPr>
            <a:r>
              <a:rPr lang="en-US" sz="2499">
                <a:solidFill>
                  <a:srgbClr val="1A1F41"/>
                </a:solidFill>
                <a:latin typeface="Poppins"/>
                <a:ea typeface="Poppins"/>
                <a:cs typeface="Poppins"/>
                <a:sym typeface="Poppins"/>
              </a:rPr>
              <a:t>1.1 Giới thiệu</a:t>
            </a:r>
          </a:p>
          <a:p>
            <a:pPr algn="ctr">
              <a:lnSpc>
                <a:spcPts val="3499"/>
              </a:lnSpc>
            </a:pPr>
            <a:endParaRPr lang="en-US" sz="2499">
              <a:solidFill>
                <a:srgbClr val="1A1F41"/>
              </a:solidFill>
              <a:latin typeface="Poppins"/>
              <a:ea typeface="Poppins"/>
              <a:cs typeface="Poppins"/>
              <a:sym typeface="Poppins"/>
            </a:endParaRPr>
          </a:p>
          <a:p>
            <a:pPr algn="ctr">
              <a:lnSpc>
                <a:spcPts val="3499"/>
              </a:lnSpc>
              <a:spcBef>
                <a:spcPct val="0"/>
              </a:spcBef>
            </a:pPr>
            <a:endParaRPr lang="en-US" sz="2499">
              <a:solidFill>
                <a:srgbClr val="1A1F41"/>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646234">
            <a:off x="15349182" y="526870"/>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041331">
            <a:off x="15228878" y="8663504"/>
            <a:ext cx="3159718" cy="2229037"/>
          </a:xfrm>
          <a:custGeom>
            <a:avLst/>
            <a:gdLst/>
            <a:ahLst/>
            <a:cxnLst/>
            <a:rect l="l" t="t" r="r" b="b"/>
            <a:pathLst>
              <a:path w="3159718" h="2229037">
                <a:moveTo>
                  <a:pt x="0" y="0"/>
                </a:moveTo>
                <a:lnTo>
                  <a:pt x="3159718" y="0"/>
                </a:lnTo>
                <a:lnTo>
                  <a:pt x="3159718" y="2229037"/>
                </a:lnTo>
                <a:lnTo>
                  <a:pt x="0" y="222903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7044792" y="-4468439"/>
            <a:ext cx="5497139" cy="5497139"/>
          </a:xfrm>
          <a:custGeom>
            <a:avLst/>
            <a:gdLst/>
            <a:ahLst/>
            <a:cxnLst/>
            <a:rect l="l" t="t" r="r" b="b"/>
            <a:pathLst>
              <a:path w="5497139" h="5497139">
                <a:moveTo>
                  <a:pt x="0" y="0"/>
                </a:moveTo>
                <a:lnTo>
                  <a:pt x="5497139" y="0"/>
                </a:lnTo>
                <a:lnTo>
                  <a:pt x="5497139" y="5497139"/>
                </a:lnTo>
                <a:lnTo>
                  <a:pt x="0" y="549713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10098966" y="2974067"/>
            <a:ext cx="6101530" cy="4338866"/>
          </a:xfrm>
          <a:custGeom>
            <a:avLst/>
            <a:gdLst/>
            <a:ahLst/>
            <a:cxnLst/>
            <a:rect l="l" t="t" r="r" b="b"/>
            <a:pathLst>
              <a:path w="6101530" h="4338866">
                <a:moveTo>
                  <a:pt x="0" y="0"/>
                </a:moveTo>
                <a:lnTo>
                  <a:pt x="6101530" y="0"/>
                </a:lnTo>
                <a:lnTo>
                  <a:pt x="6101530" y="4338866"/>
                </a:lnTo>
                <a:lnTo>
                  <a:pt x="0" y="4338866"/>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TextBox 6"/>
          <p:cNvSpPr txBox="1"/>
          <p:nvPr/>
        </p:nvSpPr>
        <p:spPr>
          <a:xfrm>
            <a:off x="1227837" y="1513567"/>
            <a:ext cx="3383668" cy="1460500"/>
          </a:xfrm>
          <a:prstGeom prst="rect">
            <a:avLst/>
          </a:prstGeom>
        </p:spPr>
        <p:txBody>
          <a:bodyPr lIns="0" tIns="0" rIns="0" bIns="0" rtlCol="0" anchor="t">
            <a:spAutoFit/>
          </a:bodyPr>
          <a:lstStyle/>
          <a:p>
            <a:pPr algn="l">
              <a:lnSpc>
                <a:spcPts val="5750"/>
              </a:lnSpc>
            </a:pPr>
            <a:r>
              <a:rPr lang="en-US" sz="5000" b="1">
                <a:solidFill>
                  <a:srgbClr val="1A1F41"/>
                </a:solidFill>
                <a:latin typeface="Big Shoulders Display Bold"/>
                <a:ea typeface="Big Shoulders Display Bold"/>
                <a:cs typeface="Big Shoulders Display Bold"/>
                <a:sym typeface="Big Shoulders Display Bold"/>
              </a:rPr>
              <a:t>1.TỔNG QUAN</a:t>
            </a:r>
          </a:p>
          <a:p>
            <a:pPr algn="l">
              <a:lnSpc>
                <a:spcPts val="5750"/>
              </a:lnSpc>
            </a:pPr>
            <a:endParaRPr lang="en-US" sz="5000" b="1">
              <a:solidFill>
                <a:srgbClr val="1A1F41"/>
              </a:solidFill>
              <a:latin typeface="Big Shoulders Display Bold"/>
              <a:ea typeface="Big Shoulders Display Bold"/>
              <a:cs typeface="Big Shoulders Display Bold"/>
              <a:sym typeface="Big Shoulders Display Bold"/>
            </a:endParaRPr>
          </a:p>
        </p:txBody>
      </p:sp>
      <p:sp>
        <p:nvSpPr>
          <p:cNvPr id="7" name="TextBox 7"/>
          <p:cNvSpPr txBox="1"/>
          <p:nvPr/>
        </p:nvSpPr>
        <p:spPr>
          <a:xfrm>
            <a:off x="1525409" y="3329292"/>
            <a:ext cx="6172190" cy="3111090"/>
          </a:xfrm>
          <a:prstGeom prst="rect">
            <a:avLst/>
          </a:prstGeom>
        </p:spPr>
        <p:txBody>
          <a:bodyPr lIns="0" tIns="0" rIns="0" bIns="0" rtlCol="0" anchor="t">
            <a:spAutoFit/>
          </a:bodyPr>
          <a:lstStyle/>
          <a:p>
            <a:pPr algn="just">
              <a:lnSpc>
                <a:spcPts val="4922"/>
              </a:lnSpc>
            </a:pPr>
            <a:r>
              <a:rPr lang="en-US" sz="3516">
                <a:solidFill>
                  <a:srgbClr val="1A1F41"/>
                </a:solidFill>
                <a:latin typeface="Poppins"/>
                <a:ea typeface="Poppins"/>
                <a:cs typeface="Poppins"/>
                <a:sym typeface="Poppins"/>
              </a:rPr>
              <a:t>Mô hình Client-Server</a:t>
            </a:r>
          </a:p>
          <a:p>
            <a:pPr algn="just">
              <a:lnSpc>
                <a:spcPts val="4922"/>
              </a:lnSpc>
            </a:pPr>
            <a:r>
              <a:rPr lang="en-US" sz="3516">
                <a:solidFill>
                  <a:srgbClr val="1A1F41"/>
                </a:solidFill>
                <a:latin typeface="Poppins"/>
                <a:ea typeface="Poppins"/>
                <a:cs typeface="Poppins"/>
                <a:sym typeface="Poppins"/>
              </a:rPr>
              <a:t>Đồng bồ dữ liệu bàn cờ giữa các client</a:t>
            </a:r>
          </a:p>
          <a:p>
            <a:pPr algn="just">
              <a:lnSpc>
                <a:spcPts val="4922"/>
              </a:lnSpc>
            </a:pPr>
            <a:r>
              <a:rPr lang="en-US" sz="3516">
                <a:solidFill>
                  <a:srgbClr val="1A1F41"/>
                </a:solidFill>
                <a:latin typeface="Poppins"/>
                <a:ea typeface="Poppins"/>
                <a:cs typeface="Poppins"/>
                <a:sym typeface="Poppins"/>
              </a:rPr>
              <a:t>kiểm tra kết quá thắng thua</a:t>
            </a:r>
          </a:p>
          <a:p>
            <a:pPr algn="ctr">
              <a:lnSpc>
                <a:spcPts val="4922"/>
              </a:lnSpc>
              <a:spcBef>
                <a:spcPct val="0"/>
              </a:spcBef>
            </a:pPr>
            <a:endParaRPr lang="en-US" sz="3516">
              <a:solidFill>
                <a:srgbClr val="1A1F41"/>
              </a:solidFill>
              <a:latin typeface="Poppins"/>
              <a:ea typeface="Poppins"/>
              <a:cs typeface="Poppins"/>
              <a:sym typeface="Poppins"/>
            </a:endParaRPr>
          </a:p>
        </p:txBody>
      </p:sp>
      <p:sp>
        <p:nvSpPr>
          <p:cNvPr id="8" name="TextBox 8"/>
          <p:cNvSpPr txBox="1"/>
          <p:nvPr/>
        </p:nvSpPr>
        <p:spPr>
          <a:xfrm>
            <a:off x="1566199" y="2287464"/>
            <a:ext cx="1691580" cy="879475"/>
          </a:xfrm>
          <a:prstGeom prst="rect">
            <a:avLst/>
          </a:prstGeom>
        </p:spPr>
        <p:txBody>
          <a:bodyPr lIns="0" tIns="0" rIns="0" bIns="0" rtlCol="0" anchor="t">
            <a:spAutoFit/>
          </a:bodyPr>
          <a:lstStyle/>
          <a:p>
            <a:pPr algn="ctr">
              <a:lnSpc>
                <a:spcPts val="3499"/>
              </a:lnSpc>
            </a:pPr>
            <a:r>
              <a:rPr lang="en-US" sz="2499">
                <a:solidFill>
                  <a:srgbClr val="1A1F41"/>
                </a:solidFill>
                <a:latin typeface="Poppins"/>
                <a:ea typeface="Poppins"/>
                <a:cs typeface="Poppins"/>
                <a:sym typeface="Poppins"/>
              </a:rPr>
              <a:t>1.2Mục tiêu</a:t>
            </a:r>
          </a:p>
          <a:p>
            <a:pPr algn="ctr">
              <a:lnSpc>
                <a:spcPts val="3499"/>
              </a:lnSpc>
              <a:spcBef>
                <a:spcPct val="0"/>
              </a:spcBef>
            </a:pPr>
            <a:endParaRPr lang="en-US" sz="2499">
              <a:solidFill>
                <a:srgbClr val="1A1F41"/>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TextBox 2"/>
          <p:cNvSpPr txBox="1"/>
          <p:nvPr/>
        </p:nvSpPr>
        <p:spPr>
          <a:xfrm>
            <a:off x="783484" y="1699770"/>
            <a:ext cx="8115300" cy="736600"/>
          </a:xfrm>
          <a:prstGeom prst="rect">
            <a:avLst/>
          </a:prstGeom>
        </p:spPr>
        <p:txBody>
          <a:bodyPr lIns="0" tIns="0" rIns="0" bIns="0" rtlCol="0" anchor="t">
            <a:spAutoFit/>
          </a:bodyPr>
          <a:lstStyle/>
          <a:p>
            <a:pPr algn="ctr">
              <a:lnSpc>
                <a:spcPts val="5750"/>
              </a:lnSpc>
            </a:pPr>
            <a:r>
              <a:rPr lang="en-US" sz="5000" b="1">
                <a:solidFill>
                  <a:srgbClr val="1A1F41"/>
                </a:solidFill>
                <a:latin typeface="Big Shoulders Display Bold"/>
                <a:ea typeface="Big Shoulders Display Bold"/>
                <a:cs typeface="Big Shoulders Display Bold"/>
                <a:sym typeface="Big Shoulders Display Bold"/>
              </a:rPr>
              <a:t>2.PHÂN TÍCH YÊU CẦU</a:t>
            </a:r>
          </a:p>
        </p:txBody>
      </p:sp>
      <p:grpSp>
        <p:nvGrpSpPr>
          <p:cNvPr id="3" name="Group 3"/>
          <p:cNvGrpSpPr/>
          <p:nvPr/>
        </p:nvGrpSpPr>
        <p:grpSpPr>
          <a:xfrm>
            <a:off x="2265216" y="3514203"/>
            <a:ext cx="6093861" cy="4959159"/>
            <a:chOff x="0" y="0"/>
            <a:chExt cx="1604967" cy="1306116"/>
          </a:xfrm>
        </p:grpSpPr>
        <p:sp>
          <p:nvSpPr>
            <p:cNvPr id="4" name="Freeform 4"/>
            <p:cNvSpPr/>
            <p:nvPr/>
          </p:nvSpPr>
          <p:spPr>
            <a:xfrm>
              <a:off x="0" y="0"/>
              <a:ext cx="1604967" cy="1306116"/>
            </a:xfrm>
            <a:custGeom>
              <a:avLst/>
              <a:gdLst/>
              <a:ahLst/>
              <a:cxnLst/>
              <a:rect l="l" t="t" r="r" b="b"/>
              <a:pathLst>
                <a:path w="1604967" h="1306116">
                  <a:moveTo>
                    <a:pt x="0" y="0"/>
                  </a:moveTo>
                  <a:lnTo>
                    <a:pt x="1604967" y="0"/>
                  </a:lnTo>
                  <a:lnTo>
                    <a:pt x="1604967" y="1306116"/>
                  </a:lnTo>
                  <a:lnTo>
                    <a:pt x="0" y="1306116"/>
                  </a:lnTo>
                  <a:close/>
                </a:path>
              </a:pathLst>
            </a:custGeom>
            <a:solidFill>
              <a:srgbClr val="F1F1F1"/>
            </a:solidFill>
            <a:ln w="19050" cap="sq">
              <a:solidFill>
                <a:srgbClr val="1A1F41"/>
              </a:solidFill>
              <a:prstDash val="solid"/>
              <a:miter/>
            </a:ln>
          </p:spPr>
        </p:sp>
        <p:sp>
          <p:nvSpPr>
            <p:cNvPr id="5" name="TextBox 5"/>
            <p:cNvSpPr txBox="1"/>
            <p:nvPr/>
          </p:nvSpPr>
          <p:spPr>
            <a:xfrm>
              <a:off x="0" y="-57150"/>
              <a:ext cx="1604967" cy="1363266"/>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8359077" y="3514203"/>
            <a:ext cx="6489768" cy="4956885"/>
            <a:chOff x="0" y="0"/>
            <a:chExt cx="1709239" cy="1305517"/>
          </a:xfrm>
        </p:grpSpPr>
        <p:sp>
          <p:nvSpPr>
            <p:cNvPr id="7" name="Freeform 7"/>
            <p:cNvSpPr/>
            <p:nvPr/>
          </p:nvSpPr>
          <p:spPr>
            <a:xfrm>
              <a:off x="0" y="0"/>
              <a:ext cx="1709239" cy="1305517"/>
            </a:xfrm>
            <a:custGeom>
              <a:avLst/>
              <a:gdLst/>
              <a:ahLst/>
              <a:cxnLst/>
              <a:rect l="l" t="t" r="r" b="b"/>
              <a:pathLst>
                <a:path w="1709239" h="1305517">
                  <a:moveTo>
                    <a:pt x="0" y="0"/>
                  </a:moveTo>
                  <a:lnTo>
                    <a:pt x="1709239" y="0"/>
                  </a:lnTo>
                  <a:lnTo>
                    <a:pt x="1709239" y="1305517"/>
                  </a:lnTo>
                  <a:lnTo>
                    <a:pt x="0" y="1305517"/>
                  </a:lnTo>
                  <a:close/>
                </a:path>
              </a:pathLst>
            </a:custGeom>
            <a:solidFill>
              <a:srgbClr val="F1F1F1"/>
            </a:solidFill>
            <a:ln w="19050" cap="sq">
              <a:solidFill>
                <a:srgbClr val="1A1F41"/>
              </a:solidFill>
              <a:prstDash val="solid"/>
              <a:miter/>
            </a:ln>
          </p:spPr>
        </p:sp>
        <p:sp>
          <p:nvSpPr>
            <p:cNvPr id="8" name="TextBox 8"/>
            <p:cNvSpPr txBox="1"/>
            <p:nvPr/>
          </p:nvSpPr>
          <p:spPr>
            <a:xfrm>
              <a:off x="0" y="-57150"/>
              <a:ext cx="1709239" cy="1362667"/>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2484235" y="4404403"/>
            <a:ext cx="5538793" cy="3387270"/>
          </a:xfrm>
          <a:prstGeom prst="rect">
            <a:avLst/>
          </a:prstGeom>
        </p:spPr>
        <p:txBody>
          <a:bodyPr lIns="0" tIns="0" rIns="0" bIns="0" rtlCol="0" anchor="t">
            <a:spAutoFit/>
          </a:bodyPr>
          <a:lstStyle/>
          <a:p>
            <a:pPr algn="just">
              <a:lnSpc>
                <a:spcPts val="3358"/>
              </a:lnSpc>
            </a:pPr>
            <a:r>
              <a:rPr lang="en-US" sz="2398">
                <a:solidFill>
                  <a:srgbClr val="1A1F41"/>
                </a:solidFill>
                <a:latin typeface="Poppins"/>
                <a:ea typeface="Poppins"/>
                <a:cs typeface="Poppins"/>
                <a:sym typeface="Poppins"/>
              </a:rPr>
              <a:t>-Kết nối hệ thống</a:t>
            </a:r>
          </a:p>
          <a:p>
            <a:pPr algn="just">
              <a:lnSpc>
                <a:spcPts val="3358"/>
              </a:lnSpc>
            </a:pPr>
            <a:r>
              <a:rPr lang="en-US" sz="2398">
                <a:solidFill>
                  <a:srgbClr val="1A1F41"/>
                </a:solidFill>
                <a:latin typeface="Poppins"/>
                <a:ea typeface="Poppins"/>
                <a:cs typeface="Poppins"/>
                <a:sym typeface="Poppins"/>
              </a:rPr>
              <a:t>-Quản lí người chơi</a:t>
            </a:r>
          </a:p>
          <a:p>
            <a:pPr algn="just">
              <a:lnSpc>
                <a:spcPts val="3358"/>
              </a:lnSpc>
            </a:pPr>
            <a:r>
              <a:rPr lang="en-US" sz="2398">
                <a:solidFill>
                  <a:srgbClr val="1A1F41"/>
                </a:solidFill>
                <a:latin typeface="Poppins"/>
                <a:ea typeface="Poppins"/>
                <a:cs typeface="Poppins"/>
                <a:sym typeface="Poppins"/>
              </a:rPr>
              <a:t>-Thách đấu</a:t>
            </a:r>
          </a:p>
          <a:p>
            <a:pPr algn="just">
              <a:lnSpc>
                <a:spcPts val="3358"/>
              </a:lnSpc>
            </a:pPr>
            <a:r>
              <a:rPr lang="en-US" sz="2398">
                <a:solidFill>
                  <a:srgbClr val="1A1F41"/>
                </a:solidFill>
                <a:latin typeface="Poppins"/>
                <a:ea typeface="Poppins"/>
                <a:cs typeface="Poppins"/>
                <a:sym typeface="Poppins"/>
              </a:rPr>
              <a:t>-Tạo phòng chơi</a:t>
            </a:r>
          </a:p>
          <a:p>
            <a:pPr algn="just">
              <a:lnSpc>
                <a:spcPts val="3358"/>
              </a:lnSpc>
            </a:pPr>
            <a:r>
              <a:rPr lang="en-US" sz="2398">
                <a:solidFill>
                  <a:srgbClr val="1A1F41"/>
                </a:solidFill>
                <a:latin typeface="Poppins"/>
                <a:ea typeface="Poppins"/>
                <a:cs typeface="Poppins"/>
                <a:sym typeface="Poppins"/>
              </a:rPr>
              <a:t>-Quy trình trận đấu</a:t>
            </a:r>
          </a:p>
          <a:p>
            <a:pPr algn="just">
              <a:lnSpc>
                <a:spcPts val="3358"/>
              </a:lnSpc>
            </a:pPr>
            <a:r>
              <a:rPr lang="en-US" sz="2398">
                <a:solidFill>
                  <a:srgbClr val="1A1F41"/>
                </a:solidFill>
                <a:latin typeface="Poppins"/>
                <a:ea typeface="Poppins"/>
                <a:cs typeface="Poppins"/>
                <a:sym typeface="Poppins"/>
              </a:rPr>
              <a:t>-Hiển thị bản cờ</a:t>
            </a:r>
          </a:p>
          <a:p>
            <a:pPr algn="just">
              <a:lnSpc>
                <a:spcPts val="3358"/>
              </a:lnSpc>
            </a:pPr>
            <a:r>
              <a:rPr lang="en-US" sz="2398">
                <a:solidFill>
                  <a:srgbClr val="1A1F41"/>
                </a:solidFill>
                <a:latin typeface="Poppins"/>
                <a:ea typeface="Poppins"/>
                <a:cs typeface="Poppins"/>
                <a:sym typeface="Poppins"/>
              </a:rPr>
              <a:t>-Kết thúc trận đấu</a:t>
            </a:r>
          </a:p>
          <a:p>
            <a:pPr algn="just">
              <a:lnSpc>
                <a:spcPts val="3358"/>
              </a:lnSpc>
              <a:spcBef>
                <a:spcPct val="0"/>
              </a:spcBef>
            </a:pPr>
            <a:r>
              <a:rPr lang="en-US" sz="2398">
                <a:solidFill>
                  <a:srgbClr val="1A1F41"/>
                </a:solidFill>
                <a:latin typeface="Poppins"/>
                <a:ea typeface="Poppins"/>
                <a:cs typeface="Poppins"/>
                <a:sym typeface="Poppins"/>
              </a:rPr>
              <a:t>-Thoát game</a:t>
            </a:r>
          </a:p>
        </p:txBody>
      </p:sp>
      <p:sp>
        <p:nvSpPr>
          <p:cNvPr id="10" name="TextBox 10"/>
          <p:cNvSpPr txBox="1"/>
          <p:nvPr/>
        </p:nvSpPr>
        <p:spPr>
          <a:xfrm>
            <a:off x="8898784" y="4338087"/>
            <a:ext cx="4688069" cy="2520315"/>
          </a:xfrm>
          <a:prstGeom prst="rect">
            <a:avLst/>
          </a:prstGeom>
        </p:spPr>
        <p:txBody>
          <a:bodyPr lIns="0" tIns="0" rIns="0" bIns="0" rtlCol="0" anchor="t">
            <a:spAutoFit/>
          </a:bodyPr>
          <a:lstStyle/>
          <a:p>
            <a:pPr algn="just">
              <a:lnSpc>
                <a:spcPts val="3359"/>
              </a:lnSpc>
            </a:pPr>
            <a:r>
              <a:rPr lang="en-US" sz="2400">
                <a:solidFill>
                  <a:srgbClr val="1A1F41"/>
                </a:solidFill>
                <a:latin typeface="Poppins"/>
                <a:ea typeface="Poppins"/>
                <a:cs typeface="Poppins"/>
                <a:sym typeface="Poppins"/>
              </a:rPr>
              <a:t>-Tính dễ sử dụng</a:t>
            </a:r>
          </a:p>
          <a:p>
            <a:pPr algn="just">
              <a:lnSpc>
                <a:spcPts val="3359"/>
              </a:lnSpc>
            </a:pPr>
            <a:r>
              <a:rPr lang="en-US" sz="2400">
                <a:solidFill>
                  <a:srgbClr val="1A1F41"/>
                </a:solidFill>
                <a:latin typeface="Poppins"/>
                <a:ea typeface="Poppins"/>
                <a:cs typeface="Poppins"/>
                <a:sym typeface="Poppins"/>
              </a:rPr>
              <a:t>-Độ tin cậy</a:t>
            </a:r>
          </a:p>
          <a:p>
            <a:pPr algn="just">
              <a:lnSpc>
                <a:spcPts val="3359"/>
              </a:lnSpc>
            </a:pPr>
            <a:r>
              <a:rPr lang="en-US" sz="2400">
                <a:solidFill>
                  <a:srgbClr val="1A1F41"/>
                </a:solidFill>
                <a:latin typeface="Poppins"/>
                <a:ea typeface="Poppins"/>
                <a:cs typeface="Poppins"/>
                <a:sym typeface="Poppins"/>
              </a:rPr>
              <a:t>-Hiệu năng</a:t>
            </a:r>
          </a:p>
          <a:p>
            <a:pPr algn="just">
              <a:lnSpc>
                <a:spcPts val="3359"/>
              </a:lnSpc>
            </a:pPr>
            <a:r>
              <a:rPr lang="en-US" sz="2400">
                <a:solidFill>
                  <a:srgbClr val="1A1F41"/>
                </a:solidFill>
                <a:latin typeface="Poppins"/>
                <a:ea typeface="Poppins"/>
                <a:cs typeface="Poppins"/>
                <a:sym typeface="Poppins"/>
              </a:rPr>
              <a:t>-Khả năng hỗ trợ</a:t>
            </a:r>
          </a:p>
          <a:p>
            <a:pPr algn="just">
              <a:lnSpc>
                <a:spcPts val="3359"/>
              </a:lnSpc>
            </a:pPr>
            <a:r>
              <a:rPr lang="en-US" sz="2400">
                <a:solidFill>
                  <a:srgbClr val="1A1F41"/>
                </a:solidFill>
                <a:latin typeface="Poppins"/>
                <a:ea typeface="Poppins"/>
                <a:cs typeface="Poppins"/>
                <a:sym typeface="Poppins"/>
              </a:rPr>
              <a:t>-Bảo mật</a:t>
            </a:r>
          </a:p>
          <a:p>
            <a:pPr algn="just">
              <a:lnSpc>
                <a:spcPts val="3359"/>
              </a:lnSpc>
              <a:spcBef>
                <a:spcPct val="0"/>
              </a:spcBef>
            </a:pPr>
            <a:r>
              <a:rPr lang="en-US" sz="2400">
                <a:solidFill>
                  <a:srgbClr val="1A1F41"/>
                </a:solidFill>
                <a:latin typeface="Poppins"/>
                <a:ea typeface="Poppins"/>
                <a:cs typeface="Poppins"/>
                <a:sym typeface="Poppins"/>
              </a:rPr>
              <a:t>-Công nghệ sử dụng</a:t>
            </a:r>
          </a:p>
        </p:txBody>
      </p:sp>
      <p:sp>
        <p:nvSpPr>
          <p:cNvPr id="11" name="Freeform 11"/>
          <p:cNvSpPr/>
          <p:nvPr/>
        </p:nvSpPr>
        <p:spPr>
          <a:xfrm rot="-646234">
            <a:off x="15067012" y="333218"/>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2" name="Freeform 12"/>
          <p:cNvSpPr/>
          <p:nvPr/>
        </p:nvSpPr>
        <p:spPr>
          <a:xfrm rot="1041331">
            <a:off x="-1126634" y="565567"/>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3" name="Freeform 13"/>
          <p:cNvSpPr/>
          <p:nvPr/>
        </p:nvSpPr>
        <p:spPr>
          <a:xfrm>
            <a:off x="17491711" y="5724792"/>
            <a:ext cx="5497139" cy="5497139"/>
          </a:xfrm>
          <a:custGeom>
            <a:avLst/>
            <a:gdLst/>
            <a:ahLst/>
            <a:cxnLst/>
            <a:rect l="l" t="t" r="r" b="b"/>
            <a:pathLst>
              <a:path w="5497139" h="5497139">
                <a:moveTo>
                  <a:pt x="0" y="0"/>
                </a:moveTo>
                <a:lnTo>
                  <a:pt x="5497139" y="0"/>
                </a:lnTo>
                <a:lnTo>
                  <a:pt x="5497139" y="5497139"/>
                </a:lnTo>
                <a:lnTo>
                  <a:pt x="0" y="549713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4" name="Freeform 14"/>
          <p:cNvSpPr/>
          <p:nvPr/>
        </p:nvSpPr>
        <p:spPr>
          <a:xfrm>
            <a:off x="-4862775" y="5143500"/>
            <a:ext cx="5497139" cy="5497139"/>
          </a:xfrm>
          <a:custGeom>
            <a:avLst/>
            <a:gdLst/>
            <a:ahLst/>
            <a:cxnLst/>
            <a:rect l="l" t="t" r="r" b="b"/>
            <a:pathLst>
              <a:path w="5497139" h="5497139">
                <a:moveTo>
                  <a:pt x="0" y="0"/>
                </a:moveTo>
                <a:lnTo>
                  <a:pt x="5497139" y="0"/>
                </a:lnTo>
                <a:lnTo>
                  <a:pt x="5497139" y="5497139"/>
                </a:lnTo>
                <a:lnTo>
                  <a:pt x="0" y="549713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5" name="TextBox 15"/>
          <p:cNvSpPr txBox="1"/>
          <p:nvPr/>
        </p:nvSpPr>
        <p:spPr>
          <a:xfrm>
            <a:off x="2265216" y="3523728"/>
            <a:ext cx="5976830" cy="547259"/>
          </a:xfrm>
          <a:prstGeom prst="rect">
            <a:avLst/>
          </a:prstGeom>
        </p:spPr>
        <p:txBody>
          <a:bodyPr lIns="0" tIns="0" rIns="0" bIns="0" rtlCol="0" anchor="t">
            <a:spAutoFit/>
          </a:bodyPr>
          <a:lstStyle/>
          <a:p>
            <a:pPr algn="ctr">
              <a:lnSpc>
                <a:spcPts val="4234"/>
              </a:lnSpc>
            </a:pPr>
            <a:r>
              <a:rPr lang="en-US" sz="3682" b="1">
                <a:solidFill>
                  <a:srgbClr val="1A1F41"/>
                </a:solidFill>
                <a:latin typeface="Big Shoulders Display Bold"/>
                <a:ea typeface="Big Shoulders Display Bold"/>
                <a:cs typeface="Big Shoulders Display Bold"/>
                <a:sym typeface="Big Shoulders Display Bold"/>
              </a:rPr>
              <a:t>2.1 Yêu cầu chức năng</a:t>
            </a:r>
          </a:p>
        </p:txBody>
      </p:sp>
      <p:sp>
        <p:nvSpPr>
          <p:cNvPr id="16" name="TextBox 16"/>
          <p:cNvSpPr txBox="1"/>
          <p:nvPr/>
        </p:nvSpPr>
        <p:spPr>
          <a:xfrm>
            <a:off x="8615546" y="3523728"/>
            <a:ext cx="5976830" cy="547259"/>
          </a:xfrm>
          <a:prstGeom prst="rect">
            <a:avLst/>
          </a:prstGeom>
        </p:spPr>
        <p:txBody>
          <a:bodyPr lIns="0" tIns="0" rIns="0" bIns="0" rtlCol="0" anchor="t">
            <a:spAutoFit/>
          </a:bodyPr>
          <a:lstStyle/>
          <a:p>
            <a:pPr algn="ctr">
              <a:lnSpc>
                <a:spcPts val="4234"/>
              </a:lnSpc>
            </a:pPr>
            <a:r>
              <a:rPr lang="en-US" sz="3682" b="1">
                <a:solidFill>
                  <a:srgbClr val="1A1F41"/>
                </a:solidFill>
                <a:latin typeface="Big Shoulders Display Bold"/>
                <a:ea typeface="Big Shoulders Display Bold"/>
                <a:cs typeface="Big Shoulders Display Bold"/>
                <a:sym typeface="Big Shoulders Display Bold"/>
              </a:rPr>
              <a:t>2.2 Yêu cầu phi chức năng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a:off x="7562751" y="841375"/>
            <a:ext cx="11264692" cy="8229600"/>
            <a:chOff x="0" y="0"/>
            <a:chExt cx="1885581" cy="1377541"/>
          </a:xfrm>
        </p:grpSpPr>
        <p:sp>
          <p:nvSpPr>
            <p:cNvPr id="3" name="Freeform 3"/>
            <p:cNvSpPr/>
            <p:nvPr/>
          </p:nvSpPr>
          <p:spPr>
            <a:xfrm>
              <a:off x="0" y="0"/>
              <a:ext cx="1885581" cy="1377541"/>
            </a:xfrm>
            <a:custGeom>
              <a:avLst/>
              <a:gdLst/>
              <a:ahLst/>
              <a:cxnLst/>
              <a:rect l="l" t="t" r="r" b="b"/>
              <a:pathLst>
                <a:path w="1885581" h="1377541">
                  <a:moveTo>
                    <a:pt x="0" y="0"/>
                  </a:moveTo>
                  <a:lnTo>
                    <a:pt x="1885581" y="0"/>
                  </a:lnTo>
                  <a:lnTo>
                    <a:pt x="1885581" y="1377541"/>
                  </a:lnTo>
                  <a:lnTo>
                    <a:pt x="0" y="1377541"/>
                  </a:lnTo>
                  <a:close/>
                </a:path>
              </a:pathLst>
            </a:custGeom>
            <a:blipFill>
              <a:blip r:embed="rId2"/>
              <a:stretch>
                <a:fillRect l="-8390" r="-19939"/>
              </a:stretch>
            </a:blipFill>
          </p:spPr>
        </p:sp>
      </p:grpSp>
      <p:sp>
        <p:nvSpPr>
          <p:cNvPr id="4" name="Freeform 4"/>
          <p:cNvSpPr/>
          <p:nvPr/>
        </p:nvSpPr>
        <p:spPr>
          <a:xfrm rot="677007">
            <a:off x="5982785" y="7502402"/>
            <a:ext cx="1734216" cy="1223411"/>
          </a:xfrm>
          <a:custGeom>
            <a:avLst/>
            <a:gdLst/>
            <a:ahLst/>
            <a:cxnLst/>
            <a:rect l="l" t="t" r="r" b="b"/>
            <a:pathLst>
              <a:path w="1734216" h="1223411">
                <a:moveTo>
                  <a:pt x="0" y="0"/>
                </a:moveTo>
                <a:lnTo>
                  <a:pt x="1734216" y="0"/>
                </a:lnTo>
                <a:lnTo>
                  <a:pt x="1734216" y="1223411"/>
                </a:lnTo>
                <a:lnTo>
                  <a:pt x="0" y="1223411"/>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5" name="Freeform 5"/>
          <p:cNvSpPr/>
          <p:nvPr/>
        </p:nvSpPr>
        <p:spPr>
          <a:xfrm rot="-2262585">
            <a:off x="5892678" y="1926312"/>
            <a:ext cx="1734216" cy="1223411"/>
          </a:xfrm>
          <a:custGeom>
            <a:avLst/>
            <a:gdLst/>
            <a:ahLst/>
            <a:cxnLst/>
            <a:rect l="l" t="t" r="r" b="b"/>
            <a:pathLst>
              <a:path w="1734216" h="1223411">
                <a:moveTo>
                  <a:pt x="0" y="0"/>
                </a:moveTo>
                <a:lnTo>
                  <a:pt x="1734216" y="0"/>
                </a:lnTo>
                <a:lnTo>
                  <a:pt x="1734216" y="1223411"/>
                </a:lnTo>
                <a:lnTo>
                  <a:pt x="0" y="1223411"/>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6" name="Freeform 6"/>
          <p:cNvSpPr/>
          <p:nvPr/>
        </p:nvSpPr>
        <p:spPr>
          <a:xfrm>
            <a:off x="8155420" y="9556634"/>
            <a:ext cx="3322868" cy="3322868"/>
          </a:xfrm>
          <a:custGeom>
            <a:avLst/>
            <a:gdLst/>
            <a:ahLst/>
            <a:cxnLst/>
            <a:rect l="l" t="t" r="r" b="b"/>
            <a:pathLst>
              <a:path w="3322868" h="3322868">
                <a:moveTo>
                  <a:pt x="0" y="0"/>
                </a:moveTo>
                <a:lnTo>
                  <a:pt x="3322868" y="0"/>
                </a:lnTo>
                <a:lnTo>
                  <a:pt x="3322868" y="3322868"/>
                </a:lnTo>
                <a:lnTo>
                  <a:pt x="0" y="332286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7" name="Freeform 7"/>
          <p:cNvSpPr/>
          <p:nvPr/>
        </p:nvSpPr>
        <p:spPr>
          <a:xfrm>
            <a:off x="15597866" y="-2575599"/>
            <a:ext cx="3322868" cy="3322868"/>
          </a:xfrm>
          <a:custGeom>
            <a:avLst/>
            <a:gdLst/>
            <a:ahLst/>
            <a:cxnLst/>
            <a:rect l="l" t="t" r="r" b="b"/>
            <a:pathLst>
              <a:path w="3322868" h="3322868">
                <a:moveTo>
                  <a:pt x="0" y="0"/>
                </a:moveTo>
                <a:lnTo>
                  <a:pt x="3322868" y="0"/>
                </a:lnTo>
                <a:lnTo>
                  <a:pt x="3322868" y="3322868"/>
                </a:lnTo>
                <a:lnTo>
                  <a:pt x="0" y="332286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8" name="TextBox 8"/>
          <p:cNvSpPr txBox="1"/>
          <p:nvPr/>
        </p:nvSpPr>
        <p:spPr>
          <a:xfrm>
            <a:off x="1028700" y="3233737"/>
            <a:ext cx="4519255" cy="3946525"/>
          </a:xfrm>
          <a:prstGeom prst="rect">
            <a:avLst/>
          </a:prstGeom>
        </p:spPr>
        <p:txBody>
          <a:bodyPr lIns="0" tIns="0" rIns="0" bIns="0" rtlCol="0" anchor="t">
            <a:spAutoFit/>
          </a:bodyPr>
          <a:lstStyle/>
          <a:p>
            <a:pPr marL="539749" lvl="1" indent="-269875" algn="just">
              <a:lnSpc>
                <a:spcPts val="3499"/>
              </a:lnSpc>
              <a:buFont typeface="Arial"/>
              <a:buChar char="•"/>
            </a:pPr>
            <a:r>
              <a:rPr lang="en-US" sz="2499">
                <a:solidFill>
                  <a:srgbClr val="1A1F41"/>
                </a:solidFill>
                <a:latin typeface="Poppins"/>
                <a:ea typeface="Poppins"/>
                <a:cs typeface="Poppins"/>
                <a:sym typeface="Poppins"/>
              </a:rPr>
              <a:t>Đăng kí tên</a:t>
            </a:r>
          </a:p>
          <a:p>
            <a:pPr marL="539749" lvl="1" indent="-269875" algn="just">
              <a:lnSpc>
                <a:spcPts val="3499"/>
              </a:lnSpc>
              <a:buFont typeface="Arial"/>
              <a:buChar char="•"/>
            </a:pPr>
            <a:r>
              <a:rPr lang="en-US" sz="2499">
                <a:solidFill>
                  <a:srgbClr val="1A1F41"/>
                </a:solidFill>
                <a:latin typeface="Poppins"/>
                <a:ea typeface="Poppins"/>
                <a:cs typeface="Poppins"/>
                <a:sym typeface="Poppins"/>
              </a:rPr>
              <a:t>Xem danh sách người chơi</a:t>
            </a:r>
          </a:p>
          <a:p>
            <a:pPr marL="539749" lvl="1" indent="-269875" algn="just">
              <a:lnSpc>
                <a:spcPts val="3499"/>
              </a:lnSpc>
              <a:buFont typeface="Arial"/>
              <a:buChar char="•"/>
            </a:pPr>
            <a:r>
              <a:rPr lang="en-US" sz="2499">
                <a:solidFill>
                  <a:srgbClr val="1A1F41"/>
                </a:solidFill>
                <a:latin typeface="Poppins"/>
                <a:ea typeface="Poppins"/>
                <a:cs typeface="Poppins"/>
                <a:sym typeface="Poppins"/>
              </a:rPr>
              <a:t>Gửi lời mời thách đấu</a:t>
            </a:r>
          </a:p>
          <a:p>
            <a:pPr marL="539749" lvl="1" indent="-269875" algn="just">
              <a:lnSpc>
                <a:spcPts val="3499"/>
              </a:lnSpc>
              <a:buFont typeface="Arial"/>
              <a:buChar char="•"/>
            </a:pPr>
            <a:r>
              <a:rPr lang="en-US" sz="2499">
                <a:solidFill>
                  <a:srgbClr val="1A1F41"/>
                </a:solidFill>
                <a:latin typeface="Poppins"/>
                <a:ea typeface="Poppins"/>
                <a:cs typeface="Poppins"/>
                <a:sym typeface="Poppins"/>
              </a:rPr>
              <a:t>Chấp nhận lời mời</a:t>
            </a:r>
          </a:p>
          <a:p>
            <a:pPr marL="539749" lvl="1" indent="-269875" algn="just">
              <a:lnSpc>
                <a:spcPts val="3499"/>
              </a:lnSpc>
              <a:buFont typeface="Arial"/>
              <a:buChar char="•"/>
            </a:pPr>
            <a:r>
              <a:rPr lang="en-US" sz="2499">
                <a:solidFill>
                  <a:srgbClr val="1A1F41"/>
                </a:solidFill>
                <a:latin typeface="Poppins"/>
                <a:ea typeface="Poppins"/>
                <a:cs typeface="Poppins"/>
                <a:sym typeface="Poppins"/>
              </a:rPr>
              <a:t>Chat message trong trận</a:t>
            </a:r>
          </a:p>
          <a:p>
            <a:pPr marL="539749" lvl="1" indent="-269875" algn="just">
              <a:lnSpc>
                <a:spcPts val="3499"/>
              </a:lnSpc>
              <a:buFont typeface="Arial"/>
              <a:buChar char="•"/>
            </a:pPr>
            <a:r>
              <a:rPr lang="en-US" sz="2499">
                <a:solidFill>
                  <a:srgbClr val="1A1F41"/>
                </a:solidFill>
                <a:latin typeface="Poppins"/>
                <a:ea typeface="Poppins"/>
                <a:cs typeface="Poppins"/>
                <a:sym typeface="Poppins"/>
              </a:rPr>
              <a:t>Chơi game</a:t>
            </a:r>
          </a:p>
          <a:p>
            <a:pPr marL="539749" lvl="1" indent="-269875" algn="just">
              <a:lnSpc>
                <a:spcPts val="3499"/>
              </a:lnSpc>
              <a:buFont typeface="Arial"/>
              <a:buChar char="•"/>
            </a:pPr>
            <a:r>
              <a:rPr lang="en-US" sz="2499">
                <a:solidFill>
                  <a:srgbClr val="1A1F41"/>
                </a:solidFill>
                <a:latin typeface="Poppins"/>
                <a:ea typeface="Poppins"/>
                <a:cs typeface="Poppins"/>
                <a:sym typeface="Poppins"/>
              </a:rPr>
              <a:t>Thoáy game</a:t>
            </a:r>
          </a:p>
        </p:txBody>
      </p:sp>
      <p:sp>
        <p:nvSpPr>
          <p:cNvPr id="9" name="TextBox 9"/>
          <p:cNvSpPr txBox="1"/>
          <p:nvPr/>
        </p:nvSpPr>
        <p:spPr>
          <a:xfrm>
            <a:off x="438704" y="860425"/>
            <a:ext cx="5109252" cy="736600"/>
          </a:xfrm>
          <a:prstGeom prst="rect">
            <a:avLst/>
          </a:prstGeom>
        </p:spPr>
        <p:txBody>
          <a:bodyPr lIns="0" tIns="0" rIns="0" bIns="0" rtlCol="0" anchor="t">
            <a:spAutoFit/>
          </a:bodyPr>
          <a:lstStyle/>
          <a:p>
            <a:pPr marL="1079501" lvl="1" indent="-539750" algn="l">
              <a:lnSpc>
                <a:spcPts val="5750"/>
              </a:lnSpc>
              <a:buAutoNum type="arabicPeriod"/>
            </a:pPr>
            <a:r>
              <a:rPr lang="en-US" sz="5000" b="1">
                <a:solidFill>
                  <a:srgbClr val="1A1F41"/>
                </a:solidFill>
                <a:latin typeface="Big Shoulders Display Bold"/>
                <a:ea typeface="Big Shoulders Display Bold"/>
                <a:cs typeface="Big Shoulders Display Bold"/>
                <a:sym typeface="Big Shoulders Display Bold"/>
              </a:rPr>
              <a:t>THIẾT KẾ HỆ THỐNG</a:t>
            </a:r>
          </a:p>
        </p:txBody>
      </p:sp>
      <p:sp>
        <p:nvSpPr>
          <p:cNvPr id="10" name="TextBox 10"/>
          <p:cNvSpPr txBox="1"/>
          <p:nvPr/>
        </p:nvSpPr>
        <p:spPr>
          <a:xfrm>
            <a:off x="1368561" y="1652083"/>
            <a:ext cx="4749403" cy="4413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3.1 Sơ đồ use case (tổng quát)</a:t>
            </a:r>
          </a:p>
        </p:txBody>
      </p:sp>
      <p:sp>
        <p:nvSpPr>
          <p:cNvPr id="11" name="TextBox 11"/>
          <p:cNvSpPr txBox="1"/>
          <p:nvPr/>
        </p:nvSpPr>
        <p:spPr>
          <a:xfrm>
            <a:off x="1239316" y="2584563"/>
            <a:ext cx="3508028" cy="4413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các chức năng chính::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TextBox 2"/>
          <p:cNvSpPr txBox="1"/>
          <p:nvPr/>
        </p:nvSpPr>
        <p:spPr>
          <a:xfrm>
            <a:off x="10625754" y="2712281"/>
            <a:ext cx="4621339" cy="2608596"/>
          </a:xfrm>
          <a:prstGeom prst="rect">
            <a:avLst/>
          </a:prstGeom>
        </p:spPr>
        <p:txBody>
          <a:bodyPr lIns="0" tIns="0" rIns="0" bIns="0" rtlCol="0" anchor="t">
            <a:spAutoFit/>
          </a:bodyPr>
          <a:lstStyle/>
          <a:p>
            <a:pPr marL="532805" lvl="1" indent="-266403" algn="l">
              <a:lnSpc>
                <a:spcPts val="3454"/>
              </a:lnSpc>
              <a:buAutoNum type="arabicPeriod"/>
            </a:pPr>
            <a:r>
              <a:rPr lang="en-US" sz="2467">
                <a:solidFill>
                  <a:srgbClr val="1A1F41"/>
                </a:solidFill>
                <a:latin typeface="Poppins"/>
                <a:ea typeface="Poppins"/>
                <a:cs typeface="Poppins"/>
                <a:sym typeface="Poppins"/>
              </a:rPr>
              <a:t>Người chơi kết nối</a:t>
            </a:r>
          </a:p>
          <a:p>
            <a:pPr marL="532805" lvl="1" indent="-266403" algn="l">
              <a:lnSpc>
                <a:spcPts val="3454"/>
              </a:lnSpc>
              <a:buAutoNum type="arabicPeriod"/>
            </a:pPr>
            <a:r>
              <a:rPr lang="en-US" sz="2467">
                <a:solidFill>
                  <a:srgbClr val="1A1F41"/>
                </a:solidFill>
                <a:latin typeface="Poppins"/>
                <a:ea typeface="Poppins"/>
                <a:cs typeface="Poppins"/>
                <a:sym typeface="Poppins"/>
              </a:rPr>
              <a:t>Vào Lobby</a:t>
            </a:r>
          </a:p>
          <a:p>
            <a:pPr marL="532805" lvl="1" indent="-266403" algn="l">
              <a:lnSpc>
                <a:spcPts val="3454"/>
              </a:lnSpc>
              <a:buAutoNum type="arabicPeriod"/>
            </a:pPr>
            <a:r>
              <a:rPr lang="en-US" sz="2467">
                <a:solidFill>
                  <a:srgbClr val="1A1F41"/>
                </a:solidFill>
                <a:latin typeface="Poppins"/>
                <a:ea typeface="Poppins"/>
                <a:cs typeface="Poppins"/>
                <a:sym typeface="Poppins"/>
              </a:rPr>
              <a:t>Chọn người chơi</a:t>
            </a:r>
          </a:p>
          <a:p>
            <a:pPr marL="532805" lvl="1" indent="-266403" algn="l">
              <a:lnSpc>
                <a:spcPts val="3454"/>
              </a:lnSpc>
              <a:buAutoNum type="arabicPeriod"/>
            </a:pPr>
            <a:r>
              <a:rPr lang="en-US" sz="2467">
                <a:solidFill>
                  <a:srgbClr val="1A1F41"/>
                </a:solidFill>
                <a:latin typeface="Poppins"/>
                <a:ea typeface="Poppins"/>
                <a:cs typeface="Poppins"/>
                <a:sym typeface="Poppins"/>
              </a:rPr>
              <a:t>Gửi thách đấu</a:t>
            </a:r>
          </a:p>
          <a:p>
            <a:pPr marL="532805" lvl="1" indent="-266403" algn="l">
              <a:lnSpc>
                <a:spcPts val="3454"/>
              </a:lnSpc>
              <a:buAutoNum type="arabicPeriod"/>
            </a:pPr>
            <a:r>
              <a:rPr lang="en-US" sz="2467">
                <a:solidFill>
                  <a:srgbClr val="1A1F41"/>
                </a:solidFill>
                <a:latin typeface="Poppins"/>
                <a:ea typeface="Poppins"/>
                <a:cs typeface="Poppins"/>
                <a:sym typeface="Poppins"/>
              </a:rPr>
              <a:t>Bắt đầu game</a:t>
            </a:r>
          </a:p>
          <a:p>
            <a:pPr marL="532805" lvl="1" indent="-266403" algn="l">
              <a:lnSpc>
                <a:spcPts val="3454"/>
              </a:lnSpc>
              <a:buAutoNum type="arabicPeriod"/>
            </a:pPr>
            <a:r>
              <a:rPr lang="en-US" sz="2467">
                <a:solidFill>
                  <a:srgbClr val="1A1F41"/>
                </a:solidFill>
                <a:latin typeface="Poppins"/>
                <a:ea typeface="Poppins"/>
                <a:cs typeface="Poppins"/>
                <a:sym typeface="Poppins"/>
              </a:rPr>
              <a:t>Chơi → kết thúc</a:t>
            </a:r>
          </a:p>
        </p:txBody>
      </p:sp>
      <p:grpSp>
        <p:nvGrpSpPr>
          <p:cNvPr id="3" name="Group 3"/>
          <p:cNvGrpSpPr/>
          <p:nvPr/>
        </p:nvGrpSpPr>
        <p:grpSpPr>
          <a:xfrm>
            <a:off x="0" y="-48335"/>
            <a:ext cx="10205638" cy="10335335"/>
            <a:chOff x="0" y="0"/>
            <a:chExt cx="1510609" cy="1529806"/>
          </a:xfrm>
        </p:grpSpPr>
        <p:sp>
          <p:nvSpPr>
            <p:cNvPr id="4" name="Freeform 4"/>
            <p:cNvSpPr/>
            <p:nvPr/>
          </p:nvSpPr>
          <p:spPr>
            <a:xfrm>
              <a:off x="0" y="0"/>
              <a:ext cx="1510609" cy="1529807"/>
            </a:xfrm>
            <a:custGeom>
              <a:avLst/>
              <a:gdLst/>
              <a:ahLst/>
              <a:cxnLst/>
              <a:rect l="l" t="t" r="r" b="b"/>
              <a:pathLst>
                <a:path w="1510609" h="1529807">
                  <a:moveTo>
                    <a:pt x="0" y="0"/>
                  </a:moveTo>
                  <a:lnTo>
                    <a:pt x="1510609" y="0"/>
                  </a:lnTo>
                  <a:lnTo>
                    <a:pt x="1510609" y="1529807"/>
                  </a:lnTo>
                  <a:lnTo>
                    <a:pt x="0" y="1529807"/>
                  </a:lnTo>
                  <a:close/>
                </a:path>
              </a:pathLst>
            </a:custGeom>
            <a:blipFill>
              <a:blip r:embed="rId2"/>
              <a:stretch>
                <a:fillRect l="-2214" r="-2214"/>
              </a:stretch>
            </a:blipFill>
          </p:spPr>
        </p:sp>
      </p:grpSp>
      <p:sp>
        <p:nvSpPr>
          <p:cNvPr id="5" name="Freeform 5"/>
          <p:cNvSpPr/>
          <p:nvPr/>
        </p:nvSpPr>
        <p:spPr>
          <a:xfrm rot="-1691021">
            <a:off x="16540182" y="-543154"/>
            <a:ext cx="2846485" cy="2008066"/>
          </a:xfrm>
          <a:custGeom>
            <a:avLst/>
            <a:gdLst/>
            <a:ahLst/>
            <a:cxnLst/>
            <a:rect l="l" t="t" r="r" b="b"/>
            <a:pathLst>
              <a:path w="2846485" h="2008066">
                <a:moveTo>
                  <a:pt x="0" y="0"/>
                </a:moveTo>
                <a:lnTo>
                  <a:pt x="2846485" y="0"/>
                </a:lnTo>
                <a:lnTo>
                  <a:pt x="2846485" y="2008066"/>
                </a:lnTo>
                <a:lnTo>
                  <a:pt x="0" y="2008066"/>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6" name="Freeform 6"/>
          <p:cNvSpPr/>
          <p:nvPr/>
        </p:nvSpPr>
        <p:spPr>
          <a:xfrm>
            <a:off x="6298412" y="-3481782"/>
            <a:ext cx="4510482" cy="4510482"/>
          </a:xfrm>
          <a:custGeom>
            <a:avLst/>
            <a:gdLst/>
            <a:ahLst/>
            <a:cxnLst/>
            <a:rect l="l" t="t" r="r" b="b"/>
            <a:pathLst>
              <a:path w="4510482" h="4510482">
                <a:moveTo>
                  <a:pt x="0" y="0"/>
                </a:moveTo>
                <a:lnTo>
                  <a:pt x="4510482" y="0"/>
                </a:lnTo>
                <a:lnTo>
                  <a:pt x="4510482" y="4510482"/>
                </a:lnTo>
                <a:lnTo>
                  <a:pt x="0" y="4510482"/>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7" name="TextBox 7"/>
          <p:cNvSpPr txBox="1"/>
          <p:nvPr/>
        </p:nvSpPr>
        <p:spPr>
          <a:xfrm>
            <a:off x="10334254" y="1047750"/>
            <a:ext cx="6925046" cy="736600"/>
          </a:xfrm>
          <a:prstGeom prst="rect">
            <a:avLst/>
          </a:prstGeom>
        </p:spPr>
        <p:txBody>
          <a:bodyPr lIns="0" tIns="0" rIns="0" bIns="0" rtlCol="0" anchor="t">
            <a:spAutoFit/>
          </a:bodyPr>
          <a:lstStyle/>
          <a:p>
            <a:pPr marL="0" lvl="0" indent="0" algn="l">
              <a:lnSpc>
                <a:spcPts val="5750"/>
              </a:lnSpc>
              <a:spcBef>
                <a:spcPct val="0"/>
              </a:spcBef>
            </a:pPr>
            <a:r>
              <a:rPr lang="en-US" sz="5000" b="1">
                <a:solidFill>
                  <a:srgbClr val="1A1F41"/>
                </a:solidFill>
                <a:latin typeface="Big Shoulders Display Bold"/>
                <a:ea typeface="Big Shoulders Display Bold"/>
                <a:cs typeface="Big Shoulders Display Bold"/>
                <a:sym typeface="Big Shoulders Display Bold"/>
              </a:rPr>
              <a:t>3.THIẾT KẾ HỆ THỐNG</a:t>
            </a:r>
          </a:p>
        </p:txBody>
      </p:sp>
      <p:sp>
        <p:nvSpPr>
          <p:cNvPr id="8" name="TextBox 8"/>
          <p:cNvSpPr txBox="1"/>
          <p:nvPr/>
        </p:nvSpPr>
        <p:spPr>
          <a:xfrm>
            <a:off x="10474473" y="1951394"/>
            <a:ext cx="3087737" cy="4413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3.2 Sơ đồ hoạt động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a:off x="7204845" y="871631"/>
            <a:ext cx="11264692" cy="8229600"/>
            <a:chOff x="0" y="0"/>
            <a:chExt cx="1885581" cy="1377541"/>
          </a:xfrm>
        </p:grpSpPr>
        <p:sp>
          <p:nvSpPr>
            <p:cNvPr id="3" name="Freeform 3"/>
            <p:cNvSpPr/>
            <p:nvPr/>
          </p:nvSpPr>
          <p:spPr>
            <a:xfrm>
              <a:off x="0" y="0"/>
              <a:ext cx="1885581" cy="1377541"/>
            </a:xfrm>
            <a:custGeom>
              <a:avLst/>
              <a:gdLst/>
              <a:ahLst/>
              <a:cxnLst/>
              <a:rect l="l" t="t" r="r" b="b"/>
              <a:pathLst>
                <a:path w="1885581" h="1377541">
                  <a:moveTo>
                    <a:pt x="0" y="0"/>
                  </a:moveTo>
                  <a:lnTo>
                    <a:pt x="1885581" y="0"/>
                  </a:lnTo>
                  <a:lnTo>
                    <a:pt x="1885581" y="1377541"/>
                  </a:lnTo>
                  <a:lnTo>
                    <a:pt x="0" y="1377541"/>
                  </a:lnTo>
                  <a:close/>
                </a:path>
              </a:pathLst>
            </a:custGeom>
            <a:blipFill>
              <a:blip r:embed="rId2"/>
              <a:stretch>
                <a:fillRect l="-2988" r="-2988"/>
              </a:stretch>
            </a:blipFill>
          </p:spPr>
        </p:sp>
      </p:grpSp>
      <p:sp>
        <p:nvSpPr>
          <p:cNvPr id="4" name="Freeform 4"/>
          <p:cNvSpPr/>
          <p:nvPr/>
        </p:nvSpPr>
        <p:spPr>
          <a:xfrm rot="677007">
            <a:off x="5650883" y="7719983"/>
            <a:ext cx="1734216" cy="1223411"/>
          </a:xfrm>
          <a:custGeom>
            <a:avLst/>
            <a:gdLst/>
            <a:ahLst/>
            <a:cxnLst/>
            <a:rect l="l" t="t" r="r" b="b"/>
            <a:pathLst>
              <a:path w="1734216" h="1223411">
                <a:moveTo>
                  <a:pt x="0" y="0"/>
                </a:moveTo>
                <a:lnTo>
                  <a:pt x="1734217" y="0"/>
                </a:lnTo>
                <a:lnTo>
                  <a:pt x="1734217" y="1223411"/>
                </a:lnTo>
                <a:lnTo>
                  <a:pt x="0" y="1223411"/>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5" name="Freeform 5"/>
          <p:cNvSpPr/>
          <p:nvPr/>
        </p:nvSpPr>
        <p:spPr>
          <a:xfrm rot="-2262585">
            <a:off x="5892678" y="1926312"/>
            <a:ext cx="1734216" cy="1223411"/>
          </a:xfrm>
          <a:custGeom>
            <a:avLst/>
            <a:gdLst/>
            <a:ahLst/>
            <a:cxnLst/>
            <a:rect l="l" t="t" r="r" b="b"/>
            <a:pathLst>
              <a:path w="1734216" h="1223411">
                <a:moveTo>
                  <a:pt x="0" y="0"/>
                </a:moveTo>
                <a:lnTo>
                  <a:pt x="1734216" y="0"/>
                </a:lnTo>
                <a:lnTo>
                  <a:pt x="1734216" y="1223411"/>
                </a:lnTo>
                <a:lnTo>
                  <a:pt x="0" y="1223411"/>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6" name="Freeform 6"/>
          <p:cNvSpPr/>
          <p:nvPr/>
        </p:nvSpPr>
        <p:spPr>
          <a:xfrm>
            <a:off x="8155420" y="9556634"/>
            <a:ext cx="3322868" cy="3322868"/>
          </a:xfrm>
          <a:custGeom>
            <a:avLst/>
            <a:gdLst/>
            <a:ahLst/>
            <a:cxnLst/>
            <a:rect l="l" t="t" r="r" b="b"/>
            <a:pathLst>
              <a:path w="3322868" h="3322868">
                <a:moveTo>
                  <a:pt x="0" y="0"/>
                </a:moveTo>
                <a:lnTo>
                  <a:pt x="3322868" y="0"/>
                </a:lnTo>
                <a:lnTo>
                  <a:pt x="3322868" y="3322868"/>
                </a:lnTo>
                <a:lnTo>
                  <a:pt x="0" y="332286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7" name="Freeform 7"/>
          <p:cNvSpPr/>
          <p:nvPr/>
        </p:nvSpPr>
        <p:spPr>
          <a:xfrm>
            <a:off x="15597866" y="-2575599"/>
            <a:ext cx="3322868" cy="3322868"/>
          </a:xfrm>
          <a:custGeom>
            <a:avLst/>
            <a:gdLst/>
            <a:ahLst/>
            <a:cxnLst/>
            <a:rect l="l" t="t" r="r" b="b"/>
            <a:pathLst>
              <a:path w="3322868" h="3322868">
                <a:moveTo>
                  <a:pt x="0" y="0"/>
                </a:moveTo>
                <a:lnTo>
                  <a:pt x="3322868" y="0"/>
                </a:lnTo>
                <a:lnTo>
                  <a:pt x="3322868" y="3322868"/>
                </a:lnTo>
                <a:lnTo>
                  <a:pt x="0" y="332286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8" name="TextBox 8"/>
          <p:cNvSpPr txBox="1"/>
          <p:nvPr/>
        </p:nvSpPr>
        <p:spPr>
          <a:xfrm>
            <a:off x="1239316" y="3287417"/>
            <a:ext cx="4519255" cy="3946525"/>
          </a:xfrm>
          <a:prstGeom prst="rect">
            <a:avLst/>
          </a:prstGeom>
        </p:spPr>
        <p:txBody>
          <a:bodyPr lIns="0" tIns="0" rIns="0" bIns="0" rtlCol="0" anchor="t">
            <a:spAutoFit/>
          </a:bodyPr>
          <a:lstStyle/>
          <a:p>
            <a:pPr algn="l">
              <a:lnSpc>
                <a:spcPts val="3499"/>
              </a:lnSpc>
            </a:pPr>
            <a:r>
              <a:rPr lang="en-US" sz="2499">
                <a:solidFill>
                  <a:srgbClr val="1A1F41"/>
                </a:solidFill>
                <a:latin typeface="Poppins"/>
                <a:ea typeface="Poppins"/>
                <a:cs typeface="Poppins"/>
                <a:sym typeface="Poppins"/>
              </a:rPr>
              <a:t>Các đối tượng:</a:t>
            </a:r>
          </a:p>
          <a:p>
            <a:pPr marL="539749" lvl="1" indent="-269875" algn="l">
              <a:lnSpc>
                <a:spcPts val="3499"/>
              </a:lnSpc>
              <a:buFont typeface="Arial"/>
              <a:buChar char="•"/>
            </a:pPr>
            <a:r>
              <a:rPr lang="en-US" sz="2499">
                <a:solidFill>
                  <a:srgbClr val="1A1F41"/>
                </a:solidFill>
                <a:latin typeface="Poppins"/>
                <a:ea typeface="Poppins"/>
                <a:cs typeface="Poppins"/>
                <a:sym typeface="Poppins"/>
              </a:rPr>
              <a:t>Client 1</a:t>
            </a:r>
          </a:p>
          <a:p>
            <a:pPr marL="539749" lvl="1" indent="-269875" algn="l">
              <a:lnSpc>
                <a:spcPts val="3499"/>
              </a:lnSpc>
              <a:buFont typeface="Arial"/>
              <a:buChar char="•"/>
            </a:pPr>
            <a:r>
              <a:rPr lang="en-US" sz="2499">
                <a:solidFill>
                  <a:srgbClr val="1A1F41"/>
                </a:solidFill>
                <a:latin typeface="Poppins"/>
                <a:ea typeface="Poppins"/>
                <a:cs typeface="Poppins"/>
                <a:sym typeface="Poppins"/>
              </a:rPr>
              <a:t>Server</a:t>
            </a:r>
          </a:p>
          <a:p>
            <a:pPr marL="539749" lvl="1" indent="-269875" algn="l">
              <a:lnSpc>
                <a:spcPts val="3499"/>
              </a:lnSpc>
              <a:buFont typeface="Arial"/>
              <a:buChar char="•"/>
            </a:pPr>
            <a:r>
              <a:rPr lang="en-US" sz="2499">
                <a:solidFill>
                  <a:srgbClr val="1A1F41"/>
                </a:solidFill>
                <a:latin typeface="Poppins"/>
                <a:ea typeface="Poppins"/>
                <a:cs typeface="Poppins"/>
                <a:sym typeface="Poppins"/>
              </a:rPr>
              <a:t>Client 2</a:t>
            </a:r>
          </a:p>
          <a:p>
            <a:pPr algn="l">
              <a:lnSpc>
                <a:spcPts val="3499"/>
              </a:lnSpc>
            </a:pPr>
            <a:r>
              <a:rPr lang="en-US" sz="2499">
                <a:solidFill>
                  <a:srgbClr val="1A1F41"/>
                </a:solidFill>
                <a:latin typeface="Poppins"/>
                <a:ea typeface="Poppins"/>
                <a:cs typeface="Poppins"/>
                <a:sym typeface="Poppins"/>
              </a:rPr>
              <a:t>Luồng:</a:t>
            </a:r>
          </a:p>
          <a:p>
            <a:pPr marL="539749" lvl="1" indent="-269875" algn="l">
              <a:lnSpc>
                <a:spcPts val="3499"/>
              </a:lnSpc>
              <a:buFont typeface="Arial"/>
              <a:buChar char="•"/>
            </a:pPr>
            <a:r>
              <a:rPr lang="en-US" sz="2499">
                <a:solidFill>
                  <a:srgbClr val="1A1F41"/>
                </a:solidFill>
                <a:latin typeface="Poppins"/>
                <a:ea typeface="Poppins"/>
                <a:cs typeface="Poppins"/>
                <a:sym typeface="Poppins"/>
              </a:rPr>
              <a:t>Client gửi reuqest</a:t>
            </a:r>
          </a:p>
          <a:p>
            <a:pPr marL="539749" lvl="1" indent="-269875" algn="l">
              <a:lnSpc>
                <a:spcPts val="3499"/>
              </a:lnSpc>
              <a:buFont typeface="Arial"/>
              <a:buChar char="•"/>
            </a:pPr>
            <a:r>
              <a:rPr lang="en-US" sz="2499">
                <a:solidFill>
                  <a:srgbClr val="1A1F41"/>
                </a:solidFill>
                <a:latin typeface="Poppins"/>
                <a:ea typeface="Poppins"/>
                <a:cs typeface="Poppins"/>
                <a:sym typeface="Poppins"/>
              </a:rPr>
              <a:t>Server xử lí</a:t>
            </a:r>
          </a:p>
          <a:p>
            <a:pPr marL="539749" lvl="1" indent="-269875" algn="l">
              <a:lnSpc>
                <a:spcPts val="3499"/>
              </a:lnSpc>
              <a:buFont typeface="Arial"/>
              <a:buChar char="•"/>
            </a:pPr>
            <a:r>
              <a:rPr lang="en-US" sz="2499">
                <a:solidFill>
                  <a:srgbClr val="1A1F41"/>
                </a:solidFill>
                <a:latin typeface="Poppins"/>
                <a:ea typeface="Poppins"/>
                <a:cs typeface="Poppins"/>
                <a:sym typeface="Poppins"/>
              </a:rPr>
              <a:t>Server gửi lại cho client còn lại</a:t>
            </a:r>
          </a:p>
        </p:txBody>
      </p:sp>
      <p:sp>
        <p:nvSpPr>
          <p:cNvPr id="9" name="TextBox 9"/>
          <p:cNvSpPr txBox="1"/>
          <p:nvPr/>
        </p:nvSpPr>
        <p:spPr>
          <a:xfrm>
            <a:off x="438704" y="860425"/>
            <a:ext cx="5109252" cy="736600"/>
          </a:xfrm>
          <a:prstGeom prst="rect">
            <a:avLst/>
          </a:prstGeom>
        </p:spPr>
        <p:txBody>
          <a:bodyPr lIns="0" tIns="0" rIns="0" bIns="0" rtlCol="0" anchor="t">
            <a:spAutoFit/>
          </a:bodyPr>
          <a:lstStyle/>
          <a:p>
            <a:pPr marL="1079501" lvl="1" indent="-539750" algn="l">
              <a:lnSpc>
                <a:spcPts val="5750"/>
              </a:lnSpc>
              <a:buAutoNum type="arabicPeriod"/>
            </a:pPr>
            <a:r>
              <a:rPr lang="en-US" sz="5000" b="1">
                <a:solidFill>
                  <a:srgbClr val="1A1F41"/>
                </a:solidFill>
                <a:latin typeface="Big Shoulders Display Bold"/>
                <a:ea typeface="Big Shoulders Display Bold"/>
                <a:cs typeface="Big Shoulders Display Bold"/>
                <a:sym typeface="Big Shoulders Display Bold"/>
              </a:rPr>
              <a:t>THIẾT KẾ HỆ THỐNG</a:t>
            </a:r>
          </a:p>
        </p:txBody>
      </p:sp>
      <p:sp>
        <p:nvSpPr>
          <p:cNvPr id="10" name="TextBox 10"/>
          <p:cNvSpPr txBox="1"/>
          <p:nvPr/>
        </p:nvSpPr>
        <p:spPr>
          <a:xfrm>
            <a:off x="2487154" y="1652083"/>
            <a:ext cx="2512219" cy="4413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3.1 Sơ đồ tuần tự</a:t>
            </a:r>
          </a:p>
        </p:txBody>
      </p:sp>
      <p:sp>
        <p:nvSpPr>
          <p:cNvPr id="11" name="TextBox 11"/>
          <p:cNvSpPr txBox="1"/>
          <p:nvPr/>
        </p:nvSpPr>
        <p:spPr>
          <a:xfrm>
            <a:off x="1239316" y="2584563"/>
            <a:ext cx="3508028" cy="4413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các chức năng chính::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677007">
            <a:off x="-232435" y="9282967"/>
            <a:ext cx="2846485" cy="2008066"/>
          </a:xfrm>
          <a:custGeom>
            <a:avLst/>
            <a:gdLst/>
            <a:ahLst/>
            <a:cxnLst/>
            <a:rect l="l" t="t" r="r" b="b"/>
            <a:pathLst>
              <a:path w="2846485" h="2008066">
                <a:moveTo>
                  <a:pt x="0" y="0"/>
                </a:moveTo>
                <a:lnTo>
                  <a:pt x="2846486" y="0"/>
                </a:lnTo>
                <a:lnTo>
                  <a:pt x="2846486" y="2008066"/>
                </a:lnTo>
                <a:lnTo>
                  <a:pt x="0" y="200806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7030869" y="1500680"/>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Freeform 4"/>
          <p:cNvSpPr/>
          <p:nvPr/>
        </p:nvSpPr>
        <p:spPr>
          <a:xfrm>
            <a:off x="1635256" y="1149725"/>
            <a:ext cx="5606026" cy="5834545"/>
          </a:xfrm>
          <a:custGeom>
            <a:avLst/>
            <a:gdLst/>
            <a:ahLst/>
            <a:cxnLst/>
            <a:rect l="l" t="t" r="r" b="b"/>
            <a:pathLst>
              <a:path w="5606026" h="5834545">
                <a:moveTo>
                  <a:pt x="0" y="0"/>
                </a:moveTo>
                <a:lnTo>
                  <a:pt x="5606026" y="0"/>
                </a:lnTo>
                <a:lnTo>
                  <a:pt x="5606026" y="5834545"/>
                </a:lnTo>
                <a:lnTo>
                  <a:pt x="0" y="5834545"/>
                </a:lnTo>
                <a:lnTo>
                  <a:pt x="0" y="0"/>
                </a:lnTo>
                <a:close/>
              </a:path>
            </a:pathLst>
          </a:custGeom>
          <a:blipFill>
            <a:blip r:embed="rId6"/>
            <a:stretch>
              <a:fillRect/>
            </a:stretch>
          </a:blipFill>
        </p:spPr>
      </p:sp>
      <p:sp>
        <p:nvSpPr>
          <p:cNvPr id="5" name="TextBox 5"/>
          <p:cNvSpPr txBox="1"/>
          <p:nvPr/>
        </p:nvSpPr>
        <p:spPr>
          <a:xfrm>
            <a:off x="9021342" y="1308314"/>
            <a:ext cx="6925046" cy="736600"/>
          </a:xfrm>
          <a:prstGeom prst="rect">
            <a:avLst/>
          </a:prstGeom>
        </p:spPr>
        <p:txBody>
          <a:bodyPr lIns="0" tIns="0" rIns="0" bIns="0" rtlCol="0" anchor="t">
            <a:spAutoFit/>
          </a:bodyPr>
          <a:lstStyle/>
          <a:p>
            <a:pPr marL="1079501" lvl="1" indent="-539750" algn="l">
              <a:lnSpc>
                <a:spcPts val="5750"/>
              </a:lnSpc>
              <a:spcBef>
                <a:spcPct val="0"/>
              </a:spcBef>
              <a:buAutoNum type="arabicPeriod"/>
            </a:pPr>
            <a:r>
              <a:rPr lang="en-US" sz="5000" b="1">
                <a:solidFill>
                  <a:srgbClr val="1A1F41"/>
                </a:solidFill>
                <a:latin typeface="Big Shoulders Display Bold"/>
                <a:ea typeface="Big Shoulders Display Bold"/>
                <a:cs typeface="Big Shoulders Display Bold"/>
                <a:sym typeface="Big Shoulders Display Bold"/>
              </a:rPr>
              <a:t>CÀI ĐẶT VÀ TRIỂN KHAI</a:t>
            </a:r>
          </a:p>
        </p:txBody>
      </p:sp>
      <p:sp>
        <p:nvSpPr>
          <p:cNvPr id="6" name="TextBox 6"/>
          <p:cNvSpPr txBox="1"/>
          <p:nvPr/>
        </p:nvSpPr>
        <p:spPr>
          <a:xfrm>
            <a:off x="9711561" y="2667030"/>
            <a:ext cx="6234827" cy="3508375"/>
          </a:xfrm>
          <a:prstGeom prst="rect">
            <a:avLst/>
          </a:prstGeom>
        </p:spPr>
        <p:txBody>
          <a:bodyPr lIns="0" tIns="0" rIns="0" bIns="0" rtlCol="0" anchor="t">
            <a:spAutoFit/>
          </a:bodyPr>
          <a:lstStyle/>
          <a:p>
            <a:pPr algn="l">
              <a:lnSpc>
                <a:spcPts val="3499"/>
              </a:lnSpc>
            </a:pPr>
            <a:r>
              <a:rPr lang="en-US" sz="2499">
                <a:solidFill>
                  <a:srgbClr val="1A1F41"/>
                </a:solidFill>
                <a:latin typeface="Poppins"/>
                <a:ea typeface="Poppins"/>
                <a:cs typeface="Poppins"/>
                <a:sym typeface="Poppins"/>
              </a:rPr>
              <a:t>Mô hình Client -server : hệ thống áp dụng mô hình Client-server chuẩn, trong đó server đóng vai trò điều phối cho mọi trận đấu</a:t>
            </a:r>
          </a:p>
          <a:p>
            <a:pPr algn="l">
              <a:lnSpc>
                <a:spcPts val="3499"/>
              </a:lnSpc>
            </a:pPr>
            <a:r>
              <a:rPr lang="en-US" sz="2499">
                <a:solidFill>
                  <a:srgbClr val="1A1F41"/>
                </a:solidFill>
                <a:latin typeface="Poppins"/>
                <a:ea typeface="Poppins"/>
                <a:cs typeface="Poppins"/>
                <a:sym typeface="Poppins"/>
              </a:rPr>
              <a:t>Giao thức TCP có kết nối được chọn thay vì UDP để đảm bảo tính tin cậy tuyệt đối - tránh mất gói tin hoặc sai lệch thứ tự trạng thái bàn cờ</a:t>
            </a:r>
          </a:p>
        </p:txBody>
      </p:sp>
      <p:sp>
        <p:nvSpPr>
          <p:cNvPr id="7" name="TextBox 7"/>
          <p:cNvSpPr txBox="1"/>
          <p:nvPr/>
        </p:nvSpPr>
        <p:spPr>
          <a:xfrm>
            <a:off x="9867646" y="1978239"/>
            <a:ext cx="4634210" cy="4413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4.1 Mô hình &amp; giao thức mạng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1691021">
            <a:off x="15919929" y="2558110"/>
            <a:ext cx="2846485" cy="2008066"/>
          </a:xfrm>
          <a:custGeom>
            <a:avLst/>
            <a:gdLst/>
            <a:ahLst/>
            <a:cxnLst/>
            <a:rect l="l" t="t" r="r" b="b"/>
            <a:pathLst>
              <a:path w="2846485" h="2008066">
                <a:moveTo>
                  <a:pt x="0" y="0"/>
                </a:moveTo>
                <a:lnTo>
                  <a:pt x="2846486" y="0"/>
                </a:lnTo>
                <a:lnTo>
                  <a:pt x="2846486" y="2008065"/>
                </a:lnTo>
                <a:lnTo>
                  <a:pt x="0" y="200806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2068097" y="3098586"/>
            <a:ext cx="10420421" cy="4384675"/>
          </a:xfrm>
          <a:prstGeom prst="rect">
            <a:avLst/>
          </a:prstGeom>
        </p:spPr>
        <p:txBody>
          <a:bodyPr lIns="0" tIns="0" rIns="0" bIns="0" rtlCol="0" anchor="t">
            <a:spAutoFit/>
          </a:bodyPr>
          <a:lstStyle/>
          <a:p>
            <a:pPr marL="539749" lvl="1" indent="-269875" algn="just">
              <a:lnSpc>
                <a:spcPts val="3499"/>
              </a:lnSpc>
              <a:buFont typeface="Arial"/>
              <a:buChar char="•"/>
            </a:pPr>
            <a:r>
              <a:rPr lang="en-US" sz="2499">
                <a:solidFill>
                  <a:srgbClr val="1A1F41"/>
                </a:solidFill>
                <a:latin typeface="Poppins"/>
                <a:ea typeface="Poppins"/>
                <a:cs typeface="Poppins"/>
                <a:sym typeface="Poppins"/>
              </a:rPr>
              <a:t>Phía server: Khi nhận yêu cầu đánh cờ, Server kiểm tra người gửi có đúng lượt không. Nếu sai lượt hoặc ô không hợp lệ, Server phản hồi ngay bằng thông báo lỗi cụ thể về Client. Nếu hợp lệ, Server cập nhật bàn cờ, lưu lại nước đi, kiểm tra thắng/hòa rồi chuyển lượt và gửi trạng thái mới cho cả hai người chơi.</a:t>
            </a:r>
          </a:p>
          <a:p>
            <a:pPr marL="539749" lvl="1" indent="-269875" algn="just">
              <a:lnSpc>
                <a:spcPts val="3499"/>
              </a:lnSpc>
              <a:spcBef>
                <a:spcPct val="0"/>
              </a:spcBef>
              <a:buFont typeface="Arial"/>
              <a:buChar char="•"/>
            </a:pPr>
            <a:r>
              <a:rPr lang="en-US" sz="2499">
                <a:solidFill>
                  <a:srgbClr val="1A1F41"/>
                </a:solidFill>
                <a:latin typeface="Poppins"/>
                <a:ea typeface="Poppins"/>
                <a:cs typeface="Poppins"/>
                <a:sym typeface="Poppins"/>
              </a:rPr>
              <a:t>Phía client: Client chỉ gửi yêu cầu đánh cờ khi đến lượt của mình. Sau khi nhận được trạng thái mới từ Server, giao diện sẽ cập nhật bàn cờ, hiển thị lượt chơi hiện tại và thời gian còn lại của lượt.</a:t>
            </a:r>
          </a:p>
        </p:txBody>
      </p:sp>
      <p:sp>
        <p:nvSpPr>
          <p:cNvPr id="4" name="TextBox 4"/>
          <p:cNvSpPr txBox="1"/>
          <p:nvPr/>
        </p:nvSpPr>
        <p:spPr>
          <a:xfrm>
            <a:off x="1611403" y="1495907"/>
            <a:ext cx="5778315" cy="736600"/>
          </a:xfrm>
          <a:prstGeom prst="rect">
            <a:avLst/>
          </a:prstGeom>
        </p:spPr>
        <p:txBody>
          <a:bodyPr lIns="0" tIns="0" rIns="0" bIns="0" rtlCol="0" anchor="t">
            <a:spAutoFit/>
          </a:bodyPr>
          <a:lstStyle/>
          <a:p>
            <a:pPr algn="l">
              <a:lnSpc>
                <a:spcPts val="5750"/>
              </a:lnSpc>
              <a:spcBef>
                <a:spcPct val="0"/>
              </a:spcBef>
            </a:pPr>
            <a:r>
              <a:rPr lang="en-US" sz="5000" b="1">
                <a:solidFill>
                  <a:srgbClr val="1A1F41"/>
                </a:solidFill>
                <a:latin typeface="Big Shoulders Display Bold"/>
                <a:ea typeface="Big Shoulders Display Bold"/>
                <a:cs typeface="Big Shoulders Display Bold"/>
                <a:sym typeface="Big Shoulders Display Bold"/>
              </a:rPr>
              <a:t>4.CÀI ĐẶT VÀ TRIỂN KHAI</a:t>
            </a:r>
          </a:p>
        </p:txBody>
      </p:sp>
      <p:sp>
        <p:nvSpPr>
          <p:cNvPr id="5" name="Freeform 5"/>
          <p:cNvSpPr/>
          <p:nvPr/>
        </p:nvSpPr>
        <p:spPr>
          <a:xfrm rot="1658979">
            <a:off x="-2335" y="8691283"/>
            <a:ext cx="2465303" cy="1739159"/>
          </a:xfrm>
          <a:custGeom>
            <a:avLst/>
            <a:gdLst/>
            <a:ahLst/>
            <a:cxnLst/>
            <a:rect l="l" t="t" r="r" b="b"/>
            <a:pathLst>
              <a:path w="2465303" h="1739159">
                <a:moveTo>
                  <a:pt x="0" y="0"/>
                </a:moveTo>
                <a:lnTo>
                  <a:pt x="2465303" y="0"/>
                </a:lnTo>
                <a:lnTo>
                  <a:pt x="2465303" y="1739159"/>
                </a:lnTo>
                <a:lnTo>
                  <a:pt x="0" y="173915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8540080" y="-4549002"/>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7" name="TextBox 7"/>
          <p:cNvSpPr txBox="1"/>
          <p:nvPr/>
        </p:nvSpPr>
        <p:spPr>
          <a:xfrm>
            <a:off x="2298423" y="2378233"/>
            <a:ext cx="3888135" cy="4413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Cơ chế Kiểm Soát Lượt đi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1691021">
            <a:off x="15919929" y="2558110"/>
            <a:ext cx="2846485" cy="2008066"/>
          </a:xfrm>
          <a:custGeom>
            <a:avLst/>
            <a:gdLst/>
            <a:ahLst/>
            <a:cxnLst/>
            <a:rect l="l" t="t" r="r" b="b"/>
            <a:pathLst>
              <a:path w="2846485" h="2008066">
                <a:moveTo>
                  <a:pt x="0" y="0"/>
                </a:moveTo>
                <a:lnTo>
                  <a:pt x="2846486" y="0"/>
                </a:lnTo>
                <a:lnTo>
                  <a:pt x="2846486" y="2008065"/>
                </a:lnTo>
                <a:lnTo>
                  <a:pt x="0" y="200806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2068097" y="2962433"/>
            <a:ext cx="6471983" cy="5260975"/>
          </a:xfrm>
          <a:prstGeom prst="rect">
            <a:avLst/>
          </a:prstGeom>
        </p:spPr>
        <p:txBody>
          <a:bodyPr lIns="0" tIns="0" rIns="0" bIns="0" rtlCol="0" anchor="t">
            <a:spAutoFit/>
          </a:bodyPr>
          <a:lstStyle/>
          <a:p>
            <a:pPr marL="539749" lvl="1" indent="-269875" algn="just">
              <a:lnSpc>
                <a:spcPts val="3499"/>
              </a:lnSpc>
              <a:buFont typeface="Arial"/>
              <a:buChar char="•"/>
            </a:pPr>
            <a:r>
              <a:rPr lang="en-US" sz="2499">
                <a:solidFill>
                  <a:srgbClr val="1A1F41"/>
                </a:solidFill>
                <a:latin typeface="Poppins"/>
                <a:ea typeface="Poppins"/>
                <a:cs typeface="Poppins"/>
                <a:sym typeface="Poppins"/>
              </a:rPr>
              <a:t>Client:Cung cấp giao diện cho người chơi, gửi các yêu cầu đến Server, nhận dữ liệu phản hồi và hiển thị trạng thái trò chơi.</a:t>
            </a:r>
          </a:p>
          <a:p>
            <a:pPr marL="539749" lvl="1" indent="-269875" algn="just">
              <a:lnSpc>
                <a:spcPts val="3499"/>
              </a:lnSpc>
              <a:buFont typeface="Arial"/>
              <a:buChar char="•"/>
            </a:pPr>
            <a:r>
              <a:rPr lang="en-US" sz="2499">
                <a:solidFill>
                  <a:srgbClr val="1A1F41"/>
                </a:solidFill>
                <a:latin typeface="Poppins"/>
                <a:ea typeface="Poppins"/>
                <a:cs typeface="Poppins"/>
                <a:sym typeface="Poppins"/>
              </a:rPr>
              <a:t>Server: Khởi động máy chủ, quản lý kết nối TCP, xử lý các yêu cầu từ Client, điều khiển trận đấu, đồng bộ dữ liệu và lưu lịch sử thi đấu.</a:t>
            </a:r>
          </a:p>
          <a:p>
            <a:pPr marL="539749" lvl="1" indent="-269875" algn="just">
              <a:lnSpc>
                <a:spcPts val="3499"/>
              </a:lnSpc>
              <a:spcBef>
                <a:spcPct val="0"/>
              </a:spcBef>
              <a:buFont typeface="Arial"/>
              <a:buChar char="•"/>
            </a:pPr>
            <a:r>
              <a:rPr lang="en-US" sz="2499">
                <a:solidFill>
                  <a:srgbClr val="1A1F41"/>
                </a:solidFill>
                <a:latin typeface="Poppins"/>
                <a:ea typeface="Poppins"/>
                <a:cs typeface="Poppins"/>
                <a:sym typeface="Poppins"/>
              </a:rPr>
              <a:t>Shared:Chứa các lớp dùng chung như Packet, PacketHelper, DTO và Serializer để trao đổi dữ liệu giữa Client và Server.</a:t>
            </a:r>
          </a:p>
        </p:txBody>
      </p:sp>
      <p:sp>
        <p:nvSpPr>
          <p:cNvPr id="4" name="TextBox 4"/>
          <p:cNvSpPr txBox="1"/>
          <p:nvPr/>
        </p:nvSpPr>
        <p:spPr>
          <a:xfrm>
            <a:off x="1611403" y="1495907"/>
            <a:ext cx="5778315" cy="736600"/>
          </a:xfrm>
          <a:prstGeom prst="rect">
            <a:avLst/>
          </a:prstGeom>
        </p:spPr>
        <p:txBody>
          <a:bodyPr lIns="0" tIns="0" rIns="0" bIns="0" rtlCol="0" anchor="t">
            <a:spAutoFit/>
          </a:bodyPr>
          <a:lstStyle/>
          <a:p>
            <a:pPr algn="l">
              <a:lnSpc>
                <a:spcPts val="5750"/>
              </a:lnSpc>
              <a:spcBef>
                <a:spcPct val="0"/>
              </a:spcBef>
            </a:pPr>
            <a:r>
              <a:rPr lang="en-US" sz="5000" b="1">
                <a:solidFill>
                  <a:srgbClr val="1A1F41"/>
                </a:solidFill>
                <a:latin typeface="Big Shoulders Display Bold"/>
                <a:ea typeface="Big Shoulders Display Bold"/>
                <a:cs typeface="Big Shoulders Display Bold"/>
                <a:sym typeface="Big Shoulders Display Bold"/>
              </a:rPr>
              <a:t>4.CÀI ĐẶT VÀ TRIỂN KHAI</a:t>
            </a:r>
          </a:p>
        </p:txBody>
      </p:sp>
      <p:sp>
        <p:nvSpPr>
          <p:cNvPr id="5" name="Freeform 5"/>
          <p:cNvSpPr/>
          <p:nvPr/>
        </p:nvSpPr>
        <p:spPr>
          <a:xfrm rot="1658979">
            <a:off x="-2335" y="8691283"/>
            <a:ext cx="2465303" cy="1739159"/>
          </a:xfrm>
          <a:custGeom>
            <a:avLst/>
            <a:gdLst/>
            <a:ahLst/>
            <a:cxnLst/>
            <a:rect l="l" t="t" r="r" b="b"/>
            <a:pathLst>
              <a:path w="2465303" h="1739159">
                <a:moveTo>
                  <a:pt x="0" y="0"/>
                </a:moveTo>
                <a:lnTo>
                  <a:pt x="2465303" y="0"/>
                </a:lnTo>
                <a:lnTo>
                  <a:pt x="2465303" y="1739159"/>
                </a:lnTo>
                <a:lnTo>
                  <a:pt x="0" y="173915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a:off x="8540080" y="-4549002"/>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7" name="TextBox 7"/>
          <p:cNvSpPr txBox="1"/>
          <p:nvPr/>
        </p:nvSpPr>
        <p:spPr>
          <a:xfrm>
            <a:off x="2196402" y="2378233"/>
            <a:ext cx="4092178" cy="4413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4.2 các  thành phần chính</a:t>
            </a:r>
          </a:p>
        </p:txBody>
      </p:sp>
      <p:sp>
        <p:nvSpPr>
          <p:cNvPr id="8" name="TextBox 8"/>
          <p:cNvSpPr txBox="1"/>
          <p:nvPr/>
        </p:nvSpPr>
        <p:spPr>
          <a:xfrm>
            <a:off x="9091012" y="2962433"/>
            <a:ext cx="6523456" cy="5699125"/>
          </a:xfrm>
          <a:prstGeom prst="rect">
            <a:avLst/>
          </a:prstGeom>
        </p:spPr>
        <p:txBody>
          <a:bodyPr lIns="0" tIns="0" rIns="0" bIns="0" rtlCol="0" anchor="t">
            <a:spAutoFit/>
          </a:bodyPr>
          <a:lstStyle/>
          <a:p>
            <a:pPr marL="539749" lvl="1" indent="-269875" algn="l">
              <a:lnSpc>
                <a:spcPts val="3499"/>
              </a:lnSpc>
              <a:buFont typeface="Arial"/>
              <a:buChar char="•"/>
            </a:pPr>
            <a:r>
              <a:rPr lang="en-US" sz="2499">
                <a:solidFill>
                  <a:srgbClr val="1A1F41"/>
                </a:solidFill>
                <a:latin typeface="Poppins"/>
                <a:ea typeface="Poppins"/>
                <a:cs typeface="Poppins"/>
                <a:sym typeface="Poppins"/>
              </a:rPr>
              <a:t>Game logic: Cài đặt luật chơi Caro, quản lý bàn cờ, kiểm tra điều kiện thắng, xử lý lượt chơi và hỗ trợ chế độ chơi với Bot.</a:t>
            </a:r>
          </a:p>
          <a:p>
            <a:pPr marL="539749" lvl="1" indent="-269875" algn="l">
              <a:lnSpc>
                <a:spcPts val="3499"/>
              </a:lnSpc>
              <a:buFont typeface="Arial"/>
              <a:buChar char="•"/>
            </a:pPr>
            <a:r>
              <a:rPr lang="en-US" sz="2499">
                <a:solidFill>
                  <a:srgbClr val="1A1F41"/>
                </a:solidFill>
                <a:latin typeface="Poppins"/>
                <a:ea typeface="Poppins"/>
                <a:cs typeface="Poppins"/>
                <a:sym typeface="Poppins"/>
              </a:rPr>
              <a:t>ServerManager:Khởi động Server, lắng nghe kết nối TCP, quản lý người chơi, xử lý các gói tin (Packet), điều khiển trận đấu, đồng bộ trạng thái.</a:t>
            </a:r>
          </a:p>
          <a:p>
            <a:pPr marL="539749" lvl="1" indent="-269875" algn="l">
              <a:lnSpc>
                <a:spcPts val="3499"/>
              </a:lnSpc>
              <a:buFont typeface="Arial"/>
              <a:buChar char="•"/>
            </a:pPr>
            <a:r>
              <a:rPr lang="en-US" sz="2499">
                <a:solidFill>
                  <a:srgbClr val="1A1F41"/>
                </a:solidFill>
                <a:latin typeface="Poppins"/>
                <a:ea typeface="Poppins"/>
                <a:cs typeface="Poppins"/>
                <a:sym typeface="Poppins"/>
              </a:rPr>
              <a:t>MatchmakingService:Quản lý sảnh chờ (Lobby), danh sách người chơi trực tuyến, xử lý lời mời thi đấu, phản hồi lời mời và khởi tạo trận đấu giữa hai người chơi.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a:off x="11425802" y="1918472"/>
            <a:ext cx="5909139" cy="590913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t="-156" b="-156"/>
              </a:stretch>
            </a:blipFill>
          </p:spPr>
        </p:sp>
      </p:grpSp>
      <p:sp>
        <p:nvSpPr>
          <p:cNvPr id="4" name="Freeform 4"/>
          <p:cNvSpPr/>
          <p:nvPr/>
        </p:nvSpPr>
        <p:spPr>
          <a:xfrm rot="-646234">
            <a:off x="16021315" y="-33117"/>
            <a:ext cx="3820236" cy="2695003"/>
          </a:xfrm>
          <a:custGeom>
            <a:avLst/>
            <a:gdLst/>
            <a:ahLst/>
            <a:cxnLst/>
            <a:rect l="l" t="t" r="r" b="b"/>
            <a:pathLst>
              <a:path w="3820236" h="2695003">
                <a:moveTo>
                  <a:pt x="0" y="0"/>
                </a:moveTo>
                <a:lnTo>
                  <a:pt x="3820235" y="0"/>
                </a:lnTo>
                <a:lnTo>
                  <a:pt x="3820235" y="2695003"/>
                </a:lnTo>
                <a:lnTo>
                  <a:pt x="0" y="269500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5" name="Freeform 5"/>
          <p:cNvSpPr/>
          <p:nvPr/>
        </p:nvSpPr>
        <p:spPr>
          <a:xfrm rot="1041331">
            <a:off x="-465422" y="8336050"/>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6" name="Freeform 6"/>
          <p:cNvSpPr/>
          <p:nvPr/>
        </p:nvSpPr>
        <p:spPr>
          <a:xfrm>
            <a:off x="5238715" y="-4633998"/>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7" name="Freeform 7"/>
          <p:cNvSpPr/>
          <p:nvPr/>
        </p:nvSpPr>
        <p:spPr>
          <a:xfrm>
            <a:off x="9219641" y="9342503"/>
            <a:ext cx="5578495" cy="5578495"/>
          </a:xfrm>
          <a:custGeom>
            <a:avLst/>
            <a:gdLst/>
            <a:ahLst/>
            <a:cxnLst/>
            <a:rect l="l" t="t" r="r" b="b"/>
            <a:pathLst>
              <a:path w="5578495" h="5578495">
                <a:moveTo>
                  <a:pt x="0" y="0"/>
                </a:moveTo>
                <a:lnTo>
                  <a:pt x="5578494" y="0"/>
                </a:lnTo>
                <a:lnTo>
                  <a:pt x="5578494" y="5578495"/>
                </a:lnTo>
                <a:lnTo>
                  <a:pt x="0" y="5578495"/>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8" name="TextBox 8"/>
          <p:cNvSpPr txBox="1"/>
          <p:nvPr/>
        </p:nvSpPr>
        <p:spPr>
          <a:xfrm>
            <a:off x="1794212" y="1063251"/>
            <a:ext cx="6132601" cy="736600"/>
          </a:xfrm>
          <a:prstGeom prst="rect">
            <a:avLst/>
          </a:prstGeom>
        </p:spPr>
        <p:txBody>
          <a:bodyPr lIns="0" tIns="0" rIns="0" bIns="0" rtlCol="0" anchor="t">
            <a:spAutoFit/>
          </a:bodyPr>
          <a:lstStyle/>
          <a:p>
            <a:pPr algn="l">
              <a:lnSpc>
                <a:spcPts val="5750"/>
              </a:lnSpc>
            </a:pPr>
            <a:r>
              <a:rPr lang="en-US" sz="5000" b="1">
                <a:solidFill>
                  <a:srgbClr val="1A1F41"/>
                </a:solidFill>
                <a:latin typeface="Big Shoulders Display Bold"/>
                <a:ea typeface="Big Shoulders Display Bold"/>
                <a:cs typeface="Big Shoulders Display Bold"/>
                <a:sym typeface="Big Shoulders Display Bold"/>
              </a:rPr>
              <a:t>4.CÀI ĐẶT VÀ TRIỂN KHAI</a:t>
            </a:r>
          </a:p>
        </p:txBody>
      </p:sp>
      <p:sp>
        <p:nvSpPr>
          <p:cNvPr id="9" name="TextBox 9"/>
          <p:cNvSpPr txBox="1"/>
          <p:nvPr/>
        </p:nvSpPr>
        <p:spPr>
          <a:xfrm>
            <a:off x="2127494" y="2568956"/>
            <a:ext cx="9002103" cy="5203825"/>
          </a:xfrm>
          <a:prstGeom prst="rect">
            <a:avLst/>
          </a:prstGeom>
        </p:spPr>
        <p:txBody>
          <a:bodyPr lIns="0" tIns="0" rIns="0" bIns="0" rtlCol="0" anchor="t">
            <a:spAutoFit/>
          </a:bodyPr>
          <a:lstStyle/>
          <a:p>
            <a:pPr algn="just">
              <a:lnSpc>
                <a:spcPts val="3499"/>
              </a:lnSpc>
            </a:pPr>
            <a:r>
              <a:rPr lang="en-US" sz="2499">
                <a:solidFill>
                  <a:srgbClr val="1A1F41"/>
                </a:solidFill>
                <a:latin typeface="Poppins"/>
                <a:ea typeface="Poppins"/>
                <a:cs typeface="Poppins"/>
                <a:sym typeface="Poppins"/>
              </a:rPr>
              <a:t>Thay vì duyệt toàn bộ bàn cờ, thuật toán lấy vị trí quân cờ vừa đặt làm trung tâm và đếm liên tiếp theo 4 trục:</a:t>
            </a:r>
          </a:p>
          <a:p>
            <a:pPr marL="539749" lvl="1" indent="-269875" algn="l">
              <a:lnSpc>
                <a:spcPts val="3499"/>
              </a:lnSpc>
              <a:buFont typeface="Arial"/>
              <a:buChar char="•"/>
            </a:pPr>
            <a:r>
              <a:rPr lang="en-US" sz="2499">
                <a:solidFill>
                  <a:srgbClr val="1A1F41"/>
                </a:solidFill>
                <a:latin typeface="Poppins"/>
                <a:ea typeface="Poppins"/>
                <a:cs typeface="Poppins"/>
                <a:sym typeface="Poppins"/>
              </a:rPr>
              <a:t>Trục ngang: Duyệt sang trái và sang phải</a:t>
            </a:r>
          </a:p>
          <a:p>
            <a:pPr marL="539749" lvl="1" indent="-269875" algn="l">
              <a:lnSpc>
                <a:spcPts val="3499"/>
              </a:lnSpc>
              <a:buFont typeface="Arial"/>
              <a:buChar char="•"/>
            </a:pPr>
            <a:r>
              <a:rPr lang="en-US" sz="2499">
                <a:solidFill>
                  <a:srgbClr val="1A1F41"/>
                </a:solidFill>
                <a:latin typeface="Poppins"/>
                <a:ea typeface="Poppins"/>
                <a:cs typeface="Poppins"/>
                <a:sym typeface="Poppins"/>
              </a:rPr>
              <a:t>Trục Dọc: Duyệt từ trên và xuống dưới từ tâm</a:t>
            </a:r>
          </a:p>
          <a:p>
            <a:pPr marL="539749" lvl="1" indent="-269875" algn="l">
              <a:lnSpc>
                <a:spcPts val="3499"/>
              </a:lnSpc>
              <a:buFont typeface="Arial"/>
              <a:buChar char="•"/>
            </a:pPr>
            <a:r>
              <a:rPr lang="en-US" sz="2499">
                <a:solidFill>
                  <a:srgbClr val="1A1F41"/>
                </a:solidFill>
                <a:latin typeface="Poppins"/>
                <a:ea typeface="Poppins"/>
                <a:cs typeface="Poppins"/>
                <a:sym typeface="Poppins"/>
              </a:rPr>
              <a:t>Chéo chính: Từ góc trên-trái xuống góc dưới-phải.</a:t>
            </a:r>
          </a:p>
          <a:p>
            <a:pPr marL="539749" lvl="1" indent="-269875" algn="l">
              <a:lnSpc>
                <a:spcPts val="3499"/>
              </a:lnSpc>
              <a:buFont typeface="Arial"/>
              <a:buChar char="•"/>
            </a:pPr>
            <a:r>
              <a:rPr lang="en-US" sz="2499">
                <a:solidFill>
                  <a:srgbClr val="1A1F41"/>
                </a:solidFill>
                <a:latin typeface="Poppins"/>
                <a:ea typeface="Poppins"/>
                <a:cs typeface="Poppins"/>
                <a:sym typeface="Poppins"/>
              </a:rPr>
              <a:t>Chéo phụ: Từgóc dưới-trái lên góc trên-phải.</a:t>
            </a:r>
          </a:p>
          <a:p>
            <a:pPr algn="l">
              <a:lnSpc>
                <a:spcPts val="3499"/>
              </a:lnSpc>
            </a:pPr>
            <a:endParaRPr lang="en-US" sz="2499">
              <a:solidFill>
                <a:srgbClr val="1A1F41"/>
              </a:solidFill>
              <a:latin typeface="Poppins"/>
              <a:ea typeface="Poppins"/>
              <a:cs typeface="Poppins"/>
              <a:sym typeface="Poppins"/>
            </a:endParaRPr>
          </a:p>
          <a:p>
            <a:pPr algn="l">
              <a:lnSpc>
                <a:spcPts val="3359"/>
              </a:lnSpc>
            </a:pPr>
            <a:r>
              <a:rPr lang="en-US" sz="2400">
                <a:solidFill>
                  <a:srgbClr val="1A1F41"/>
                </a:solidFill>
                <a:latin typeface="Poppins"/>
                <a:ea typeface="Poppins"/>
                <a:cs typeface="Poppins"/>
                <a:sym typeface="Poppins"/>
              </a:rPr>
              <a:t>Mỗi hướng dừng khi gặp: </a:t>
            </a:r>
            <a:r>
              <a:rPr lang="en-US" sz="2400" b="1">
                <a:solidFill>
                  <a:srgbClr val="1A1F41"/>
                </a:solidFill>
                <a:latin typeface="Poppins Bold"/>
                <a:ea typeface="Poppins Bold"/>
                <a:cs typeface="Poppins Bold"/>
                <a:sym typeface="Poppins Bold"/>
              </a:rPr>
              <a:t>mép bàn cờ || ô trống || quân cờ đối phương</a:t>
            </a:r>
            <a:r>
              <a:rPr lang="en-US" sz="2400">
                <a:solidFill>
                  <a:srgbClr val="1A1F41"/>
                </a:solidFill>
                <a:latin typeface="Poppins"/>
                <a:ea typeface="Poppins"/>
                <a:cs typeface="Poppins"/>
                <a:sym typeface="Poppins"/>
              </a:rPr>
              <a:t>. Nếu tổng hai chiều của</a:t>
            </a:r>
            <a:r>
              <a:rPr lang="en-US" sz="2400" b="1">
                <a:solidFill>
                  <a:srgbClr val="1A1F41"/>
                </a:solidFill>
                <a:latin typeface="Poppins Bold"/>
                <a:ea typeface="Poppins Bold"/>
                <a:cs typeface="Poppins Bold"/>
                <a:sym typeface="Poppins Bold"/>
              </a:rPr>
              <a:t> </a:t>
            </a:r>
            <a:r>
              <a:rPr lang="en-US" sz="2400">
                <a:solidFill>
                  <a:srgbClr val="1A1F41"/>
                </a:solidFill>
                <a:latin typeface="Poppins"/>
                <a:ea typeface="Poppins"/>
                <a:cs typeface="Poppins"/>
                <a:sym typeface="Poppins"/>
              </a:rPr>
              <a:t>một trục</a:t>
            </a:r>
            <a:r>
              <a:rPr lang="en-US" sz="2400" b="1">
                <a:solidFill>
                  <a:srgbClr val="1A1F41"/>
                </a:solidFill>
                <a:latin typeface="Poppins Bold"/>
                <a:ea typeface="Poppins Bold"/>
                <a:cs typeface="Poppins Bold"/>
                <a:sym typeface="Poppins Bold"/>
              </a:rPr>
              <a:t> ≥ 5</a:t>
            </a:r>
            <a:r>
              <a:rPr lang="en-US" sz="2400">
                <a:solidFill>
                  <a:srgbClr val="1A1F41"/>
                </a:solidFill>
                <a:latin typeface="Poppins"/>
                <a:ea typeface="Poppins"/>
                <a:cs typeface="Poppins"/>
                <a:sym typeface="Poppins"/>
              </a:rPr>
              <a:t>, trò chơi </a:t>
            </a:r>
            <a:r>
              <a:rPr lang="en-US" sz="2400" b="1">
                <a:solidFill>
                  <a:srgbClr val="1A1F41"/>
                </a:solidFill>
                <a:latin typeface="Poppins Bold"/>
                <a:ea typeface="Poppins Bold"/>
                <a:cs typeface="Poppins Bold"/>
                <a:sym typeface="Poppins Bold"/>
              </a:rPr>
              <a:t>kết thúc ngay lập tức</a:t>
            </a:r>
            <a:r>
              <a:rPr lang="en-US" sz="2400">
                <a:solidFill>
                  <a:srgbClr val="1A1F41"/>
                </a:solidFill>
                <a:latin typeface="Poppins"/>
                <a:ea typeface="Poppins"/>
                <a:cs typeface="Poppins"/>
                <a:sym typeface="Poppins"/>
              </a:rPr>
              <a:t>.</a:t>
            </a:r>
          </a:p>
          <a:p>
            <a:pPr algn="l">
              <a:lnSpc>
                <a:spcPts val="3499"/>
              </a:lnSpc>
            </a:pPr>
            <a:endParaRPr lang="en-US" sz="2400">
              <a:solidFill>
                <a:srgbClr val="1A1F41"/>
              </a:solidFill>
              <a:latin typeface="Poppins"/>
              <a:ea typeface="Poppins"/>
              <a:cs typeface="Poppins"/>
              <a:sym typeface="Poppins"/>
            </a:endParaRPr>
          </a:p>
          <a:p>
            <a:pPr algn="l">
              <a:lnSpc>
                <a:spcPts val="3499"/>
              </a:lnSpc>
            </a:pPr>
            <a:endParaRPr lang="en-US" sz="2400">
              <a:solidFill>
                <a:srgbClr val="1A1F41"/>
              </a:solidFill>
              <a:latin typeface="Poppins"/>
              <a:ea typeface="Poppins"/>
              <a:cs typeface="Poppins"/>
              <a:sym typeface="Poppins"/>
            </a:endParaRPr>
          </a:p>
        </p:txBody>
      </p:sp>
      <p:sp>
        <p:nvSpPr>
          <p:cNvPr id="10" name="TextBox 10"/>
          <p:cNvSpPr txBox="1"/>
          <p:nvPr/>
        </p:nvSpPr>
        <p:spPr>
          <a:xfrm>
            <a:off x="2127494" y="1809376"/>
            <a:ext cx="4367212" cy="537276"/>
          </a:xfrm>
          <a:prstGeom prst="rect">
            <a:avLst/>
          </a:prstGeom>
        </p:spPr>
        <p:txBody>
          <a:bodyPr lIns="0" tIns="0" rIns="0" bIns="0" rtlCol="0" anchor="t">
            <a:spAutoFit/>
          </a:bodyPr>
          <a:lstStyle/>
          <a:p>
            <a:pPr algn="ctr">
              <a:lnSpc>
                <a:spcPts val="4152"/>
              </a:lnSpc>
              <a:spcBef>
                <a:spcPct val="0"/>
              </a:spcBef>
            </a:pPr>
            <a:r>
              <a:rPr lang="en-US" sz="3610">
                <a:solidFill>
                  <a:srgbClr val="1A1F41"/>
                </a:solidFill>
                <a:latin typeface="Big Shoulders Display"/>
                <a:ea typeface="Big Shoulders Display"/>
                <a:cs typeface="Big Shoulders Display"/>
                <a:sym typeface="Big Shoulders Display"/>
              </a:rPr>
              <a:t>Thuật toán kiểm tra thắng thua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2" name="Group 2"/>
          <p:cNvGrpSpPr/>
          <p:nvPr/>
        </p:nvGrpSpPr>
        <p:grpSpPr>
          <a:xfrm>
            <a:off x="11425802" y="1918472"/>
            <a:ext cx="5909139" cy="590913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t="-156" b="-156"/>
              </a:stretch>
            </a:blipFill>
          </p:spPr>
        </p:sp>
      </p:grpSp>
      <p:sp>
        <p:nvSpPr>
          <p:cNvPr id="4" name="Freeform 4"/>
          <p:cNvSpPr/>
          <p:nvPr/>
        </p:nvSpPr>
        <p:spPr>
          <a:xfrm rot="-646234">
            <a:off x="16021315" y="-33117"/>
            <a:ext cx="3820236" cy="2695003"/>
          </a:xfrm>
          <a:custGeom>
            <a:avLst/>
            <a:gdLst/>
            <a:ahLst/>
            <a:cxnLst/>
            <a:rect l="l" t="t" r="r" b="b"/>
            <a:pathLst>
              <a:path w="3820236" h="2695003">
                <a:moveTo>
                  <a:pt x="0" y="0"/>
                </a:moveTo>
                <a:lnTo>
                  <a:pt x="3820235" y="0"/>
                </a:lnTo>
                <a:lnTo>
                  <a:pt x="3820235" y="2695003"/>
                </a:lnTo>
                <a:lnTo>
                  <a:pt x="0" y="269500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5" name="Freeform 5"/>
          <p:cNvSpPr/>
          <p:nvPr/>
        </p:nvSpPr>
        <p:spPr>
          <a:xfrm rot="1041331">
            <a:off x="-465422" y="8336050"/>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6" name="Freeform 6"/>
          <p:cNvSpPr/>
          <p:nvPr/>
        </p:nvSpPr>
        <p:spPr>
          <a:xfrm>
            <a:off x="5238715" y="-4633998"/>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7" name="Freeform 7"/>
          <p:cNvSpPr/>
          <p:nvPr/>
        </p:nvSpPr>
        <p:spPr>
          <a:xfrm>
            <a:off x="9219641" y="9342503"/>
            <a:ext cx="5578495" cy="5578495"/>
          </a:xfrm>
          <a:custGeom>
            <a:avLst/>
            <a:gdLst/>
            <a:ahLst/>
            <a:cxnLst/>
            <a:rect l="l" t="t" r="r" b="b"/>
            <a:pathLst>
              <a:path w="5578495" h="5578495">
                <a:moveTo>
                  <a:pt x="0" y="0"/>
                </a:moveTo>
                <a:lnTo>
                  <a:pt x="5578494" y="0"/>
                </a:lnTo>
                <a:lnTo>
                  <a:pt x="5578494" y="5578495"/>
                </a:lnTo>
                <a:lnTo>
                  <a:pt x="0" y="5578495"/>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8" name="TextBox 8"/>
          <p:cNvSpPr txBox="1"/>
          <p:nvPr/>
        </p:nvSpPr>
        <p:spPr>
          <a:xfrm>
            <a:off x="1794212" y="1063251"/>
            <a:ext cx="6132601" cy="736600"/>
          </a:xfrm>
          <a:prstGeom prst="rect">
            <a:avLst/>
          </a:prstGeom>
        </p:spPr>
        <p:txBody>
          <a:bodyPr lIns="0" tIns="0" rIns="0" bIns="0" rtlCol="0" anchor="t">
            <a:spAutoFit/>
          </a:bodyPr>
          <a:lstStyle/>
          <a:p>
            <a:pPr algn="l">
              <a:lnSpc>
                <a:spcPts val="5750"/>
              </a:lnSpc>
            </a:pPr>
            <a:r>
              <a:rPr lang="en-US" sz="5000" b="1">
                <a:solidFill>
                  <a:srgbClr val="1A1F41"/>
                </a:solidFill>
                <a:latin typeface="Big Shoulders Display Bold"/>
                <a:ea typeface="Big Shoulders Display Bold"/>
                <a:cs typeface="Big Shoulders Display Bold"/>
                <a:sym typeface="Big Shoulders Display Bold"/>
              </a:rPr>
              <a:t>4.CÀI ĐẶT VÀ TRIỂN KHAI</a:t>
            </a:r>
          </a:p>
        </p:txBody>
      </p:sp>
      <p:sp>
        <p:nvSpPr>
          <p:cNvPr id="9" name="TextBox 9"/>
          <p:cNvSpPr txBox="1"/>
          <p:nvPr/>
        </p:nvSpPr>
        <p:spPr>
          <a:xfrm>
            <a:off x="2127494" y="2568956"/>
            <a:ext cx="9002103" cy="6575425"/>
          </a:xfrm>
          <a:prstGeom prst="rect">
            <a:avLst/>
          </a:prstGeom>
        </p:spPr>
        <p:txBody>
          <a:bodyPr lIns="0" tIns="0" rIns="0" bIns="0" rtlCol="0" anchor="t">
            <a:spAutoFit/>
          </a:bodyPr>
          <a:lstStyle/>
          <a:p>
            <a:pPr algn="just">
              <a:lnSpc>
                <a:spcPts val="3499"/>
              </a:lnSpc>
            </a:pPr>
            <a:r>
              <a:rPr lang="en-US" sz="2499">
                <a:solidFill>
                  <a:srgbClr val="1A1F41"/>
                </a:solidFill>
                <a:latin typeface="Poppins"/>
                <a:ea typeface="Poppins"/>
                <a:cs typeface="Poppins"/>
                <a:sym typeface="Poppins"/>
              </a:rPr>
              <a:t>Đối với chế độ chơi với Bot, sau khi người chơi hoàn thành lượt đánh, Server sẽ gọi lớp GameService để tính toán nước đi tiếp theo. Thuật toán được lựa chọn phụ thuộc vào mức độ khó mà người chơi đã chọn.</a:t>
            </a:r>
          </a:p>
          <a:p>
            <a:pPr marL="539749" lvl="1" indent="-269875" algn="l">
              <a:lnSpc>
                <a:spcPts val="3499"/>
              </a:lnSpc>
              <a:buFont typeface="Arial"/>
              <a:buChar char="•"/>
            </a:pPr>
            <a:r>
              <a:rPr lang="en-US" sz="2499">
                <a:solidFill>
                  <a:srgbClr val="1A1F41"/>
                </a:solidFill>
                <a:latin typeface="Poppins"/>
                <a:ea typeface="Poppins"/>
                <a:cs typeface="Poppins"/>
                <a:sym typeface="Poppins"/>
              </a:rPr>
              <a:t>mức Easy: Bot chọn ngẫu nhiên một ô trống nằm gần các quân cờ đã có trên bàn</a:t>
            </a:r>
          </a:p>
          <a:p>
            <a:pPr marL="539749" lvl="1" indent="-269875" algn="l">
              <a:lnSpc>
                <a:spcPts val="3499"/>
              </a:lnSpc>
              <a:buFont typeface="Arial"/>
              <a:buChar char="•"/>
            </a:pPr>
            <a:r>
              <a:rPr lang="en-US" sz="2499">
                <a:solidFill>
                  <a:srgbClr val="1A1F41"/>
                </a:solidFill>
                <a:latin typeface="Poppins"/>
                <a:ea typeface="Poppins"/>
                <a:cs typeface="Poppins"/>
                <a:sym typeface="Poppins"/>
              </a:rPr>
              <a:t>Ở mức Medium: Bot đánh giá các vị trí dựa trên khả năng tấn công và phòng thủ trước khi lựa chọn nước đi. </a:t>
            </a:r>
          </a:p>
          <a:p>
            <a:pPr marL="539749" lvl="1" indent="-269875" algn="l">
              <a:lnSpc>
                <a:spcPts val="3499"/>
              </a:lnSpc>
              <a:buFont typeface="Arial"/>
              <a:buChar char="•"/>
            </a:pPr>
            <a:r>
              <a:rPr lang="en-US" sz="2499">
                <a:solidFill>
                  <a:srgbClr val="1A1F41"/>
                </a:solidFill>
                <a:latin typeface="Poppins"/>
                <a:ea typeface="Poppins"/>
                <a:cs typeface="Poppins"/>
                <a:sym typeface="Poppins"/>
              </a:rPr>
              <a:t>Ở mức Hard: Bot sẽ "suy nghĩ trước" nhiều nước đi, tự đặt mình vào vị trí của cả hai người chơi để tìm ra nước đi tốt nhất. Bot luôn ưu tiên đánh thẳng vào nước thắng nếu có cơ hội, hoặc lập tức chặn lại khi đối thủ sắp thắng. </a:t>
            </a:r>
          </a:p>
          <a:p>
            <a:pPr algn="l">
              <a:lnSpc>
                <a:spcPts val="3499"/>
              </a:lnSpc>
            </a:pPr>
            <a:endParaRPr lang="en-US" sz="2499">
              <a:solidFill>
                <a:srgbClr val="1A1F41"/>
              </a:solidFill>
              <a:latin typeface="Poppins"/>
              <a:ea typeface="Poppins"/>
              <a:cs typeface="Poppins"/>
              <a:sym typeface="Poppins"/>
            </a:endParaRPr>
          </a:p>
        </p:txBody>
      </p:sp>
      <p:sp>
        <p:nvSpPr>
          <p:cNvPr id="10" name="TextBox 10"/>
          <p:cNvSpPr txBox="1"/>
          <p:nvPr/>
        </p:nvSpPr>
        <p:spPr>
          <a:xfrm>
            <a:off x="2636828" y="1809376"/>
            <a:ext cx="4297372" cy="1077218"/>
          </a:xfrm>
          <a:prstGeom prst="rect">
            <a:avLst/>
          </a:prstGeom>
        </p:spPr>
        <p:txBody>
          <a:bodyPr wrap="square" lIns="0" tIns="0" rIns="0" bIns="0" rtlCol="0" anchor="t">
            <a:spAutoFit/>
          </a:bodyPr>
          <a:lstStyle/>
          <a:p>
            <a:pPr algn="ctr">
              <a:lnSpc>
                <a:spcPts val="4152"/>
              </a:lnSpc>
            </a:pPr>
            <a:r>
              <a:rPr lang="en-US" sz="3610" dirty="0" err="1">
                <a:solidFill>
                  <a:srgbClr val="1A1F41"/>
                </a:solidFill>
                <a:latin typeface="Big Shoulders Display"/>
                <a:ea typeface="Big Shoulders Display"/>
                <a:cs typeface="Big Shoulders Display"/>
                <a:sym typeface="Big Shoulders Display"/>
              </a:rPr>
              <a:t>Xử</a:t>
            </a:r>
            <a:r>
              <a:rPr lang="en-US" sz="3610" dirty="0">
                <a:solidFill>
                  <a:srgbClr val="1A1F41"/>
                </a:solidFill>
                <a:latin typeface="Big Shoulders Display"/>
                <a:ea typeface="Big Shoulders Display"/>
                <a:cs typeface="Big Shoulders Display"/>
                <a:sym typeface="Big Shoulders Display"/>
              </a:rPr>
              <a:t> </a:t>
            </a:r>
            <a:r>
              <a:rPr lang="en-US" sz="3610" dirty="0" err="1">
                <a:solidFill>
                  <a:srgbClr val="1A1F41"/>
                </a:solidFill>
                <a:latin typeface="Big Shoulders Display"/>
                <a:ea typeface="Big Shoulders Display"/>
                <a:cs typeface="Big Shoulders Display"/>
                <a:sym typeface="Big Shoulders Display"/>
              </a:rPr>
              <a:t>lý</a:t>
            </a:r>
            <a:r>
              <a:rPr lang="en-US" sz="3610" dirty="0">
                <a:solidFill>
                  <a:srgbClr val="1A1F41"/>
                </a:solidFill>
                <a:latin typeface="Big Shoulders Display"/>
                <a:ea typeface="Big Shoulders Display"/>
                <a:cs typeface="Big Shoulders Display"/>
                <a:sym typeface="Big Shoulders Display"/>
              </a:rPr>
              <a:t> </a:t>
            </a:r>
            <a:r>
              <a:rPr lang="en-US" sz="3610" dirty="0" err="1">
                <a:solidFill>
                  <a:srgbClr val="1A1F41"/>
                </a:solidFill>
                <a:latin typeface="Big Shoulders Display"/>
                <a:ea typeface="Big Shoulders Display"/>
                <a:cs typeface="Big Shoulders Display"/>
                <a:sym typeface="Big Shoulders Display"/>
              </a:rPr>
              <a:t>chế</a:t>
            </a:r>
            <a:r>
              <a:rPr lang="en-US" sz="3610" dirty="0">
                <a:solidFill>
                  <a:srgbClr val="1A1F41"/>
                </a:solidFill>
                <a:latin typeface="Big Shoulders Display"/>
                <a:ea typeface="Big Shoulders Display"/>
                <a:cs typeface="Big Shoulders Display"/>
                <a:sym typeface="Big Shoulders Display"/>
              </a:rPr>
              <a:t> </a:t>
            </a:r>
            <a:r>
              <a:rPr lang="en-US" sz="3610" dirty="0" err="1">
                <a:solidFill>
                  <a:srgbClr val="1A1F41"/>
                </a:solidFill>
                <a:latin typeface="Big Shoulders Display"/>
                <a:ea typeface="Big Shoulders Display"/>
                <a:cs typeface="Big Shoulders Display"/>
                <a:sym typeface="Big Shoulders Display"/>
              </a:rPr>
              <a:t>độ</a:t>
            </a:r>
            <a:r>
              <a:rPr lang="en-US" sz="3610" dirty="0">
                <a:solidFill>
                  <a:srgbClr val="1A1F41"/>
                </a:solidFill>
                <a:latin typeface="Big Shoulders Display"/>
                <a:ea typeface="Big Shoulders Display"/>
                <a:cs typeface="Big Shoulders Display"/>
                <a:sym typeface="Big Shoulders Display"/>
              </a:rPr>
              <a:t> </a:t>
            </a:r>
            <a:r>
              <a:rPr lang="en-US" sz="3610" dirty="0" err="1">
                <a:solidFill>
                  <a:srgbClr val="1A1F41"/>
                </a:solidFill>
                <a:latin typeface="Big Shoulders Display"/>
                <a:ea typeface="Big Shoulders Display"/>
                <a:cs typeface="Big Shoulders Display"/>
                <a:sym typeface="Big Shoulders Display"/>
              </a:rPr>
              <a:t>chơi</a:t>
            </a:r>
            <a:r>
              <a:rPr lang="en-US" sz="3610" dirty="0">
                <a:solidFill>
                  <a:srgbClr val="1A1F41"/>
                </a:solidFill>
                <a:latin typeface="Big Shoulders Display"/>
                <a:ea typeface="Big Shoulders Display"/>
                <a:cs typeface="Big Shoulders Display"/>
                <a:sym typeface="Big Shoulders Display"/>
              </a:rPr>
              <a:t> </a:t>
            </a:r>
            <a:r>
              <a:rPr lang="en-US" sz="3610" dirty="0" err="1">
                <a:solidFill>
                  <a:srgbClr val="1A1F41"/>
                </a:solidFill>
                <a:latin typeface="Big Shoulders Display"/>
                <a:ea typeface="Big Shoulders Display"/>
                <a:cs typeface="Big Shoulders Display"/>
                <a:sym typeface="Big Shoulders Display"/>
              </a:rPr>
              <a:t>với</a:t>
            </a:r>
            <a:r>
              <a:rPr lang="en-US" sz="3610" dirty="0">
                <a:solidFill>
                  <a:srgbClr val="1A1F41"/>
                </a:solidFill>
                <a:latin typeface="Big Shoulders Display"/>
                <a:ea typeface="Big Shoulders Display"/>
                <a:cs typeface="Big Shoulders Display"/>
                <a:sym typeface="Big Shoulders Display"/>
              </a:rPr>
              <a:t> Bot</a:t>
            </a:r>
          </a:p>
          <a:p>
            <a:pPr algn="ctr">
              <a:lnSpc>
                <a:spcPts val="4152"/>
              </a:lnSpc>
              <a:spcBef>
                <a:spcPct val="0"/>
              </a:spcBef>
            </a:pPr>
            <a:endParaRPr lang="en-US" sz="3610" dirty="0">
              <a:solidFill>
                <a:srgbClr val="1A1F41"/>
              </a:solidFill>
              <a:latin typeface="Big Shoulders Display"/>
              <a:ea typeface="Big Shoulders Display"/>
              <a:cs typeface="Big Shoulders Display"/>
              <a:sym typeface="Big Shoulders Display"/>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646234">
            <a:off x="14757720" y="8087970"/>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041331">
            <a:off x="-1056878" y="5259749"/>
            <a:ext cx="2710700" cy="1912276"/>
          </a:xfrm>
          <a:custGeom>
            <a:avLst/>
            <a:gdLst/>
            <a:ahLst/>
            <a:cxnLst/>
            <a:rect l="l" t="t" r="r" b="b"/>
            <a:pathLst>
              <a:path w="2710700" h="1912276">
                <a:moveTo>
                  <a:pt x="0" y="0"/>
                </a:moveTo>
                <a:lnTo>
                  <a:pt x="2710700" y="0"/>
                </a:lnTo>
                <a:lnTo>
                  <a:pt x="2710700" y="1912276"/>
                </a:lnTo>
                <a:lnTo>
                  <a:pt x="0" y="191227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722059" y="9070975"/>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14750624" y="1028700"/>
            <a:ext cx="2958261" cy="2856066"/>
          </a:xfrm>
          <a:custGeom>
            <a:avLst/>
            <a:gdLst/>
            <a:ahLst/>
            <a:cxnLst/>
            <a:rect l="l" t="t" r="r" b="b"/>
            <a:pathLst>
              <a:path w="2958261" h="2856066">
                <a:moveTo>
                  <a:pt x="0" y="0"/>
                </a:moveTo>
                <a:lnTo>
                  <a:pt x="2958261" y="0"/>
                </a:lnTo>
                <a:lnTo>
                  <a:pt x="2958261" y="2856066"/>
                </a:lnTo>
                <a:lnTo>
                  <a:pt x="0" y="2856066"/>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TextBox 6"/>
          <p:cNvSpPr txBox="1"/>
          <p:nvPr/>
        </p:nvSpPr>
        <p:spPr>
          <a:xfrm>
            <a:off x="-333641" y="669925"/>
            <a:ext cx="6925046" cy="736600"/>
          </a:xfrm>
          <a:prstGeom prst="rect">
            <a:avLst/>
          </a:prstGeom>
        </p:spPr>
        <p:txBody>
          <a:bodyPr lIns="0" tIns="0" rIns="0" bIns="0" rtlCol="0" anchor="t">
            <a:spAutoFit/>
          </a:bodyPr>
          <a:lstStyle/>
          <a:p>
            <a:pPr marL="0" lvl="0" indent="0" algn="ctr">
              <a:lnSpc>
                <a:spcPts val="5750"/>
              </a:lnSpc>
              <a:spcBef>
                <a:spcPct val="0"/>
              </a:spcBef>
            </a:pPr>
            <a:r>
              <a:rPr lang="en-US" sz="5000" b="1">
                <a:solidFill>
                  <a:srgbClr val="1A1F41"/>
                </a:solidFill>
                <a:latin typeface="Big Shoulders Display Bold"/>
                <a:ea typeface="Big Shoulders Display Bold"/>
                <a:cs typeface="Big Shoulders Display Bold"/>
                <a:sym typeface="Big Shoulders Display Bold"/>
              </a:rPr>
              <a:t>5.TESTING</a:t>
            </a:r>
          </a:p>
        </p:txBody>
      </p:sp>
      <p:sp>
        <p:nvSpPr>
          <p:cNvPr id="7" name="TextBox 7"/>
          <p:cNvSpPr txBox="1"/>
          <p:nvPr/>
        </p:nvSpPr>
        <p:spPr>
          <a:xfrm>
            <a:off x="2139249" y="2471916"/>
            <a:ext cx="9942557" cy="2193925"/>
          </a:xfrm>
          <a:prstGeom prst="rect">
            <a:avLst/>
          </a:prstGeom>
        </p:spPr>
        <p:txBody>
          <a:bodyPr lIns="0" tIns="0" rIns="0" bIns="0" rtlCol="0" anchor="t">
            <a:spAutoFit/>
          </a:bodyPr>
          <a:lstStyle/>
          <a:p>
            <a:pPr algn="ctr">
              <a:lnSpc>
                <a:spcPts val="3499"/>
              </a:lnSpc>
              <a:spcBef>
                <a:spcPct val="0"/>
              </a:spcBef>
            </a:pPr>
            <a:r>
              <a:rPr lang="en-US" sz="2499" dirty="0" err="1">
                <a:solidFill>
                  <a:srgbClr val="1A1F41"/>
                </a:solidFill>
                <a:latin typeface="Poppins"/>
                <a:ea typeface="Poppins"/>
                <a:cs typeface="Poppins"/>
                <a:sym typeface="Poppins"/>
              </a:rPr>
              <a:t>Quá</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trình</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kiểm</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thử</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được</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thực</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hiện</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theo</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phương</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pháp</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kiểm</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thử</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hộp</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đen</a:t>
            </a:r>
            <a:r>
              <a:rPr lang="en-US" sz="2499" dirty="0">
                <a:solidFill>
                  <a:srgbClr val="1A1F41"/>
                </a:solidFill>
                <a:latin typeface="Poppins"/>
                <a:ea typeface="Poppins"/>
                <a:cs typeface="Poppins"/>
                <a:sym typeface="Poppins"/>
              </a:rPr>
              <a:t> (Black-box Testing) — </a:t>
            </a:r>
            <a:r>
              <a:rPr lang="en-US" sz="2499" dirty="0" err="1">
                <a:solidFill>
                  <a:srgbClr val="1A1F41"/>
                </a:solidFill>
                <a:latin typeface="Poppins"/>
                <a:ea typeface="Poppins"/>
                <a:cs typeface="Poppins"/>
                <a:sym typeface="Poppins"/>
              </a:rPr>
              <a:t>chỉ</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dựa</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trên</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đầu</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vào</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và</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kết</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quả</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đầu</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ra</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quan</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sát</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được</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không</a:t>
            </a:r>
            <a:r>
              <a:rPr lang="en-US" sz="2499" dirty="0">
                <a:solidFill>
                  <a:srgbClr val="1A1F41"/>
                </a:solidFill>
                <a:latin typeface="Poppins"/>
                <a:ea typeface="Poppins"/>
                <a:cs typeface="Poppins"/>
                <a:sym typeface="Poppins"/>
              </a:rPr>
              <a:t> can </a:t>
            </a:r>
            <a:r>
              <a:rPr lang="en-US" sz="2499" dirty="0" err="1">
                <a:solidFill>
                  <a:srgbClr val="1A1F41"/>
                </a:solidFill>
                <a:latin typeface="Poppins"/>
                <a:ea typeface="Poppins"/>
                <a:cs typeface="Poppins"/>
                <a:sym typeface="Poppins"/>
              </a:rPr>
              <a:t>thiệp</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vào</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cấu</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trúc</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nội</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bộ</a:t>
            </a:r>
            <a:r>
              <a:rPr lang="en-US" sz="2499" dirty="0">
                <a:solidFill>
                  <a:srgbClr val="1A1F41"/>
                </a:solidFill>
                <a:latin typeface="Poppins"/>
                <a:ea typeface="Poppins"/>
                <a:cs typeface="Poppins"/>
                <a:sym typeface="Poppins"/>
              </a:rPr>
              <a:t> </a:t>
            </a:r>
            <a:r>
              <a:rPr lang="en-US" sz="2499" dirty="0" err="1">
                <a:solidFill>
                  <a:srgbClr val="1A1F41"/>
                </a:solidFill>
                <a:latin typeface="Poppins"/>
                <a:ea typeface="Poppins"/>
                <a:cs typeface="Poppins"/>
                <a:sym typeface="Poppins"/>
              </a:rPr>
              <a:t>của</a:t>
            </a:r>
            <a:r>
              <a:rPr lang="en-US" sz="2499" dirty="0">
                <a:solidFill>
                  <a:srgbClr val="1A1F41"/>
                </a:solidFill>
                <a:latin typeface="Poppins"/>
                <a:ea typeface="Poppins"/>
                <a:cs typeface="Poppins"/>
                <a:sym typeface="Poppins"/>
              </a:rPr>
              <a:t> code.</a:t>
            </a:r>
          </a:p>
          <a:p>
            <a:pPr algn="ctr">
              <a:lnSpc>
                <a:spcPts val="3499"/>
              </a:lnSpc>
              <a:spcBef>
                <a:spcPct val="0"/>
              </a:spcBef>
            </a:pPr>
            <a:endParaRPr lang="en-US" sz="2499" dirty="0">
              <a:solidFill>
                <a:srgbClr val="1A1F41"/>
              </a:solidFill>
              <a:latin typeface="Poppins"/>
              <a:ea typeface="Poppins"/>
              <a:cs typeface="Poppins"/>
              <a:sym typeface="Poppins"/>
            </a:endParaRPr>
          </a:p>
        </p:txBody>
      </p:sp>
      <p:sp>
        <p:nvSpPr>
          <p:cNvPr id="8" name="TextBox 8"/>
          <p:cNvSpPr txBox="1"/>
          <p:nvPr/>
        </p:nvSpPr>
        <p:spPr>
          <a:xfrm>
            <a:off x="2139248" y="1523468"/>
            <a:ext cx="4794951" cy="736600"/>
          </a:xfrm>
          <a:prstGeom prst="rect">
            <a:avLst/>
          </a:prstGeom>
        </p:spPr>
        <p:txBody>
          <a:bodyPr wrap="square" lIns="0" tIns="0" rIns="0" bIns="0" rtlCol="0" anchor="t">
            <a:spAutoFit/>
          </a:bodyPr>
          <a:lstStyle/>
          <a:p>
            <a:pPr algn="ctr">
              <a:lnSpc>
                <a:spcPts val="5750"/>
              </a:lnSpc>
              <a:spcBef>
                <a:spcPct val="0"/>
              </a:spcBef>
            </a:pPr>
            <a:r>
              <a:rPr lang="en-US" sz="5000" dirty="0">
                <a:solidFill>
                  <a:srgbClr val="1A1F41"/>
                </a:solidFill>
                <a:latin typeface="Big Shoulders Display"/>
                <a:ea typeface="Big Shoulders Display"/>
                <a:cs typeface="Big Shoulders Display"/>
                <a:sym typeface="Big Shoulders Display"/>
              </a:rPr>
              <a:t>5.1 </a:t>
            </a:r>
            <a:r>
              <a:rPr lang="en-US" sz="5000" dirty="0" err="1">
                <a:solidFill>
                  <a:srgbClr val="1A1F41"/>
                </a:solidFill>
                <a:latin typeface="Big Shoulders Display"/>
                <a:ea typeface="Big Shoulders Display"/>
                <a:cs typeface="Big Shoulders Display"/>
                <a:sym typeface="Big Shoulders Display"/>
              </a:rPr>
              <a:t>Mục</a:t>
            </a:r>
            <a:r>
              <a:rPr lang="en-US" sz="5000" dirty="0">
                <a:solidFill>
                  <a:srgbClr val="1A1F41"/>
                </a:solidFill>
                <a:latin typeface="Big Shoulders Display"/>
                <a:ea typeface="Big Shoulders Display"/>
                <a:cs typeface="Big Shoulders Display"/>
                <a:sym typeface="Big Shoulders Display"/>
              </a:rPr>
              <a:t> </a:t>
            </a:r>
            <a:r>
              <a:rPr lang="en-US" sz="5000" dirty="0" err="1">
                <a:solidFill>
                  <a:srgbClr val="1A1F41"/>
                </a:solidFill>
                <a:latin typeface="Big Shoulders Display"/>
                <a:ea typeface="Big Shoulders Display"/>
                <a:cs typeface="Big Shoulders Display"/>
                <a:sym typeface="Big Shoulders Display"/>
              </a:rPr>
              <a:t>tiêu</a:t>
            </a:r>
            <a:r>
              <a:rPr lang="en-US" sz="5000" dirty="0">
                <a:solidFill>
                  <a:srgbClr val="1A1F41"/>
                </a:solidFill>
                <a:latin typeface="Big Shoulders Display"/>
                <a:ea typeface="Big Shoulders Display"/>
                <a:cs typeface="Big Shoulders Display"/>
                <a:sym typeface="Big Shoulders Display"/>
              </a:rPr>
              <a:t> </a:t>
            </a:r>
            <a:r>
              <a:rPr lang="en-US" sz="5000" dirty="0" err="1">
                <a:solidFill>
                  <a:srgbClr val="1A1F41"/>
                </a:solidFill>
                <a:latin typeface="Big Shoulders Display"/>
                <a:ea typeface="Big Shoulders Display"/>
                <a:cs typeface="Big Shoulders Display"/>
                <a:sym typeface="Big Shoulders Display"/>
              </a:rPr>
              <a:t>kiểm</a:t>
            </a:r>
            <a:r>
              <a:rPr lang="en-US" sz="5000" dirty="0">
                <a:solidFill>
                  <a:srgbClr val="1A1F41"/>
                </a:solidFill>
                <a:latin typeface="Big Shoulders Display"/>
                <a:ea typeface="Big Shoulders Display"/>
                <a:cs typeface="Big Shoulders Display"/>
                <a:sym typeface="Big Shoulders Display"/>
              </a:rPr>
              <a:t> </a:t>
            </a:r>
            <a:r>
              <a:rPr lang="en-US" sz="5000" dirty="0" err="1">
                <a:solidFill>
                  <a:srgbClr val="1A1F41"/>
                </a:solidFill>
                <a:latin typeface="Big Shoulders Display"/>
                <a:ea typeface="Big Shoulders Display"/>
                <a:cs typeface="Big Shoulders Display"/>
                <a:sym typeface="Big Shoulders Display"/>
              </a:rPr>
              <a:t>thử</a:t>
            </a:r>
            <a:endParaRPr lang="en-US" sz="5000" dirty="0">
              <a:solidFill>
                <a:srgbClr val="1A1F41"/>
              </a:solidFill>
              <a:latin typeface="Big Shoulders Display"/>
              <a:ea typeface="Big Shoulders Display"/>
              <a:cs typeface="Big Shoulders Display"/>
              <a:sym typeface="Big Shoulders Display"/>
            </a:endParaRPr>
          </a:p>
        </p:txBody>
      </p:sp>
      <p:sp>
        <p:nvSpPr>
          <p:cNvPr id="9" name="TextBox 9"/>
          <p:cNvSpPr txBox="1"/>
          <p:nvPr/>
        </p:nvSpPr>
        <p:spPr>
          <a:xfrm>
            <a:off x="2139249" y="4307066"/>
            <a:ext cx="5328351" cy="736600"/>
          </a:xfrm>
          <a:prstGeom prst="rect">
            <a:avLst/>
          </a:prstGeom>
        </p:spPr>
        <p:txBody>
          <a:bodyPr wrap="square" lIns="0" tIns="0" rIns="0" bIns="0" rtlCol="0" anchor="t">
            <a:spAutoFit/>
          </a:bodyPr>
          <a:lstStyle/>
          <a:p>
            <a:pPr algn="ctr">
              <a:lnSpc>
                <a:spcPts val="5750"/>
              </a:lnSpc>
              <a:spcBef>
                <a:spcPct val="0"/>
              </a:spcBef>
            </a:pPr>
            <a:r>
              <a:rPr lang="en-US" sz="5000" dirty="0">
                <a:solidFill>
                  <a:srgbClr val="1A1F41"/>
                </a:solidFill>
                <a:latin typeface="Big Shoulders Display"/>
                <a:ea typeface="Big Shoulders Display"/>
                <a:cs typeface="Big Shoulders Display"/>
                <a:sym typeface="Big Shoulders Display"/>
              </a:rPr>
              <a:t>5.2 </a:t>
            </a:r>
            <a:r>
              <a:rPr lang="en-US" sz="5000" dirty="0" err="1">
                <a:solidFill>
                  <a:srgbClr val="1A1F41"/>
                </a:solidFill>
                <a:latin typeface="Big Shoulders Display"/>
                <a:ea typeface="Big Shoulders Display"/>
                <a:cs typeface="Big Shoulders Display"/>
                <a:sym typeface="Big Shoulders Display"/>
              </a:rPr>
              <a:t>Phương</a:t>
            </a:r>
            <a:r>
              <a:rPr lang="en-US" sz="5000" dirty="0">
                <a:solidFill>
                  <a:srgbClr val="1A1F41"/>
                </a:solidFill>
                <a:latin typeface="Big Shoulders Display"/>
                <a:ea typeface="Big Shoulders Display"/>
                <a:cs typeface="Big Shoulders Display"/>
                <a:sym typeface="Big Shoulders Display"/>
              </a:rPr>
              <a:t> </a:t>
            </a:r>
            <a:r>
              <a:rPr lang="en-US" sz="5000" dirty="0" err="1">
                <a:solidFill>
                  <a:srgbClr val="1A1F41"/>
                </a:solidFill>
                <a:latin typeface="Big Shoulders Display"/>
                <a:ea typeface="Big Shoulders Display"/>
                <a:cs typeface="Big Shoulders Display"/>
                <a:sym typeface="Big Shoulders Display"/>
              </a:rPr>
              <a:t>pháp</a:t>
            </a:r>
            <a:r>
              <a:rPr lang="en-US" sz="5000" dirty="0">
                <a:solidFill>
                  <a:srgbClr val="1A1F41"/>
                </a:solidFill>
                <a:latin typeface="Big Shoulders Display"/>
                <a:ea typeface="Big Shoulders Display"/>
                <a:cs typeface="Big Shoulders Display"/>
                <a:sym typeface="Big Shoulders Display"/>
              </a:rPr>
              <a:t> </a:t>
            </a:r>
            <a:r>
              <a:rPr lang="en-US" sz="5000" dirty="0" err="1">
                <a:solidFill>
                  <a:srgbClr val="1A1F41"/>
                </a:solidFill>
                <a:latin typeface="Big Shoulders Display"/>
                <a:ea typeface="Big Shoulders Display"/>
                <a:cs typeface="Big Shoulders Display"/>
                <a:sym typeface="Big Shoulders Display"/>
              </a:rPr>
              <a:t>kiểm</a:t>
            </a:r>
            <a:r>
              <a:rPr lang="en-US" sz="5000" dirty="0">
                <a:solidFill>
                  <a:srgbClr val="1A1F41"/>
                </a:solidFill>
                <a:latin typeface="Big Shoulders Display"/>
                <a:ea typeface="Big Shoulders Display"/>
                <a:cs typeface="Big Shoulders Display"/>
                <a:sym typeface="Big Shoulders Display"/>
              </a:rPr>
              <a:t> </a:t>
            </a:r>
            <a:r>
              <a:rPr lang="en-US" sz="5000" dirty="0" err="1">
                <a:solidFill>
                  <a:srgbClr val="1A1F41"/>
                </a:solidFill>
                <a:latin typeface="Big Shoulders Display"/>
                <a:ea typeface="Big Shoulders Display"/>
                <a:cs typeface="Big Shoulders Display"/>
                <a:sym typeface="Big Shoulders Display"/>
              </a:rPr>
              <a:t>thử</a:t>
            </a:r>
            <a:endParaRPr lang="en-US" sz="5000" dirty="0">
              <a:solidFill>
                <a:srgbClr val="1A1F41"/>
              </a:solidFill>
              <a:latin typeface="Big Shoulders Display"/>
              <a:ea typeface="Big Shoulders Display"/>
              <a:cs typeface="Big Shoulders Display"/>
              <a:sym typeface="Big Shoulders Display"/>
            </a:endParaRPr>
          </a:p>
        </p:txBody>
      </p:sp>
      <p:sp>
        <p:nvSpPr>
          <p:cNvPr id="10" name="TextBox 10"/>
          <p:cNvSpPr txBox="1"/>
          <p:nvPr/>
        </p:nvSpPr>
        <p:spPr>
          <a:xfrm>
            <a:off x="2170084" y="5253216"/>
            <a:ext cx="10366144" cy="1317625"/>
          </a:xfrm>
          <a:prstGeom prst="rect">
            <a:avLst/>
          </a:prstGeom>
        </p:spPr>
        <p:txBody>
          <a:bodyPr lIns="0" tIns="0" rIns="0" bIns="0" rtlCol="0" anchor="t">
            <a:spAutoFit/>
          </a:bodyPr>
          <a:lstStyle/>
          <a:p>
            <a:pPr algn="l">
              <a:lnSpc>
                <a:spcPts val="3499"/>
              </a:lnSpc>
              <a:spcBef>
                <a:spcPct val="0"/>
              </a:spcBef>
            </a:pPr>
            <a:r>
              <a:rPr lang="en-US" sz="2499">
                <a:solidFill>
                  <a:srgbClr val="1A1F41"/>
                </a:solidFill>
                <a:latin typeface="Poppins"/>
                <a:ea typeface="Poppins"/>
                <a:cs typeface="Poppins"/>
                <a:sym typeface="Poppins"/>
              </a:rPr>
              <a:t>Nhóm sử dụng phương pháp kiểm thử thủ công (Manual Testing) — trực tiếp chạy ứng dụng, thao tác trên giao diện và quan sát kết quả hiển thị để đối chiếu với kết quả mong đợi.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646234">
            <a:off x="14757720" y="8087970"/>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041331">
            <a:off x="-1056878" y="5259749"/>
            <a:ext cx="2710700" cy="1912276"/>
          </a:xfrm>
          <a:custGeom>
            <a:avLst/>
            <a:gdLst/>
            <a:ahLst/>
            <a:cxnLst/>
            <a:rect l="l" t="t" r="r" b="b"/>
            <a:pathLst>
              <a:path w="2710700" h="1912276">
                <a:moveTo>
                  <a:pt x="0" y="0"/>
                </a:moveTo>
                <a:lnTo>
                  <a:pt x="2710700" y="0"/>
                </a:lnTo>
                <a:lnTo>
                  <a:pt x="2710700" y="1912276"/>
                </a:lnTo>
                <a:lnTo>
                  <a:pt x="0" y="191227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722059" y="9070975"/>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14750624" y="1028700"/>
            <a:ext cx="2958261" cy="2856066"/>
          </a:xfrm>
          <a:custGeom>
            <a:avLst/>
            <a:gdLst/>
            <a:ahLst/>
            <a:cxnLst/>
            <a:rect l="l" t="t" r="r" b="b"/>
            <a:pathLst>
              <a:path w="2958261" h="2856066">
                <a:moveTo>
                  <a:pt x="0" y="0"/>
                </a:moveTo>
                <a:lnTo>
                  <a:pt x="2958261" y="0"/>
                </a:lnTo>
                <a:lnTo>
                  <a:pt x="2958261" y="2856066"/>
                </a:lnTo>
                <a:lnTo>
                  <a:pt x="0" y="2856066"/>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TextBox 6"/>
          <p:cNvSpPr txBox="1"/>
          <p:nvPr/>
        </p:nvSpPr>
        <p:spPr>
          <a:xfrm>
            <a:off x="-333641" y="669925"/>
            <a:ext cx="6925046" cy="736600"/>
          </a:xfrm>
          <a:prstGeom prst="rect">
            <a:avLst/>
          </a:prstGeom>
        </p:spPr>
        <p:txBody>
          <a:bodyPr lIns="0" tIns="0" rIns="0" bIns="0" rtlCol="0" anchor="t">
            <a:spAutoFit/>
          </a:bodyPr>
          <a:lstStyle/>
          <a:p>
            <a:pPr marL="0" lvl="0" indent="0" algn="ctr">
              <a:lnSpc>
                <a:spcPts val="5750"/>
              </a:lnSpc>
              <a:spcBef>
                <a:spcPct val="0"/>
              </a:spcBef>
            </a:pPr>
            <a:r>
              <a:rPr lang="en-US" sz="5000" b="1">
                <a:solidFill>
                  <a:srgbClr val="1A1F41"/>
                </a:solidFill>
                <a:latin typeface="Big Shoulders Display Bold"/>
                <a:ea typeface="Big Shoulders Display Bold"/>
                <a:cs typeface="Big Shoulders Display Bold"/>
                <a:sym typeface="Big Shoulders Display Bold"/>
              </a:rPr>
              <a:t>5.TESTING</a:t>
            </a:r>
          </a:p>
        </p:txBody>
      </p:sp>
      <p:sp>
        <p:nvSpPr>
          <p:cNvPr id="7" name="TextBox 7"/>
          <p:cNvSpPr txBox="1"/>
          <p:nvPr/>
        </p:nvSpPr>
        <p:spPr>
          <a:xfrm>
            <a:off x="2139249" y="2705054"/>
            <a:ext cx="9942557" cy="4822825"/>
          </a:xfrm>
          <a:prstGeom prst="rect">
            <a:avLst/>
          </a:prstGeom>
        </p:spPr>
        <p:txBody>
          <a:bodyPr lIns="0" tIns="0" rIns="0" bIns="0" rtlCol="0" anchor="t">
            <a:spAutoFit/>
          </a:bodyPr>
          <a:lstStyle/>
          <a:p>
            <a:pPr algn="l">
              <a:lnSpc>
                <a:spcPts val="3499"/>
              </a:lnSpc>
              <a:spcBef>
                <a:spcPct val="0"/>
              </a:spcBef>
            </a:pPr>
            <a:r>
              <a:rPr lang="en-US" sz="2499">
                <a:solidFill>
                  <a:srgbClr val="1A1F41"/>
                </a:solidFill>
                <a:latin typeface="Poppins"/>
                <a:ea typeface="Poppins"/>
                <a:cs typeface="Poppins"/>
                <a:sym typeface="Poppins"/>
              </a:rPr>
              <a:t>Hệ thống được kiểm thử theo các module chính:</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Module Login: Kiểm tra xác thực đầu vào và luồng đăng nhập thành công.</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Module Lobby: Kiểm tra hiển thị danh sách người chơi, gửi/nhận lời mời đấu</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Module Game: Kiểm tra logic click bàn cờ, quản lý lượt đi, render bàn cờ, đánh vào ô đã có quân, đánh khi chưa đến lượt.</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Module Cầu hòa: Kiểm tra luồng gửi/nhận/chấp nhận/từ chối cầu hòa, ngăn chặn cầu hòa với bot.</a:t>
            </a:r>
          </a:p>
          <a:p>
            <a:pPr marL="539749" lvl="1" indent="-269875" algn="l">
              <a:lnSpc>
                <a:spcPts val="3499"/>
              </a:lnSpc>
              <a:buFont typeface="Arial"/>
              <a:buChar char="•"/>
            </a:pPr>
            <a:r>
              <a:rPr lang="en-US" sz="2499">
                <a:solidFill>
                  <a:srgbClr val="1A1F41"/>
                </a:solidFill>
                <a:latin typeface="Poppins"/>
                <a:ea typeface="Poppins"/>
                <a:cs typeface="Poppins"/>
                <a:sym typeface="Poppins"/>
              </a:rPr>
              <a:t>Module Bot: Kiểm tra 3 mức độ khó (Easy/Medium/Hard)</a:t>
            </a:r>
          </a:p>
        </p:txBody>
      </p:sp>
      <p:sp>
        <p:nvSpPr>
          <p:cNvPr id="8" name="TextBox 8"/>
          <p:cNvSpPr txBox="1"/>
          <p:nvPr/>
        </p:nvSpPr>
        <p:spPr>
          <a:xfrm>
            <a:off x="2139249" y="1425575"/>
            <a:ext cx="6242751" cy="736600"/>
          </a:xfrm>
          <a:prstGeom prst="rect">
            <a:avLst/>
          </a:prstGeom>
        </p:spPr>
        <p:txBody>
          <a:bodyPr wrap="square" lIns="0" tIns="0" rIns="0" bIns="0" rtlCol="0" anchor="t">
            <a:spAutoFit/>
          </a:bodyPr>
          <a:lstStyle/>
          <a:p>
            <a:pPr algn="ctr">
              <a:lnSpc>
                <a:spcPts val="5750"/>
              </a:lnSpc>
              <a:spcBef>
                <a:spcPct val="0"/>
              </a:spcBef>
            </a:pPr>
            <a:r>
              <a:rPr lang="en-US" sz="5000" dirty="0">
                <a:solidFill>
                  <a:srgbClr val="1A1F41"/>
                </a:solidFill>
                <a:latin typeface="Big Shoulders Display"/>
                <a:ea typeface="Big Shoulders Display"/>
                <a:cs typeface="Big Shoulders Display"/>
                <a:sym typeface="Big Shoulders Display"/>
              </a:rPr>
              <a:t>5.3 </a:t>
            </a:r>
            <a:r>
              <a:rPr lang="en-US" sz="5000" dirty="0" err="1">
                <a:solidFill>
                  <a:srgbClr val="1A1F41"/>
                </a:solidFill>
                <a:latin typeface="Big Shoulders Display"/>
                <a:ea typeface="Big Shoulders Display"/>
                <a:cs typeface="Big Shoulders Display"/>
                <a:sym typeface="Big Shoulders Display"/>
              </a:rPr>
              <a:t>Các</a:t>
            </a:r>
            <a:r>
              <a:rPr lang="en-US" sz="5000" dirty="0">
                <a:solidFill>
                  <a:srgbClr val="1A1F41"/>
                </a:solidFill>
                <a:latin typeface="Big Shoulders Display"/>
                <a:ea typeface="Big Shoulders Display"/>
                <a:cs typeface="Big Shoulders Display"/>
                <a:sym typeface="Big Shoulders Display"/>
              </a:rPr>
              <a:t> module </a:t>
            </a:r>
            <a:r>
              <a:rPr lang="en-US" sz="5000" dirty="0" err="1">
                <a:solidFill>
                  <a:srgbClr val="1A1F41"/>
                </a:solidFill>
                <a:latin typeface="Big Shoulders Display"/>
                <a:ea typeface="Big Shoulders Display"/>
                <a:cs typeface="Big Shoulders Display"/>
                <a:sym typeface="Big Shoulders Display"/>
              </a:rPr>
              <a:t>được</a:t>
            </a:r>
            <a:r>
              <a:rPr lang="en-US" sz="5000" dirty="0">
                <a:solidFill>
                  <a:srgbClr val="1A1F41"/>
                </a:solidFill>
                <a:latin typeface="Big Shoulders Display"/>
                <a:ea typeface="Big Shoulders Display"/>
                <a:cs typeface="Big Shoulders Display"/>
                <a:sym typeface="Big Shoulders Display"/>
              </a:rPr>
              <a:t> </a:t>
            </a:r>
            <a:r>
              <a:rPr lang="en-US" sz="5000" dirty="0" err="1">
                <a:solidFill>
                  <a:srgbClr val="1A1F41"/>
                </a:solidFill>
                <a:latin typeface="Big Shoulders Display"/>
                <a:ea typeface="Big Shoulders Display"/>
                <a:cs typeface="Big Shoulders Display"/>
                <a:sym typeface="Big Shoulders Display"/>
              </a:rPr>
              <a:t>kiểm</a:t>
            </a:r>
            <a:r>
              <a:rPr lang="en-US" sz="5000" dirty="0">
                <a:solidFill>
                  <a:srgbClr val="1A1F41"/>
                </a:solidFill>
                <a:latin typeface="Big Shoulders Display"/>
                <a:ea typeface="Big Shoulders Display"/>
                <a:cs typeface="Big Shoulders Display"/>
                <a:sym typeface="Big Shoulders Display"/>
              </a:rPr>
              <a:t> </a:t>
            </a:r>
            <a:r>
              <a:rPr lang="en-US" sz="5000" dirty="0" err="1">
                <a:solidFill>
                  <a:srgbClr val="1A1F41"/>
                </a:solidFill>
                <a:latin typeface="Big Shoulders Display"/>
                <a:ea typeface="Big Shoulders Display"/>
                <a:cs typeface="Big Shoulders Display"/>
                <a:sym typeface="Big Shoulders Display"/>
              </a:rPr>
              <a:t>thử</a:t>
            </a:r>
            <a:endParaRPr lang="en-US" sz="5000" dirty="0">
              <a:solidFill>
                <a:srgbClr val="1A1F41"/>
              </a:solidFill>
              <a:latin typeface="Big Shoulders Display"/>
              <a:ea typeface="Big Shoulders Display"/>
              <a:cs typeface="Big Shoulders Display"/>
              <a:sym typeface="Big Shoulders Display"/>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646234">
            <a:off x="14757720" y="8087970"/>
            <a:ext cx="3820236" cy="2695003"/>
          </a:xfrm>
          <a:custGeom>
            <a:avLst/>
            <a:gdLst/>
            <a:ahLst/>
            <a:cxnLst/>
            <a:rect l="l" t="t" r="r" b="b"/>
            <a:pathLst>
              <a:path w="3820236" h="2695003">
                <a:moveTo>
                  <a:pt x="0" y="0"/>
                </a:moveTo>
                <a:lnTo>
                  <a:pt x="3820236" y="0"/>
                </a:lnTo>
                <a:lnTo>
                  <a:pt x="3820236" y="2695003"/>
                </a:lnTo>
                <a:lnTo>
                  <a:pt x="0" y="269500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rot="1041331">
            <a:off x="-1056878" y="5259749"/>
            <a:ext cx="2710700" cy="1912276"/>
          </a:xfrm>
          <a:custGeom>
            <a:avLst/>
            <a:gdLst/>
            <a:ahLst/>
            <a:cxnLst/>
            <a:rect l="l" t="t" r="r" b="b"/>
            <a:pathLst>
              <a:path w="2710700" h="1912276">
                <a:moveTo>
                  <a:pt x="0" y="0"/>
                </a:moveTo>
                <a:lnTo>
                  <a:pt x="2710700" y="0"/>
                </a:lnTo>
                <a:lnTo>
                  <a:pt x="2710700" y="1912276"/>
                </a:lnTo>
                <a:lnTo>
                  <a:pt x="0" y="191227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722059" y="9070975"/>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14750624" y="1028700"/>
            <a:ext cx="2958261" cy="2856066"/>
          </a:xfrm>
          <a:custGeom>
            <a:avLst/>
            <a:gdLst/>
            <a:ahLst/>
            <a:cxnLst/>
            <a:rect l="l" t="t" r="r" b="b"/>
            <a:pathLst>
              <a:path w="2958261" h="2856066">
                <a:moveTo>
                  <a:pt x="0" y="0"/>
                </a:moveTo>
                <a:lnTo>
                  <a:pt x="2958261" y="0"/>
                </a:lnTo>
                <a:lnTo>
                  <a:pt x="2958261" y="2856066"/>
                </a:lnTo>
                <a:lnTo>
                  <a:pt x="0" y="2856066"/>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TextBox 6"/>
          <p:cNvSpPr txBox="1"/>
          <p:nvPr/>
        </p:nvSpPr>
        <p:spPr>
          <a:xfrm>
            <a:off x="-333641" y="669925"/>
            <a:ext cx="6925046" cy="736600"/>
          </a:xfrm>
          <a:prstGeom prst="rect">
            <a:avLst/>
          </a:prstGeom>
        </p:spPr>
        <p:txBody>
          <a:bodyPr lIns="0" tIns="0" rIns="0" bIns="0" rtlCol="0" anchor="t">
            <a:spAutoFit/>
          </a:bodyPr>
          <a:lstStyle/>
          <a:p>
            <a:pPr marL="0" lvl="0" indent="0" algn="ctr">
              <a:lnSpc>
                <a:spcPts val="5750"/>
              </a:lnSpc>
              <a:spcBef>
                <a:spcPct val="0"/>
              </a:spcBef>
            </a:pPr>
            <a:r>
              <a:rPr lang="en-US" sz="5000" b="1">
                <a:solidFill>
                  <a:srgbClr val="1A1F41"/>
                </a:solidFill>
                <a:latin typeface="Big Shoulders Display Bold"/>
                <a:ea typeface="Big Shoulders Display Bold"/>
                <a:cs typeface="Big Shoulders Display Bold"/>
                <a:sym typeface="Big Shoulders Display Bold"/>
              </a:rPr>
              <a:t>6.TỔNG KẾT</a:t>
            </a:r>
          </a:p>
        </p:txBody>
      </p:sp>
      <p:sp>
        <p:nvSpPr>
          <p:cNvPr id="7" name="TextBox 7"/>
          <p:cNvSpPr txBox="1"/>
          <p:nvPr/>
        </p:nvSpPr>
        <p:spPr>
          <a:xfrm>
            <a:off x="2139249" y="2705054"/>
            <a:ext cx="9942557" cy="3946525"/>
          </a:xfrm>
          <a:prstGeom prst="rect">
            <a:avLst/>
          </a:prstGeom>
        </p:spPr>
        <p:txBody>
          <a:bodyPr lIns="0" tIns="0" rIns="0" bIns="0" rtlCol="0" anchor="t">
            <a:spAutoFit/>
          </a:bodyPr>
          <a:lstStyle/>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Xây dựng thành công game Caro trực tuyến theo mô hình Client–Server sử dụng TCP/IP.</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Phát triển bằng C# (.NET 9) và Windows Forms.</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Hoàn thành các chức năng chính:</a:t>
            </a:r>
          </a:p>
          <a:p>
            <a:pPr marL="1079499" lvl="2" indent="-359833" algn="l">
              <a:lnSpc>
                <a:spcPts val="3499"/>
              </a:lnSpc>
              <a:spcBef>
                <a:spcPct val="0"/>
              </a:spcBef>
              <a:buFont typeface="Arial"/>
              <a:buChar char="⚬"/>
            </a:pPr>
            <a:r>
              <a:rPr lang="en-US" sz="2499">
                <a:solidFill>
                  <a:srgbClr val="1A1F41"/>
                </a:solidFill>
                <a:latin typeface="Poppins"/>
                <a:ea typeface="Poppins"/>
                <a:cs typeface="Poppins"/>
                <a:sym typeface="Poppins"/>
              </a:rPr>
              <a:t>Đăng nhập và kết nối Server.</a:t>
            </a:r>
          </a:p>
          <a:p>
            <a:pPr marL="1079499" lvl="2" indent="-359833" algn="l">
              <a:lnSpc>
                <a:spcPts val="3499"/>
              </a:lnSpc>
              <a:spcBef>
                <a:spcPct val="0"/>
              </a:spcBef>
              <a:buFont typeface="Arial"/>
              <a:buChar char="⚬"/>
            </a:pPr>
            <a:r>
              <a:rPr lang="en-US" sz="2499">
                <a:solidFill>
                  <a:srgbClr val="1A1F41"/>
                </a:solidFill>
                <a:latin typeface="Poppins"/>
                <a:ea typeface="Poppins"/>
                <a:cs typeface="Poppins"/>
                <a:sym typeface="Poppins"/>
              </a:rPr>
              <a:t>Sảnh chờ, gửi lời mời và ghép trận.</a:t>
            </a:r>
          </a:p>
          <a:p>
            <a:pPr marL="1079499" lvl="2" indent="-359833" algn="l">
              <a:lnSpc>
                <a:spcPts val="3499"/>
              </a:lnSpc>
              <a:spcBef>
                <a:spcPct val="0"/>
              </a:spcBef>
              <a:buFont typeface="Arial"/>
              <a:buChar char="⚬"/>
            </a:pPr>
            <a:r>
              <a:rPr lang="en-US" sz="2499">
                <a:solidFill>
                  <a:srgbClr val="1A1F41"/>
                </a:solidFill>
                <a:latin typeface="Poppins"/>
                <a:ea typeface="Poppins"/>
                <a:cs typeface="Poppins"/>
                <a:sym typeface="Poppins"/>
              </a:rPr>
              <a:t>Chơi PvP và chơi với Bot (3 mức độ khó).</a:t>
            </a:r>
          </a:p>
          <a:p>
            <a:pPr marL="1079499" lvl="2" indent="-359833" algn="l">
              <a:lnSpc>
                <a:spcPts val="3499"/>
              </a:lnSpc>
              <a:spcBef>
                <a:spcPct val="0"/>
              </a:spcBef>
              <a:buFont typeface="Arial"/>
              <a:buChar char="⚬"/>
            </a:pPr>
            <a:r>
              <a:rPr lang="en-US" sz="2499">
                <a:solidFill>
                  <a:srgbClr val="1A1F41"/>
                </a:solidFill>
                <a:latin typeface="Poppins"/>
                <a:ea typeface="Poppins"/>
                <a:cs typeface="Poppins"/>
                <a:sym typeface="Poppins"/>
              </a:rPr>
              <a:t>Chat, đầu hàng, cầu hòa, giới hạn thời gian.</a:t>
            </a:r>
          </a:p>
          <a:p>
            <a:pPr marL="1079499" lvl="2" indent="-359833" algn="l">
              <a:lnSpc>
                <a:spcPts val="3499"/>
              </a:lnSpc>
              <a:buFont typeface="Arial"/>
              <a:buChar char="⚬"/>
            </a:pPr>
            <a:r>
              <a:rPr lang="en-US" sz="2499">
                <a:solidFill>
                  <a:srgbClr val="1A1F41"/>
                </a:solidFill>
                <a:latin typeface="Poppins"/>
                <a:ea typeface="Poppins"/>
                <a:cs typeface="Poppins"/>
                <a:sym typeface="Poppins"/>
              </a:rPr>
              <a:t>Lưu và xem lại lịch sử ván đấu.</a:t>
            </a:r>
          </a:p>
        </p:txBody>
      </p:sp>
      <p:sp>
        <p:nvSpPr>
          <p:cNvPr id="8" name="TextBox 8"/>
          <p:cNvSpPr txBox="1"/>
          <p:nvPr/>
        </p:nvSpPr>
        <p:spPr>
          <a:xfrm>
            <a:off x="1935582" y="1516344"/>
            <a:ext cx="3964781" cy="736600"/>
          </a:xfrm>
          <a:prstGeom prst="rect">
            <a:avLst/>
          </a:prstGeom>
        </p:spPr>
        <p:txBody>
          <a:bodyPr lIns="0" tIns="0" rIns="0" bIns="0" rtlCol="0" anchor="t">
            <a:spAutoFit/>
          </a:bodyPr>
          <a:lstStyle/>
          <a:p>
            <a:pPr algn="ctr">
              <a:lnSpc>
                <a:spcPts val="5750"/>
              </a:lnSpc>
              <a:spcBef>
                <a:spcPct val="0"/>
              </a:spcBef>
            </a:pPr>
            <a:r>
              <a:rPr lang="en-US" sz="5000">
                <a:solidFill>
                  <a:srgbClr val="1A1F41"/>
                </a:solidFill>
                <a:latin typeface="Big Shoulders Display"/>
                <a:ea typeface="Big Shoulders Display"/>
                <a:cs typeface="Big Shoulders Display"/>
                <a:sym typeface="Big Shoulders Display"/>
              </a:rPr>
              <a:t>6.1 kết quả đạt được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1691021">
            <a:off x="15919929" y="2558110"/>
            <a:ext cx="2846485" cy="2008066"/>
          </a:xfrm>
          <a:custGeom>
            <a:avLst/>
            <a:gdLst/>
            <a:ahLst/>
            <a:cxnLst/>
            <a:rect l="l" t="t" r="r" b="b"/>
            <a:pathLst>
              <a:path w="2846485" h="2008066">
                <a:moveTo>
                  <a:pt x="0" y="0"/>
                </a:moveTo>
                <a:lnTo>
                  <a:pt x="2846486" y="0"/>
                </a:lnTo>
                <a:lnTo>
                  <a:pt x="2846486" y="2008065"/>
                </a:lnTo>
                <a:lnTo>
                  <a:pt x="0" y="200806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1611403" y="1495907"/>
            <a:ext cx="5778315" cy="736600"/>
          </a:xfrm>
          <a:prstGeom prst="rect">
            <a:avLst/>
          </a:prstGeom>
        </p:spPr>
        <p:txBody>
          <a:bodyPr lIns="0" tIns="0" rIns="0" bIns="0" rtlCol="0" anchor="t">
            <a:spAutoFit/>
          </a:bodyPr>
          <a:lstStyle/>
          <a:p>
            <a:pPr algn="l">
              <a:lnSpc>
                <a:spcPts val="5750"/>
              </a:lnSpc>
              <a:spcBef>
                <a:spcPct val="0"/>
              </a:spcBef>
            </a:pPr>
            <a:r>
              <a:rPr lang="en-US" sz="5000" b="1">
                <a:solidFill>
                  <a:srgbClr val="1A1F41"/>
                </a:solidFill>
                <a:latin typeface="Big Shoulders Display Bold"/>
                <a:ea typeface="Big Shoulders Display Bold"/>
                <a:cs typeface="Big Shoulders Display Bold"/>
                <a:sym typeface="Big Shoulders Display Bold"/>
              </a:rPr>
              <a:t>6.TỔNG KẾT</a:t>
            </a:r>
          </a:p>
        </p:txBody>
      </p:sp>
      <p:sp>
        <p:nvSpPr>
          <p:cNvPr id="4" name="Freeform 4"/>
          <p:cNvSpPr/>
          <p:nvPr/>
        </p:nvSpPr>
        <p:spPr>
          <a:xfrm rot="1658979">
            <a:off x="-410794" y="9084614"/>
            <a:ext cx="2465303" cy="1739159"/>
          </a:xfrm>
          <a:custGeom>
            <a:avLst/>
            <a:gdLst/>
            <a:ahLst/>
            <a:cxnLst/>
            <a:rect l="l" t="t" r="r" b="b"/>
            <a:pathLst>
              <a:path w="2465303" h="1739159">
                <a:moveTo>
                  <a:pt x="0" y="0"/>
                </a:moveTo>
                <a:lnTo>
                  <a:pt x="2465303" y="0"/>
                </a:lnTo>
                <a:lnTo>
                  <a:pt x="2465303" y="1739159"/>
                </a:lnTo>
                <a:lnTo>
                  <a:pt x="0" y="173915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a:off x="8540080" y="-4549002"/>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6" name="TextBox 6"/>
          <p:cNvSpPr txBox="1"/>
          <p:nvPr/>
        </p:nvSpPr>
        <p:spPr>
          <a:xfrm>
            <a:off x="1611403" y="2332849"/>
            <a:ext cx="5387132" cy="4413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6.2 Đánh giá và huớgng phát triển</a:t>
            </a:r>
          </a:p>
        </p:txBody>
      </p:sp>
      <p:sp>
        <p:nvSpPr>
          <p:cNvPr id="7" name="TextBox 7"/>
          <p:cNvSpPr txBox="1"/>
          <p:nvPr/>
        </p:nvSpPr>
        <p:spPr>
          <a:xfrm>
            <a:off x="1611403" y="2977448"/>
            <a:ext cx="12665618" cy="5699125"/>
          </a:xfrm>
          <a:prstGeom prst="rect">
            <a:avLst/>
          </a:prstGeom>
        </p:spPr>
        <p:txBody>
          <a:bodyPr lIns="0" tIns="0" rIns="0" bIns="0" rtlCol="0" anchor="t">
            <a:spAutoFit/>
          </a:bodyPr>
          <a:lstStyle/>
          <a:p>
            <a:pPr algn="l">
              <a:lnSpc>
                <a:spcPts val="3499"/>
              </a:lnSpc>
            </a:pPr>
            <a:r>
              <a:rPr lang="en-US" sz="2499">
                <a:solidFill>
                  <a:srgbClr val="1A1F41"/>
                </a:solidFill>
                <a:latin typeface="Poppins"/>
                <a:ea typeface="Poppins"/>
                <a:cs typeface="Poppins"/>
                <a:sym typeface="Poppins"/>
              </a:rPr>
              <a:t>Ưu điểm</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Kiến trúc Client–Server rõ ràng, dùng Shared Library chung.</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Xử lý bất đồng bộ (async/await), hệ thống ổn định.</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Xử lý tốt lỗi kết nối và dữ liệu.</a:t>
            </a:r>
          </a:p>
          <a:p>
            <a:pPr algn="l">
              <a:lnSpc>
                <a:spcPts val="3499"/>
              </a:lnSpc>
              <a:spcBef>
                <a:spcPct val="0"/>
              </a:spcBef>
            </a:pPr>
            <a:r>
              <a:rPr lang="en-US" sz="2499">
                <a:solidFill>
                  <a:srgbClr val="1A1F41"/>
                </a:solidFill>
                <a:latin typeface="Poppins"/>
                <a:ea typeface="Poppins"/>
                <a:cs typeface="Poppins"/>
                <a:sym typeface="Poppins"/>
              </a:rPr>
              <a:t>Hạn chế</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Chưa có đăng nhập/xác thực người dùng.</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Lưu lịch sử bằng JSON, chưa dùng cơ sở dữ liệu.</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Chưa hỗ trợ ghép cặp tự động.</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Chưa có phòng chờ công khai.</a:t>
            </a:r>
          </a:p>
          <a:p>
            <a:pPr algn="l">
              <a:lnSpc>
                <a:spcPts val="3499"/>
              </a:lnSpc>
              <a:spcBef>
                <a:spcPct val="0"/>
              </a:spcBef>
            </a:pPr>
            <a:r>
              <a:rPr lang="en-US" sz="2499">
                <a:solidFill>
                  <a:srgbClr val="1A1F41"/>
                </a:solidFill>
                <a:latin typeface="Poppins"/>
                <a:ea typeface="Poppins"/>
                <a:cs typeface="Poppins"/>
                <a:sym typeface="Poppins"/>
              </a:rPr>
              <a:t>Hướng phát triển</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Tích hợp SQL Server/SQLite.</a:t>
            </a:r>
          </a:p>
          <a:p>
            <a:pPr marL="539749" lvl="1" indent="-269875" algn="l">
              <a:lnSpc>
                <a:spcPts val="3499"/>
              </a:lnSpc>
              <a:spcBef>
                <a:spcPct val="0"/>
              </a:spcBef>
              <a:buFont typeface="Arial"/>
              <a:buChar char="•"/>
            </a:pPr>
            <a:r>
              <a:rPr lang="en-US" sz="2499">
                <a:solidFill>
                  <a:srgbClr val="1A1F41"/>
                </a:solidFill>
                <a:latin typeface="Poppins"/>
                <a:ea typeface="Poppins"/>
                <a:cs typeface="Poppins"/>
                <a:sym typeface="Poppins"/>
              </a:rPr>
              <a:t>Thêm bảng xếp hạng (ELO), phòng công khai và ghép cặp tự động.</a:t>
            </a:r>
          </a:p>
          <a:p>
            <a:pPr algn="l">
              <a:lnSpc>
                <a:spcPts val="3499"/>
              </a:lnSpc>
            </a:pPr>
            <a:endParaRPr lang="en-US" sz="2499">
              <a:solidFill>
                <a:srgbClr val="1A1F41"/>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Freeform 2"/>
          <p:cNvSpPr/>
          <p:nvPr/>
        </p:nvSpPr>
        <p:spPr>
          <a:xfrm rot="-1691021">
            <a:off x="15919929" y="2558110"/>
            <a:ext cx="2846485" cy="2008066"/>
          </a:xfrm>
          <a:custGeom>
            <a:avLst/>
            <a:gdLst/>
            <a:ahLst/>
            <a:cxnLst/>
            <a:rect l="l" t="t" r="r" b="b"/>
            <a:pathLst>
              <a:path w="2846485" h="2008066">
                <a:moveTo>
                  <a:pt x="0" y="0"/>
                </a:moveTo>
                <a:lnTo>
                  <a:pt x="2846486" y="0"/>
                </a:lnTo>
                <a:lnTo>
                  <a:pt x="2846486" y="2008065"/>
                </a:lnTo>
                <a:lnTo>
                  <a:pt x="0" y="200806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6875987" y="1526164"/>
            <a:ext cx="5778315" cy="736600"/>
          </a:xfrm>
          <a:prstGeom prst="rect">
            <a:avLst/>
          </a:prstGeom>
        </p:spPr>
        <p:txBody>
          <a:bodyPr lIns="0" tIns="0" rIns="0" bIns="0" rtlCol="0" anchor="t">
            <a:spAutoFit/>
          </a:bodyPr>
          <a:lstStyle/>
          <a:p>
            <a:pPr algn="l">
              <a:lnSpc>
                <a:spcPts val="5750"/>
              </a:lnSpc>
              <a:spcBef>
                <a:spcPct val="0"/>
              </a:spcBef>
            </a:pPr>
            <a:r>
              <a:rPr lang="en-US" sz="5000" b="1">
                <a:solidFill>
                  <a:srgbClr val="1A1F41"/>
                </a:solidFill>
                <a:latin typeface="Big Shoulders Display Bold"/>
                <a:ea typeface="Big Shoulders Display Bold"/>
                <a:cs typeface="Big Shoulders Display Bold"/>
                <a:sym typeface="Big Shoulders Display Bold"/>
              </a:rPr>
              <a:t>KẾT LUẬN</a:t>
            </a:r>
          </a:p>
        </p:txBody>
      </p:sp>
      <p:sp>
        <p:nvSpPr>
          <p:cNvPr id="4" name="Freeform 4"/>
          <p:cNvSpPr/>
          <p:nvPr/>
        </p:nvSpPr>
        <p:spPr>
          <a:xfrm rot="1658979">
            <a:off x="-410794" y="9084614"/>
            <a:ext cx="2465303" cy="1739159"/>
          </a:xfrm>
          <a:custGeom>
            <a:avLst/>
            <a:gdLst/>
            <a:ahLst/>
            <a:cxnLst/>
            <a:rect l="l" t="t" r="r" b="b"/>
            <a:pathLst>
              <a:path w="2465303" h="1739159">
                <a:moveTo>
                  <a:pt x="0" y="0"/>
                </a:moveTo>
                <a:lnTo>
                  <a:pt x="2465303" y="0"/>
                </a:lnTo>
                <a:lnTo>
                  <a:pt x="2465303" y="1739159"/>
                </a:lnTo>
                <a:lnTo>
                  <a:pt x="0" y="173915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a:off x="8540080" y="-4549002"/>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6" name="TextBox 6"/>
          <p:cNvSpPr txBox="1"/>
          <p:nvPr/>
        </p:nvSpPr>
        <p:spPr>
          <a:xfrm>
            <a:off x="2317283" y="2949575"/>
            <a:ext cx="12665618" cy="2193925"/>
          </a:xfrm>
          <a:prstGeom prst="rect">
            <a:avLst/>
          </a:prstGeom>
        </p:spPr>
        <p:txBody>
          <a:bodyPr lIns="0" tIns="0" rIns="0" bIns="0" rtlCol="0" anchor="t">
            <a:spAutoFit/>
          </a:bodyPr>
          <a:lstStyle/>
          <a:p>
            <a:pPr algn="ctr">
              <a:lnSpc>
                <a:spcPts val="3499"/>
              </a:lnSpc>
              <a:spcBef>
                <a:spcPct val="0"/>
              </a:spcBef>
            </a:pPr>
            <a:r>
              <a:rPr lang="en-US" sz="2499">
                <a:solidFill>
                  <a:srgbClr val="1A1F41"/>
                </a:solidFill>
                <a:latin typeface="Poppins"/>
                <a:ea typeface="Poppins"/>
                <a:cs typeface="Poppins"/>
                <a:sym typeface="Poppins"/>
              </a:rPr>
              <a:t>Qua quá trình thực hiện, nhóm đã xây dựng thành công ứng dụng game Caro trực tuyến theo mô hình Client–Server, vận dụng hiệu quả các kiến thức về lập trình mạng, xử lý bất đồng bộ và trí tuệ nhân tạo. Mặc dù vẫn còn một số hạn chế, sản phẩm đã đáp ứng đầy đủ các mục tiêu đề ra và là nền tảng để tiếp tục phát triển trong tương lai.</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TextBox 2"/>
          <p:cNvSpPr txBox="1"/>
          <p:nvPr/>
        </p:nvSpPr>
        <p:spPr>
          <a:xfrm>
            <a:off x="6716871" y="4254331"/>
            <a:ext cx="5147566" cy="1473200"/>
          </a:xfrm>
          <a:prstGeom prst="rect">
            <a:avLst/>
          </a:prstGeom>
        </p:spPr>
        <p:txBody>
          <a:bodyPr lIns="0" tIns="0" rIns="0" bIns="0" rtlCol="0" anchor="t">
            <a:spAutoFit/>
          </a:bodyPr>
          <a:lstStyle/>
          <a:p>
            <a:pPr marL="0" lvl="0" indent="0" algn="l">
              <a:lnSpc>
                <a:spcPts val="11499"/>
              </a:lnSpc>
              <a:spcBef>
                <a:spcPct val="0"/>
              </a:spcBef>
            </a:pPr>
            <a:r>
              <a:rPr lang="en-US" sz="9999" b="1" u="none" strike="noStrike">
                <a:solidFill>
                  <a:srgbClr val="1A1F41"/>
                </a:solidFill>
                <a:latin typeface="Big Shoulders Display Bold"/>
                <a:ea typeface="Big Shoulders Display Bold"/>
                <a:cs typeface="Big Shoulders Display Bold"/>
                <a:sym typeface="Big Shoulders Display Bold"/>
              </a:rPr>
              <a:t>THANK YOU</a:t>
            </a:r>
          </a:p>
        </p:txBody>
      </p:sp>
      <p:sp>
        <p:nvSpPr>
          <p:cNvPr id="3" name="Freeform 3"/>
          <p:cNvSpPr/>
          <p:nvPr/>
        </p:nvSpPr>
        <p:spPr>
          <a:xfrm rot="-1691021">
            <a:off x="15183415" y="1100870"/>
            <a:ext cx="2846485" cy="2008066"/>
          </a:xfrm>
          <a:custGeom>
            <a:avLst/>
            <a:gdLst/>
            <a:ahLst/>
            <a:cxnLst/>
            <a:rect l="l" t="t" r="r" b="b"/>
            <a:pathLst>
              <a:path w="2846485" h="2008066">
                <a:moveTo>
                  <a:pt x="0" y="0"/>
                </a:moveTo>
                <a:lnTo>
                  <a:pt x="2846486" y="0"/>
                </a:lnTo>
                <a:lnTo>
                  <a:pt x="2846486" y="2008066"/>
                </a:lnTo>
                <a:lnTo>
                  <a:pt x="0" y="2008066"/>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rot="1658979">
            <a:off x="-106706" y="8600514"/>
            <a:ext cx="2465303" cy="1739159"/>
          </a:xfrm>
          <a:custGeom>
            <a:avLst/>
            <a:gdLst/>
            <a:ahLst/>
            <a:cxnLst/>
            <a:rect l="l" t="t" r="r" b="b"/>
            <a:pathLst>
              <a:path w="2465303" h="1739159">
                <a:moveTo>
                  <a:pt x="0" y="0"/>
                </a:moveTo>
                <a:lnTo>
                  <a:pt x="2465302" y="0"/>
                </a:lnTo>
                <a:lnTo>
                  <a:pt x="2465302" y="1739159"/>
                </a:lnTo>
                <a:lnTo>
                  <a:pt x="0" y="173915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a:off x="12276263" y="9451472"/>
            <a:ext cx="5578495" cy="5578495"/>
          </a:xfrm>
          <a:custGeom>
            <a:avLst/>
            <a:gdLst/>
            <a:ahLst/>
            <a:cxnLst/>
            <a:rect l="l" t="t" r="r" b="b"/>
            <a:pathLst>
              <a:path w="5578495" h="5578495">
                <a:moveTo>
                  <a:pt x="0" y="0"/>
                </a:moveTo>
                <a:lnTo>
                  <a:pt x="5578495" y="0"/>
                </a:lnTo>
                <a:lnTo>
                  <a:pt x="5578495" y="5578495"/>
                </a:lnTo>
                <a:lnTo>
                  <a:pt x="0" y="5578495"/>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1458</Words>
  <Application>Microsoft Office PowerPoint</Application>
  <PresentationFormat>Custom</PresentationFormat>
  <Paragraphs>141</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Big Shoulders Display Bold</vt:lpstr>
      <vt:lpstr>Arial</vt:lpstr>
      <vt:lpstr>Big Shoulders Display</vt:lpstr>
      <vt:lpstr>Poppins Bold</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Simple Games Presentation</dc:title>
  <cp:lastModifiedBy>PC</cp:lastModifiedBy>
  <cp:revision>2</cp:revision>
  <dcterms:created xsi:type="dcterms:W3CDTF">2006-08-16T00:00:00Z</dcterms:created>
  <dcterms:modified xsi:type="dcterms:W3CDTF">2026-07-06T11:20:48Z</dcterms:modified>
  <dc:identifier>DAHOD0Sukfs</dc:identifier>
</cp:coreProperties>
</file>
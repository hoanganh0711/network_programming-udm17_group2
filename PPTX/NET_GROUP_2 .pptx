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78" r:id="rId5"/>
    <p:sldId id="259" r:id="rId6"/>
    <p:sldId id="277" r:id="rId7"/>
    <p:sldId id="276"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8288000" cy="10287000"/>
  <p:notesSz cx="6858000" cy="9144000"/>
  <p:embeddedFontLst>
    <p:embeddedFont>
      <p:font typeface="Calibri" panose="020F0502020204030204" pitchFamily="34" charset="0"/>
      <p:regular r:id="rId23"/>
      <p:bold r:id="rId24"/>
      <p:italic r:id="rId25"/>
      <p:boldItalic r:id="rId26"/>
    </p:embeddedFont>
    <p:embeddedFont>
      <p:font typeface="Poppins" panose="020B0604020202020204" charset="0"/>
      <p:regular r:id="rId27"/>
    </p:embeddedFont>
    <p:embeddedFont>
      <p:font typeface="Big Shoulders Display" panose="020B0604020202020204" charset="-93"/>
      <p:regular r:id="rId28"/>
    </p:embeddedFont>
    <p:embeddedFont>
      <p:font typeface="Big Shoulders Display Bold" panose="020B0604020202020204" charset="-93"/>
      <p:regular r:id="rId29"/>
    </p:embeddedFont>
    <p:embeddedFont>
      <p:font typeface="Poppins Bold"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8275319-7D83-4BE2-B3FF-72FEFC5CD893}">
          <p14:sldIdLst>
            <p14:sldId id="256"/>
            <p14:sldId id="257"/>
            <p14:sldId id="258"/>
            <p14:sldId id="278"/>
            <p14:sldId id="259"/>
          </p14:sldIdLst>
        </p14:section>
        <p14:section name="Untitled Section" id="{C546E26C-43B2-4321-B0B7-BF3412302674}">
          <p14:sldIdLst>
            <p14:sldId id="277"/>
            <p14:sldId id="276"/>
            <p14:sldId id="261"/>
            <p14:sldId id="262"/>
            <p14:sldId id="263"/>
            <p14:sldId id="264"/>
            <p14:sldId id="265"/>
            <p14:sldId id="266"/>
            <p14:sldId id="267"/>
            <p14:sldId id="268"/>
            <p14:sldId id="269"/>
            <p14:sldId id="270"/>
            <p14:sldId id="271"/>
            <p14:sldId id="272"/>
            <p14:sldId id="273"/>
            <p14:sldId id="27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1" d="100"/>
          <a:sy n="71" d="100"/>
        </p:scale>
        <p:origin x="71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5.fntdata"/><Relationship Id="rId30" Type="http://schemas.openxmlformats.org/officeDocument/2006/relationships/font" Target="fonts/font8.fntdata"/><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646234">
            <a:off x="14249597" y="7258779"/>
            <a:ext cx="3820236" cy="2695003"/>
          </a:xfrm>
          <a:custGeom>
            <a:avLst/>
            <a:gdLst/>
            <a:ahLst/>
            <a:cxnLst/>
            <a:rect l="l" t="t" r="r" b="b"/>
            <a:pathLst>
              <a:path w="3820236" h="2695003">
                <a:moveTo>
                  <a:pt x="0" y="0"/>
                </a:moveTo>
                <a:lnTo>
                  <a:pt x="3820236" y="0"/>
                </a:lnTo>
                <a:lnTo>
                  <a:pt x="3820236" y="2695003"/>
                </a:lnTo>
                <a:lnTo>
                  <a:pt x="0" y="2695003"/>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3" name="Freeform 3"/>
          <p:cNvSpPr/>
          <p:nvPr/>
        </p:nvSpPr>
        <p:spPr>
          <a:xfrm rot="1041331">
            <a:off x="314996" y="7116808"/>
            <a:ext cx="3820236" cy="2695003"/>
          </a:xfrm>
          <a:custGeom>
            <a:avLst/>
            <a:gdLst/>
            <a:ahLst/>
            <a:cxnLst/>
            <a:rect l="l" t="t" r="r" b="b"/>
            <a:pathLst>
              <a:path w="3820236" h="2695003">
                <a:moveTo>
                  <a:pt x="0" y="0"/>
                </a:moveTo>
                <a:lnTo>
                  <a:pt x="3820236" y="0"/>
                </a:lnTo>
                <a:lnTo>
                  <a:pt x="3820236" y="2695002"/>
                </a:lnTo>
                <a:lnTo>
                  <a:pt x="0" y="2695002"/>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4" name="Freeform 4"/>
          <p:cNvSpPr/>
          <p:nvPr/>
        </p:nvSpPr>
        <p:spPr>
          <a:xfrm>
            <a:off x="14510730" y="-4098552"/>
            <a:ext cx="5497139" cy="5497139"/>
          </a:xfrm>
          <a:custGeom>
            <a:avLst/>
            <a:gdLst/>
            <a:ahLst/>
            <a:cxnLst/>
            <a:rect l="l" t="t" r="r" b="b"/>
            <a:pathLst>
              <a:path w="5497139" h="5497139">
                <a:moveTo>
                  <a:pt x="0" y="0"/>
                </a:moveTo>
                <a:lnTo>
                  <a:pt x="5497140" y="0"/>
                </a:lnTo>
                <a:lnTo>
                  <a:pt x="5497140" y="5497139"/>
                </a:lnTo>
                <a:lnTo>
                  <a:pt x="0" y="5497139"/>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5" name="TextBox 5"/>
          <p:cNvSpPr txBox="1"/>
          <p:nvPr/>
        </p:nvSpPr>
        <p:spPr>
          <a:xfrm>
            <a:off x="5161586" y="3990650"/>
            <a:ext cx="8146365" cy="1821176"/>
          </a:xfrm>
          <a:prstGeom prst="rect">
            <a:avLst/>
          </a:prstGeom>
        </p:spPr>
        <p:txBody>
          <a:bodyPr lIns="0" tIns="0" rIns="0" bIns="0" rtlCol="0" anchor="t">
            <a:spAutoFit/>
          </a:bodyPr>
          <a:lstStyle/>
          <a:p>
            <a:pPr algn="ctr">
              <a:lnSpc>
                <a:spcPts val="13177"/>
              </a:lnSpc>
            </a:pPr>
            <a:r>
              <a:rPr lang="en-US" sz="14806" b="1">
                <a:solidFill>
                  <a:srgbClr val="1A1F41"/>
                </a:solidFill>
                <a:latin typeface="Big Shoulders Display Bold"/>
                <a:ea typeface="Big Shoulders Display Bold"/>
                <a:cs typeface="Big Shoulders Display Bold"/>
                <a:sym typeface="Big Shoulders Display Bold"/>
              </a:rPr>
              <a:t>CARO-GAME</a:t>
            </a:r>
          </a:p>
        </p:txBody>
      </p:sp>
      <p:sp>
        <p:nvSpPr>
          <p:cNvPr id="6" name="TextBox 6"/>
          <p:cNvSpPr txBox="1"/>
          <p:nvPr/>
        </p:nvSpPr>
        <p:spPr>
          <a:xfrm>
            <a:off x="6278457" y="8816975"/>
            <a:ext cx="5731086" cy="441325"/>
          </a:xfrm>
          <a:prstGeom prst="rect">
            <a:avLst/>
          </a:prstGeom>
        </p:spPr>
        <p:txBody>
          <a:bodyPr lIns="0" tIns="0" rIns="0" bIns="0" rtlCol="0" anchor="t">
            <a:spAutoFit/>
          </a:bodyPr>
          <a:lstStyle/>
          <a:p>
            <a:pPr algn="ctr">
              <a:lnSpc>
                <a:spcPts val="3499"/>
              </a:lnSpc>
              <a:spcBef>
                <a:spcPct val="0"/>
              </a:spcBef>
            </a:pPr>
            <a:r>
              <a:rPr lang="en-US" sz="2499">
                <a:solidFill>
                  <a:srgbClr val="1A1F41"/>
                </a:solidFill>
                <a:latin typeface="Poppins"/>
                <a:ea typeface="Poppins"/>
                <a:cs typeface="Poppins"/>
                <a:sym typeface="Poppins"/>
              </a:rPr>
              <a:t>NET_GROUP_02-UDM_17</a:t>
            </a:r>
          </a:p>
        </p:txBody>
      </p:sp>
      <p:sp>
        <p:nvSpPr>
          <p:cNvPr id="7" name="Freeform 7"/>
          <p:cNvSpPr/>
          <p:nvPr/>
        </p:nvSpPr>
        <p:spPr>
          <a:xfrm>
            <a:off x="-1722099" y="-4098552"/>
            <a:ext cx="5497139" cy="5497139"/>
          </a:xfrm>
          <a:custGeom>
            <a:avLst/>
            <a:gdLst/>
            <a:ahLst/>
            <a:cxnLst/>
            <a:rect l="l" t="t" r="r" b="b"/>
            <a:pathLst>
              <a:path w="5497139" h="5497139">
                <a:moveTo>
                  <a:pt x="0" y="0"/>
                </a:moveTo>
                <a:lnTo>
                  <a:pt x="5497139" y="0"/>
                </a:lnTo>
                <a:lnTo>
                  <a:pt x="5497139" y="5497139"/>
                </a:lnTo>
                <a:lnTo>
                  <a:pt x="0" y="5497139"/>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646234">
            <a:off x="15349182" y="526870"/>
            <a:ext cx="3820236" cy="2695003"/>
          </a:xfrm>
          <a:custGeom>
            <a:avLst/>
            <a:gdLst/>
            <a:ahLst/>
            <a:cxnLst/>
            <a:rect l="l" t="t" r="r" b="b"/>
            <a:pathLst>
              <a:path w="3820236" h="2695003">
                <a:moveTo>
                  <a:pt x="0" y="0"/>
                </a:moveTo>
                <a:lnTo>
                  <a:pt x="3820236" y="0"/>
                </a:lnTo>
                <a:lnTo>
                  <a:pt x="3820236" y="2695003"/>
                </a:lnTo>
                <a:lnTo>
                  <a:pt x="0" y="2695003"/>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3" name="Freeform 3"/>
          <p:cNvSpPr/>
          <p:nvPr/>
        </p:nvSpPr>
        <p:spPr>
          <a:xfrm rot="1041331">
            <a:off x="15228878" y="8663504"/>
            <a:ext cx="3159718" cy="2229037"/>
          </a:xfrm>
          <a:custGeom>
            <a:avLst/>
            <a:gdLst/>
            <a:ahLst/>
            <a:cxnLst/>
            <a:rect l="l" t="t" r="r" b="b"/>
            <a:pathLst>
              <a:path w="3159718" h="2229037">
                <a:moveTo>
                  <a:pt x="0" y="0"/>
                </a:moveTo>
                <a:lnTo>
                  <a:pt x="3159718" y="0"/>
                </a:lnTo>
                <a:lnTo>
                  <a:pt x="3159718" y="2229037"/>
                </a:lnTo>
                <a:lnTo>
                  <a:pt x="0" y="2229037"/>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4" name="Freeform 4"/>
          <p:cNvSpPr/>
          <p:nvPr/>
        </p:nvSpPr>
        <p:spPr>
          <a:xfrm>
            <a:off x="7044792" y="-4468439"/>
            <a:ext cx="5497139" cy="5497139"/>
          </a:xfrm>
          <a:custGeom>
            <a:avLst/>
            <a:gdLst/>
            <a:ahLst/>
            <a:cxnLst/>
            <a:rect l="l" t="t" r="r" b="b"/>
            <a:pathLst>
              <a:path w="5497139" h="5497139">
                <a:moveTo>
                  <a:pt x="0" y="0"/>
                </a:moveTo>
                <a:lnTo>
                  <a:pt x="5497139" y="0"/>
                </a:lnTo>
                <a:lnTo>
                  <a:pt x="5497139" y="5497139"/>
                </a:lnTo>
                <a:lnTo>
                  <a:pt x="0" y="5497139"/>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5" name="TextBox 5"/>
          <p:cNvSpPr txBox="1"/>
          <p:nvPr/>
        </p:nvSpPr>
        <p:spPr>
          <a:xfrm>
            <a:off x="6877415" y="2818492"/>
            <a:ext cx="2370084" cy="736600"/>
          </a:xfrm>
          <a:prstGeom prst="rect">
            <a:avLst/>
          </a:prstGeom>
        </p:spPr>
        <p:txBody>
          <a:bodyPr lIns="0" tIns="0" rIns="0" bIns="0" rtlCol="0" anchor="t">
            <a:spAutoFit/>
          </a:bodyPr>
          <a:lstStyle/>
          <a:p>
            <a:pPr algn="l">
              <a:lnSpc>
                <a:spcPts val="5750"/>
              </a:lnSpc>
            </a:pPr>
            <a:r>
              <a:rPr lang="en-US" sz="5000" b="1">
                <a:solidFill>
                  <a:srgbClr val="1A1F41"/>
                </a:solidFill>
                <a:latin typeface="Big Shoulders Display Bold"/>
                <a:ea typeface="Big Shoulders Display Bold"/>
                <a:cs typeface="Big Shoulders Display Bold"/>
                <a:sym typeface="Big Shoulders Display Bold"/>
              </a:rPr>
              <a:t>OUR TEAM</a:t>
            </a:r>
          </a:p>
        </p:txBody>
      </p:sp>
      <p:sp>
        <p:nvSpPr>
          <p:cNvPr id="6" name="TextBox 6"/>
          <p:cNvSpPr txBox="1"/>
          <p:nvPr/>
        </p:nvSpPr>
        <p:spPr>
          <a:xfrm>
            <a:off x="5338035" y="3919288"/>
            <a:ext cx="5448843" cy="4051473"/>
          </a:xfrm>
          <a:prstGeom prst="rect">
            <a:avLst/>
          </a:prstGeom>
        </p:spPr>
        <p:txBody>
          <a:bodyPr lIns="0" tIns="0" rIns="0" bIns="0" rtlCol="0" anchor="t">
            <a:spAutoFit/>
          </a:bodyPr>
          <a:lstStyle/>
          <a:p>
            <a:pPr algn="ctr">
              <a:lnSpc>
                <a:spcPts val="5384"/>
              </a:lnSpc>
            </a:pPr>
            <a:r>
              <a:rPr lang="en-US" sz="3846">
                <a:solidFill>
                  <a:srgbClr val="1A1F41"/>
                </a:solidFill>
                <a:latin typeface="Poppins"/>
                <a:ea typeface="Poppins"/>
                <a:cs typeface="Poppins"/>
                <a:sym typeface="Poppins"/>
              </a:rPr>
              <a:t>Lê Hoàng Anh</a:t>
            </a:r>
          </a:p>
          <a:p>
            <a:pPr algn="ctr">
              <a:lnSpc>
                <a:spcPts val="5384"/>
              </a:lnSpc>
            </a:pPr>
            <a:r>
              <a:rPr lang="en-US" sz="3846">
                <a:solidFill>
                  <a:srgbClr val="1A1F41"/>
                </a:solidFill>
                <a:latin typeface="Poppins"/>
                <a:ea typeface="Poppins"/>
                <a:cs typeface="Poppins"/>
                <a:sym typeface="Poppins"/>
              </a:rPr>
              <a:t>Hồ Nguyễn Đăng Khoa</a:t>
            </a:r>
          </a:p>
          <a:p>
            <a:pPr algn="ctr">
              <a:lnSpc>
                <a:spcPts val="5384"/>
              </a:lnSpc>
            </a:pPr>
            <a:r>
              <a:rPr lang="en-US" sz="3846">
                <a:solidFill>
                  <a:srgbClr val="1A1F41"/>
                </a:solidFill>
                <a:latin typeface="Poppins"/>
                <a:ea typeface="Poppins"/>
                <a:cs typeface="Poppins"/>
                <a:sym typeface="Poppins"/>
              </a:rPr>
              <a:t>Lâm Gia An</a:t>
            </a:r>
          </a:p>
          <a:p>
            <a:pPr algn="ctr">
              <a:lnSpc>
                <a:spcPts val="5384"/>
              </a:lnSpc>
            </a:pPr>
            <a:r>
              <a:rPr lang="en-US" sz="3846">
                <a:solidFill>
                  <a:srgbClr val="1A1F41"/>
                </a:solidFill>
                <a:latin typeface="Poppins"/>
                <a:ea typeface="Poppins"/>
                <a:cs typeface="Poppins"/>
                <a:sym typeface="Poppins"/>
              </a:rPr>
              <a:t>Trần Thị Ánh Nguyện</a:t>
            </a:r>
          </a:p>
          <a:p>
            <a:pPr algn="ctr">
              <a:lnSpc>
                <a:spcPts val="5384"/>
              </a:lnSpc>
            </a:pPr>
            <a:r>
              <a:rPr lang="en-US" sz="3846">
                <a:solidFill>
                  <a:srgbClr val="1A1F41"/>
                </a:solidFill>
                <a:latin typeface="Poppins"/>
                <a:ea typeface="Poppins"/>
                <a:cs typeface="Poppins"/>
                <a:sym typeface="Poppins"/>
              </a:rPr>
              <a:t>Nguyễn Trọng Nhân</a:t>
            </a:r>
          </a:p>
          <a:p>
            <a:pPr algn="ctr">
              <a:lnSpc>
                <a:spcPts val="5384"/>
              </a:lnSpc>
              <a:spcBef>
                <a:spcPct val="0"/>
              </a:spcBef>
            </a:pPr>
            <a:endParaRPr lang="en-US" sz="3846">
              <a:solidFill>
                <a:srgbClr val="1A1F41"/>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646234">
            <a:off x="15349182" y="526870"/>
            <a:ext cx="3820236" cy="2695003"/>
          </a:xfrm>
          <a:custGeom>
            <a:avLst/>
            <a:gdLst/>
            <a:ahLst/>
            <a:cxnLst/>
            <a:rect l="l" t="t" r="r" b="b"/>
            <a:pathLst>
              <a:path w="3820236" h="2695003">
                <a:moveTo>
                  <a:pt x="0" y="0"/>
                </a:moveTo>
                <a:lnTo>
                  <a:pt x="3820236" y="0"/>
                </a:lnTo>
                <a:lnTo>
                  <a:pt x="3820236" y="2695003"/>
                </a:lnTo>
                <a:lnTo>
                  <a:pt x="0" y="2695003"/>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3" name="Freeform 3"/>
          <p:cNvSpPr/>
          <p:nvPr/>
        </p:nvSpPr>
        <p:spPr>
          <a:xfrm rot="1041331">
            <a:off x="15228878" y="8663504"/>
            <a:ext cx="3159718" cy="2229037"/>
          </a:xfrm>
          <a:custGeom>
            <a:avLst/>
            <a:gdLst/>
            <a:ahLst/>
            <a:cxnLst/>
            <a:rect l="l" t="t" r="r" b="b"/>
            <a:pathLst>
              <a:path w="3159718" h="2229037">
                <a:moveTo>
                  <a:pt x="0" y="0"/>
                </a:moveTo>
                <a:lnTo>
                  <a:pt x="3159718" y="0"/>
                </a:lnTo>
                <a:lnTo>
                  <a:pt x="3159718" y="2229037"/>
                </a:lnTo>
                <a:lnTo>
                  <a:pt x="0" y="2229037"/>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4" name="Freeform 4"/>
          <p:cNvSpPr/>
          <p:nvPr/>
        </p:nvSpPr>
        <p:spPr>
          <a:xfrm>
            <a:off x="7044792" y="-4468439"/>
            <a:ext cx="5497139" cy="5497139"/>
          </a:xfrm>
          <a:custGeom>
            <a:avLst/>
            <a:gdLst/>
            <a:ahLst/>
            <a:cxnLst/>
            <a:rect l="l" t="t" r="r" b="b"/>
            <a:pathLst>
              <a:path w="5497139" h="5497139">
                <a:moveTo>
                  <a:pt x="0" y="0"/>
                </a:moveTo>
                <a:lnTo>
                  <a:pt x="5497139" y="0"/>
                </a:lnTo>
                <a:lnTo>
                  <a:pt x="5497139" y="5497139"/>
                </a:lnTo>
                <a:lnTo>
                  <a:pt x="0" y="5497139"/>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5" name="Freeform 5"/>
          <p:cNvSpPr/>
          <p:nvPr/>
        </p:nvSpPr>
        <p:spPr>
          <a:xfrm>
            <a:off x="11069156" y="3012167"/>
            <a:ext cx="6101530" cy="4338866"/>
          </a:xfrm>
          <a:custGeom>
            <a:avLst/>
            <a:gdLst/>
            <a:ahLst/>
            <a:cxnLst/>
            <a:rect l="l" t="t" r="r" b="b"/>
            <a:pathLst>
              <a:path w="6101530" h="4338866">
                <a:moveTo>
                  <a:pt x="0" y="0"/>
                </a:moveTo>
                <a:lnTo>
                  <a:pt x="6101530" y="0"/>
                </a:lnTo>
                <a:lnTo>
                  <a:pt x="6101530" y="4338866"/>
                </a:lnTo>
                <a:lnTo>
                  <a:pt x="0" y="4338866"/>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en-US"/>
          </a:p>
        </p:txBody>
      </p:sp>
      <p:sp>
        <p:nvSpPr>
          <p:cNvPr id="6" name="TextBox 6"/>
          <p:cNvSpPr txBox="1"/>
          <p:nvPr/>
        </p:nvSpPr>
        <p:spPr>
          <a:xfrm>
            <a:off x="1227837" y="1513567"/>
            <a:ext cx="3383668" cy="1460500"/>
          </a:xfrm>
          <a:prstGeom prst="rect">
            <a:avLst/>
          </a:prstGeom>
        </p:spPr>
        <p:txBody>
          <a:bodyPr lIns="0" tIns="0" rIns="0" bIns="0" rtlCol="0" anchor="t">
            <a:spAutoFit/>
          </a:bodyPr>
          <a:lstStyle/>
          <a:p>
            <a:pPr algn="l">
              <a:lnSpc>
                <a:spcPts val="5750"/>
              </a:lnSpc>
            </a:pPr>
            <a:r>
              <a:rPr lang="en-US" sz="5000" b="1">
                <a:solidFill>
                  <a:srgbClr val="1A1F41"/>
                </a:solidFill>
                <a:latin typeface="Big Shoulders Display Bold"/>
                <a:ea typeface="Big Shoulders Display Bold"/>
                <a:cs typeface="Big Shoulders Display Bold"/>
                <a:sym typeface="Big Shoulders Display Bold"/>
              </a:rPr>
              <a:t>1.TỔNG QUAN</a:t>
            </a:r>
          </a:p>
          <a:p>
            <a:pPr algn="l">
              <a:lnSpc>
                <a:spcPts val="5750"/>
              </a:lnSpc>
            </a:pPr>
            <a:endParaRPr lang="en-US" sz="5000" b="1">
              <a:solidFill>
                <a:srgbClr val="1A1F41"/>
              </a:solidFill>
              <a:latin typeface="Big Shoulders Display Bold"/>
              <a:ea typeface="Big Shoulders Display Bold"/>
              <a:cs typeface="Big Shoulders Display Bold"/>
              <a:sym typeface="Big Shoulders Display Bold"/>
            </a:endParaRPr>
          </a:p>
        </p:txBody>
      </p:sp>
      <p:sp>
        <p:nvSpPr>
          <p:cNvPr id="7" name="TextBox 7"/>
          <p:cNvSpPr txBox="1"/>
          <p:nvPr/>
        </p:nvSpPr>
        <p:spPr>
          <a:xfrm>
            <a:off x="1503393" y="2878817"/>
            <a:ext cx="8555007" cy="9183283"/>
          </a:xfrm>
          <a:prstGeom prst="rect">
            <a:avLst/>
          </a:prstGeom>
        </p:spPr>
        <p:txBody>
          <a:bodyPr wrap="square" lIns="0" tIns="0" rIns="0" bIns="0" rtlCol="0" anchor="t">
            <a:spAutoFit/>
          </a:bodyPr>
          <a:lstStyle/>
          <a:p>
            <a:pPr marL="457200" indent="-457200" algn="just">
              <a:lnSpc>
                <a:spcPts val="4527"/>
              </a:lnSpc>
              <a:buFont typeface="Courier New" panose="02070309020205020404" pitchFamily="49" charset="0"/>
              <a:buChar char="o"/>
            </a:pPr>
            <a:r>
              <a:rPr lang="en-US" sz="3230" dirty="0">
                <a:solidFill>
                  <a:srgbClr val="1A1F41"/>
                </a:solidFill>
                <a:latin typeface="Arial" panose="020B0604020202020204" pitchFamily="34" charset="0"/>
                <a:ea typeface="Poppins"/>
                <a:cs typeface="Arial" panose="020B0604020202020204" pitchFamily="34" charset="0"/>
                <a:sym typeface="Poppins"/>
              </a:rPr>
              <a:t>Internet </a:t>
            </a:r>
            <a:r>
              <a:rPr lang="en-US" sz="3230" dirty="0" err="1">
                <a:solidFill>
                  <a:srgbClr val="1A1F41"/>
                </a:solidFill>
                <a:latin typeface="Arial" panose="020B0604020202020204" pitchFamily="34" charset="0"/>
                <a:ea typeface="Poppins"/>
                <a:cs typeface="Arial" panose="020B0604020202020204" pitchFamily="34" charset="0"/>
                <a:sym typeface="Poppins"/>
              </a:rPr>
              <a:t>phát</a:t>
            </a:r>
            <a:r>
              <a:rPr lang="en-US" sz="3230" dirty="0">
                <a:solidFill>
                  <a:srgbClr val="1A1F41"/>
                </a:solidFill>
                <a:latin typeface="Arial" panose="020B0604020202020204" pitchFamily="34" charset="0"/>
                <a:ea typeface="Poppins"/>
                <a:cs typeface="Arial" panose="020B0604020202020204" pitchFamily="34" charset="0"/>
                <a:sym typeface="Poppins"/>
              </a:rPr>
              <a:t> </a:t>
            </a:r>
            <a:r>
              <a:rPr lang="en-US" sz="3230" dirty="0" err="1">
                <a:solidFill>
                  <a:srgbClr val="1A1F41"/>
                </a:solidFill>
                <a:latin typeface="Arial" panose="020B0604020202020204" pitchFamily="34" charset="0"/>
                <a:ea typeface="Poppins"/>
                <a:cs typeface="Arial" panose="020B0604020202020204" pitchFamily="34" charset="0"/>
                <a:sym typeface="Poppins"/>
              </a:rPr>
              <a:t>triển</a:t>
            </a:r>
            <a:r>
              <a:rPr lang="en-US" sz="3230" dirty="0">
                <a:solidFill>
                  <a:srgbClr val="1A1F41"/>
                </a:solidFill>
                <a:latin typeface="Arial" panose="020B0604020202020204" pitchFamily="34" charset="0"/>
                <a:ea typeface="Poppins"/>
                <a:cs typeface="Arial" panose="020B0604020202020204" pitchFamily="34" charset="0"/>
                <a:sym typeface="Poppins"/>
              </a:rPr>
              <a:t> → game online </a:t>
            </a:r>
            <a:r>
              <a:rPr lang="en-US" sz="3230" dirty="0" err="1">
                <a:solidFill>
                  <a:srgbClr val="1A1F41"/>
                </a:solidFill>
                <a:latin typeface="Arial" panose="020B0604020202020204" pitchFamily="34" charset="0"/>
                <a:ea typeface="Poppins"/>
                <a:cs typeface="Arial" panose="020B0604020202020204" pitchFamily="34" charset="0"/>
                <a:sym typeface="Poppins"/>
              </a:rPr>
              <a:t>phổ</a:t>
            </a:r>
            <a:r>
              <a:rPr lang="en-US" sz="3230" dirty="0">
                <a:solidFill>
                  <a:srgbClr val="1A1F41"/>
                </a:solidFill>
                <a:latin typeface="Arial" panose="020B0604020202020204" pitchFamily="34" charset="0"/>
                <a:ea typeface="Poppins"/>
                <a:cs typeface="Arial" panose="020B0604020202020204" pitchFamily="34" charset="0"/>
                <a:sym typeface="Poppins"/>
              </a:rPr>
              <a:t> </a:t>
            </a:r>
            <a:r>
              <a:rPr lang="en-US" sz="3230" dirty="0" err="1">
                <a:solidFill>
                  <a:srgbClr val="1A1F41"/>
                </a:solidFill>
                <a:latin typeface="Arial" panose="020B0604020202020204" pitchFamily="34" charset="0"/>
                <a:ea typeface="Poppins"/>
                <a:cs typeface="Arial" panose="020B0604020202020204" pitchFamily="34" charset="0"/>
                <a:sym typeface="Poppins"/>
              </a:rPr>
              <a:t>biến</a:t>
            </a:r>
            <a:endParaRPr lang="en-US" sz="3230" dirty="0">
              <a:solidFill>
                <a:srgbClr val="1A1F41"/>
              </a:solidFill>
              <a:latin typeface="Arial" panose="020B0604020202020204" pitchFamily="34" charset="0"/>
              <a:ea typeface="Poppins"/>
              <a:cs typeface="Arial" panose="020B0604020202020204" pitchFamily="34" charset="0"/>
              <a:sym typeface="Poppins"/>
            </a:endParaRPr>
          </a:p>
          <a:p>
            <a:pPr marL="571500" indent="-571500" algn="just">
              <a:lnSpc>
                <a:spcPts val="4527"/>
              </a:lnSpc>
              <a:buFont typeface="Courier New" panose="02070309020205020404" pitchFamily="49" charset="0"/>
              <a:buChar char="o"/>
            </a:pPr>
            <a:r>
              <a:rPr lang="en-US" sz="3230" dirty="0" err="1">
                <a:latin typeface="Arial" panose="020B0604020202020204" pitchFamily="34" charset="0"/>
                <a:cs typeface="Arial" panose="020B0604020202020204" pitchFamily="34" charset="0"/>
              </a:rPr>
              <a:t>Xây</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dựng</a:t>
            </a:r>
            <a:r>
              <a:rPr lang="en-US" sz="3230" dirty="0">
                <a:latin typeface="Arial" panose="020B0604020202020204" pitchFamily="34" charset="0"/>
                <a:cs typeface="Arial" panose="020B0604020202020204" pitchFamily="34" charset="0"/>
              </a:rPr>
              <a:t> </a:t>
            </a:r>
            <a:r>
              <a:rPr lang="en-US" sz="3230" b="1" dirty="0" err="1">
                <a:latin typeface="Arial" panose="020B0604020202020204" pitchFamily="34" charset="0"/>
                <a:cs typeface="Arial" panose="020B0604020202020204" pitchFamily="34" charset="0"/>
              </a:rPr>
              <a:t>CaroGame</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theo</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mô</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hình</a:t>
            </a:r>
            <a:r>
              <a:rPr lang="en-US" sz="3230" dirty="0">
                <a:latin typeface="Arial" panose="020B0604020202020204" pitchFamily="34" charset="0"/>
                <a:cs typeface="Arial" panose="020B0604020202020204" pitchFamily="34" charset="0"/>
              </a:rPr>
              <a:t> </a:t>
            </a:r>
            <a:r>
              <a:rPr lang="en-US" sz="3230" b="1" dirty="0">
                <a:latin typeface="Arial" panose="020B0604020202020204" pitchFamily="34" charset="0"/>
                <a:cs typeface="Arial" panose="020B0604020202020204" pitchFamily="34" charset="0"/>
              </a:rPr>
              <a:t>Client–Server</a:t>
            </a:r>
            <a:r>
              <a:rPr lang="en-US" sz="3230" dirty="0">
                <a:latin typeface="Arial" panose="020B0604020202020204" pitchFamily="34" charset="0"/>
                <a:cs typeface="Arial" panose="020B0604020202020204" pitchFamily="34" charset="0"/>
              </a:rPr>
              <a:t>. </a:t>
            </a:r>
          </a:p>
          <a:p>
            <a:pPr marL="571500" indent="-571500" algn="just">
              <a:lnSpc>
                <a:spcPts val="4527"/>
              </a:lnSpc>
              <a:buFont typeface="Courier New" panose="02070309020205020404" pitchFamily="49" charset="0"/>
              <a:buChar char="o"/>
            </a:pPr>
            <a:r>
              <a:rPr lang="en-US" sz="3230" dirty="0">
                <a:latin typeface="Arial" panose="020B0604020202020204" pitchFamily="34" charset="0"/>
                <a:cs typeface="Arial" panose="020B0604020202020204" pitchFamily="34" charset="0"/>
              </a:rPr>
              <a:t>Cho </a:t>
            </a:r>
            <a:r>
              <a:rPr lang="en-US" sz="3230" dirty="0" err="1">
                <a:latin typeface="Arial" panose="020B0604020202020204" pitchFamily="34" charset="0"/>
                <a:cs typeface="Arial" panose="020B0604020202020204" pitchFamily="34" charset="0"/>
              </a:rPr>
              <a:t>phép</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nhiều</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người</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chơi</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kết</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nối</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và</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thi</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đấu</a:t>
            </a:r>
            <a:r>
              <a:rPr lang="en-US" sz="3230" dirty="0">
                <a:latin typeface="Arial" panose="020B0604020202020204" pitchFamily="34" charset="0"/>
                <a:cs typeface="Arial" panose="020B0604020202020204" pitchFamily="34" charset="0"/>
              </a:rPr>
              <a:t> qua </a:t>
            </a:r>
            <a:r>
              <a:rPr lang="en-US" sz="3230" dirty="0" err="1">
                <a:latin typeface="Arial" panose="020B0604020202020204" pitchFamily="34" charset="0"/>
                <a:cs typeface="Arial" panose="020B0604020202020204" pitchFamily="34" charset="0"/>
              </a:rPr>
              <a:t>mạng</a:t>
            </a:r>
            <a:r>
              <a:rPr lang="en-US" sz="3230" dirty="0">
                <a:latin typeface="Arial" panose="020B0604020202020204" pitchFamily="34" charset="0"/>
                <a:cs typeface="Arial" panose="020B0604020202020204" pitchFamily="34" charset="0"/>
              </a:rPr>
              <a:t>. </a:t>
            </a:r>
          </a:p>
          <a:p>
            <a:pPr marL="571500" indent="-571500" algn="just">
              <a:lnSpc>
                <a:spcPts val="4527"/>
              </a:lnSpc>
              <a:buFont typeface="Courier New" panose="02070309020205020404" pitchFamily="49" charset="0"/>
              <a:buChar char="o"/>
            </a:pPr>
            <a:r>
              <a:rPr lang="en-US" sz="3230" dirty="0" err="1">
                <a:latin typeface="Arial" panose="020B0604020202020204" pitchFamily="34" charset="0"/>
                <a:cs typeface="Arial" panose="020B0604020202020204" pitchFamily="34" charset="0"/>
              </a:rPr>
              <a:t>Sử</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dụng</a:t>
            </a:r>
            <a:r>
              <a:rPr lang="en-US" sz="3230" dirty="0">
                <a:latin typeface="Arial" panose="020B0604020202020204" pitchFamily="34" charset="0"/>
                <a:cs typeface="Arial" panose="020B0604020202020204" pitchFamily="34" charset="0"/>
              </a:rPr>
              <a:t> </a:t>
            </a:r>
            <a:r>
              <a:rPr lang="en-US" sz="3230" b="1" dirty="0">
                <a:latin typeface="Arial" panose="020B0604020202020204" pitchFamily="34" charset="0"/>
                <a:cs typeface="Arial" panose="020B0604020202020204" pitchFamily="34" charset="0"/>
              </a:rPr>
              <a:t>TCP Socket</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để</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truyền</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và</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đồng</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bộ</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dữ</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liệu</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thời</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gian</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thực</a:t>
            </a:r>
            <a:r>
              <a:rPr lang="en-US" sz="3230" dirty="0">
                <a:latin typeface="Arial" panose="020B0604020202020204" pitchFamily="34" charset="0"/>
                <a:cs typeface="Arial" panose="020B0604020202020204" pitchFamily="34" charset="0"/>
              </a:rPr>
              <a:t>. </a:t>
            </a:r>
          </a:p>
          <a:p>
            <a:pPr marL="571500" indent="-571500" algn="just">
              <a:lnSpc>
                <a:spcPts val="4527"/>
              </a:lnSpc>
              <a:buFont typeface="Courier New" panose="02070309020205020404" pitchFamily="49" charset="0"/>
              <a:buChar char="o"/>
            </a:pPr>
            <a:r>
              <a:rPr lang="en-US" sz="3230" dirty="0" err="1">
                <a:latin typeface="Arial" panose="020B0604020202020204" pitchFamily="34" charset="0"/>
                <a:cs typeface="Arial" panose="020B0604020202020204" pitchFamily="34" charset="0"/>
              </a:rPr>
              <a:t>Áp</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dụng</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lập</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trình</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hướng</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đối</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tượng</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lập</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trình</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mạng</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đa</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luồng</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và</a:t>
            </a:r>
            <a:r>
              <a:rPr lang="en-US" sz="3230" dirty="0">
                <a:latin typeface="Arial" panose="020B0604020202020204" pitchFamily="34" charset="0"/>
                <a:cs typeface="Arial" panose="020B0604020202020204" pitchFamily="34" charset="0"/>
              </a:rPr>
              <a:t> Windows Forms. </a:t>
            </a:r>
          </a:p>
          <a:p>
            <a:pPr marL="571500" indent="-571500" algn="just">
              <a:lnSpc>
                <a:spcPts val="4527"/>
              </a:lnSpc>
              <a:buFont typeface="Courier New" panose="02070309020205020404" pitchFamily="49" charset="0"/>
              <a:buChar char="o"/>
            </a:pPr>
            <a:r>
              <a:rPr lang="en-US" sz="3230" dirty="0" err="1">
                <a:latin typeface="Arial" panose="020B0604020202020204" pitchFamily="34" charset="0"/>
                <a:cs typeface="Arial" panose="020B0604020202020204" pitchFamily="34" charset="0"/>
              </a:rPr>
              <a:t>Hệ</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thống</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có</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khả</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năng</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mở</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rộng</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và</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phát</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triển</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thêm</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nhiều</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tính</a:t>
            </a:r>
            <a:r>
              <a:rPr lang="en-US" sz="3230" dirty="0">
                <a:latin typeface="Arial" panose="020B0604020202020204" pitchFamily="34" charset="0"/>
                <a:cs typeface="Arial" panose="020B0604020202020204" pitchFamily="34" charset="0"/>
              </a:rPr>
              <a:t> </a:t>
            </a:r>
            <a:r>
              <a:rPr lang="en-US" sz="3230" dirty="0" err="1">
                <a:latin typeface="Arial" panose="020B0604020202020204" pitchFamily="34" charset="0"/>
                <a:cs typeface="Arial" panose="020B0604020202020204" pitchFamily="34" charset="0"/>
              </a:rPr>
              <a:t>năng</a:t>
            </a:r>
            <a:r>
              <a:rPr lang="en-US" sz="3230" dirty="0">
                <a:latin typeface="Arial" panose="020B0604020202020204" pitchFamily="34" charset="0"/>
                <a:cs typeface="Arial" panose="020B0604020202020204" pitchFamily="34" charset="0"/>
              </a:rPr>
              <a:t>.</a:t>
            </a:r>
            <a:endParaRPr lang="en-US" sz="3230" dirty="0">
              <a:solidFill>
                <a:srgbClr val="1A1F41"/>
              </a:solidFill>
              <a:latin typeface="Arial" panose="020B0604020202020204" pitchFamily="34" charset="0"/>
              <a:ea typeface="Poppins"/>
              <a:cs typeface="Arial" panose="020B0604020202020204" pitchFamily="34" charset="0"/>
              <a:sym typeface="Poppins"/>
            </a:endParaRPr>
          </a:p>
          <a:p>
            <a:pPr marL="457200" indent="-457200" algn="just">
              <a:lnSpc>
                <a:spcPts val="4527"/>
              </a:lnSpc>
              <a:buFont typeface="Courier New" panose="02070309020205020404" pitchFamily="49" charset="0"/>
              <a:buChar char="o"/>
            </a:pPr>
            <a:endParaRPr lang="en-US" sz="3230" dirty="0">
              <a:solidFill>
                <a:srgbClr val="1A1F41"/>
              </a:solidFill>
              <a:latin typeface="Arial" panose="020B0604020202020204" pitchFamily="34" charset="0"/>
              <a:ea typeface="Poppins"/>
              <a:cs typeface="Arial" panose="020B0604020202020204" pitchFamily="34" charset="0"/>
              <a:sym typeface="Poppins"/>
            </a:endParaRPr>
          </a:p>
          <a:p>
            <a:pPr marL="457200" indent="-457200" algn="just">
              <a:lnSpc>
                <a:spcPts val="4527"/>
              </a:lnSpc>
              <a:buFont typeface="Courier New" panose="02070309020205020404" pitchFamily="49" charset="0"/>
              <a:buChar char="o"/>
            </a:pPr>
            <a:endParaRPr lang="en-US" sz="3230" dirty="0">
              <a:solidFill>
                <a:srgbClr val="1A1F41"/>
              </a:solidFill>
              <a:latin typeface="Arial" panose="020B0604020202020204" pitchFamily="34" charset="0"/>
              <a:ea typeface="Poppins"/>
              <a:cs typeface="Arial" panose="020B0604020202020204" pitchFamily="34" charset="0"/>
              <a:sym typeface="Poppins"/>
            </a:endParaRPr>
          </a:p>
          <a:p>
            <a:pPr marL="457200" indent="-457200" algn="just">
              <a:lnSpc>
                <a:spcPts val="4527"/>
              </a:lnSpc>
              <a:buFont typeface="Courier New" panose="02070309020205020404" pitchFamily="49" charset="0"/>
              <a:buChar char="o"/>
            </a:pPr>
            <a:endParaRPr lang="en-US" sz="3230" dirty="0">
              <a:solidFill>
                <a:srgbClr val="1A1F41"/>
              </a:solidFill>
              <a:latin typeface="Arial" panose="020B0604020202020204" pitchFamily="34" charset="0"/>
              <a:ea typeface="Poppins"/>
              <a:cs typeface="Arial" panose="020B0604020202020204" pitchFamily="34" charset="0"/>
              <a:sym typeface="Poppins"/>
            </a:endParaRPr>
          </a:p>
          <a:p>
            <a:pPr marL="457200" indent="-457200" algn="just">
              <a:lnSpc>
                <a:spcPts val="4527"/>
              </a:lnSpc>
              <a:buFont typeface="Courier New" panose="02070309020205020404" pitchFamily="49" charset="0"/>
              <a:buChar char="o"/>
            </a:pPr>
            <a:endParaRPr lang="en-US" sz="3230" dirty="0">
              <a:solidFill>
                <a:srgbClr val="1A1F41"/>
              </a:solidFill>
              <a:latin typeface="Arial" panose="020B0604020202020204" pitchFamily="34" charset="0"/>
              <a:ea typeface="Poppins"/>
              <a:cs typeface="Arial" panose="020B0604020202020204" pitchFamily="34" charset="0"/>
              <a:sym typeface="Poppins"/>
            </a:endParaRPr>
          </a:p>
          <a:p>
            <a:pPr marL="457200" indent="-457200" algn="ctr">
              <a:lnSpc>
                <a:spcPts val="4527"/>
              </a:lnSpc>
              <a:spcBef>
                <a:spcPct val="0"/>
              </a:spcBef>
              <a:buFont typeface="Courier New" panose="02070309020205020404" pitchFamily="49" charset="0"/>
              <a:buChar char="o"/>
            </a:pPr>
            <a:endParaRPr lang="en-US" sz="3230" dirty="0">
              <a:solidFill>
                <a:srgbClr val="1A1F41"/>
              </a:solidFill>
              <a:latin typeface="Arial" panose="020B0604020202020204" pitchFamily="34" charset="0"/>
              <a:ea typeface="Poppins"/>
              <a:cs typeface="Arial" panose="020B0604020202020204" pitchFamily="34" charset="0"/>
              <a:sym typeface="Poppins"/>
            </a:endParaRPr>
          </a:p>
        </p:txBody>
      </p:sp>
      <p:sp>
        <p:nvSpPr>
          <p:cNvPr id="8" name="TextBox 8"/>
          <p:cNvSpPr txBox="1"/>
          <p:nvPr/>
        </p:nvSpPr>
        <p:spPr>
          <a:xfrm>
            <a:off x="1503393" y="2287464"/>
            <a:ext cx="1817191" cy="1317625"/>
          </a:xfrm>
          <a:prstGeom prst="rect">
            <a:avLst/>
          </a:prstGeom>
        </p:spPr>
        <p:txBody>
          <a:bodyPr lIns="0" tIns="0" rIns="0" bIns="0" rtlCol="0" anchor="t">
            <a:spAutoFit/>
          </a:bodyPr>
          <a:lstStyle/>
          <a:p>
            <a:pPr algn="ctr">
              <a:lnSpc>
                <a:spcPts val="3499"/>
              </a:lnSpc>
            </a:pPr>
            <a:r>
              <a:rPr lang="en-US" sz="2499" dirty="0">
                <a:solidFill>
                  <a:srgbClr val="1A1F41"/>
                </a:solidFill>
                <a:latin typeface="Poppins"/>
                <a:ea typeface="Poppins"/>
                <a:cs typeface="Poppins"/>
                <a:sym typeface="Poppins"/>
              </a:rPr>
              <a:t>1.1 </a:t>
            </a:r>
            <a:r>
              <a:rPr lang="en-US" sz="2499" dirty="0" err="1">
                <a:solidFill>
                  <a:srgbClr val="1A1F41"/>
                </a:solidFill>
                <a:latin typeface="Poppins"/>
                <a:ea typeface="Poppins"/>
                <a:cs typeface="Poppins"/>
                <a:sym typeface="Poppins"/>
              </a:rPr>
              <a:t>Giới</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thiệu</a:t>
            </a:r>
            <a:endParaRPr lang="en-US" sz="2499" dirty="0">
              <a:solidFill>
                <a:srgbClr val="1A1F41"/>
              </a:solidFill>
              <a:latin typeface="Poppins"/>
              <a:ea typeface="Poppins"/>
              <a:cs typeface="Poppins"/>
              <a:sym typeface="Poppins"/>
            </a:endParaRPr>
          </a:p>
          <a:p>
            <a:pPr algn="ctr">
              <a:lnSpc>
                <a:spcPts val="3499"/>
              </a:lnSpc>
            </a:pPr>
            <a:endParaRPr lang="en-US" sz="2499" dirty="0">
              <a:solidFill>
                <a:srgbClr val="1A1F41"/>
              </a:solidFill>
              <a:latin typeface="Poppins"/>
              <a:ea typeface="Poppins"/>
              <a:cs typeface="Poppins"/>
              <a:sym typeface="Poppins"/>
            </a:endParaRPr>
          </a:p>
          <a:p>
            <a:pPr algn="ctr">
              <a:lnSpc>
                <a:spcPts val="3499"/>
              </a:lnSpc>
              <a:spcBef>
                <a:spcPct val="0"/>
              </a:spcBef>
            </a:pPr>
            <a:endParaRPr lang="en-US" sz="2499" dirty="0">
              <a:solidFill>
                <a:srgbClr val="1A1F41"/>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a:extLst>
            <a:ext uri="{FF2B5EF4-FFF2-40B4-BE49-F238E27FC236}">
              <a16:creationId xmlns:a16="http://schemas.microsoft.com/office/drawing/2014/main" id="{4F1C6AC8-A654-3553-B7C8-74398F4D607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10C9C6D-9699-D1EA-8F9B-D408C79798F4}"/>
              </a:ext>
            </a:extLst>
          </p:cNvPr>
          <p:cNvSpPr/>
          <p:nvPr/>
        </p:nvSpPr>
        <p:spPr>
          <a:xfrm rot="-646234">
            <a:off x="15349182" y="526870"/>
            <a:ext cx="3820236" cy="2695003"/>
          </a:xfrm>
          <a:custGeom>
            <a:avLst/>
            <a:gdLst/>
            <a:ahLst/>
            <a:cxnLst/>
            <a:rect l="l" t="t" r="r" b="b"/>
            <a:pathLst>
              <a:path w="3820236" h="2695003">
                <a:moveTo>
                  <a:pt x="0" y="0"/>
                </a:moveTo>
                <a:lnTo>
                  <a:pt x="3820236" y="0"/>
                </a:lnTo>
                <a:lnTo>
                  <a:pt x="3820236" y="2695003"/>
                </a:lnTo>
                <a:lnTo>
                  <a:pt x="0" y="2695003"/>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3" name="Freeform 3">
            <a:extLst>
              <a:ext uri="{FF2B5EF4-FFF2-40B4-BE49-F238E27FC236}">
                <a16:creationId xmlns:a16="http://schemas.microsoft.com/office/drawing/2014/main" id="{AD2B6D95-296A-4A61-9D9D-01A52E0E30C9}"/>
              </a:ext>
            </a:extLst>
          </p:cNvPr>
          <p:cNvSpPr/>
          <p:nvPr/>
        </p:nvSpPr>
        <p:spPr>
          <a:xfrm rot="1041331">
            <a:off x="15228878" y="8663504"/>
            <a:ext cx="3159718" cy="2229037"/>
          </a:xfrm>
          <a:custGeom>
            <a:avLst/>
            <a:gdLst/>
            <a:ahLst/>
            <a:cxnLst/>
            <a:rect l="l" t="t" r="r" b="b"/>
            <a:pathLst>
              <a:path w="3159718" h="2229037">
                <a:moveTo>
                  <a:pt x="0" y="0"/>
                </a:moveTo>
                <a:lnTo>
                  <a:pt x="3159718" y="0"/>
                </a:lnTo>
                <a:lnTo>
                  <a:pt x="3159718" y="2229037"/>
                </a:lnTo>
                <a:lnTo>
                  <a:pt x="0" y="2229037"/>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4" name="Freeform 4">
            <a:extLst>
              <a:ext uri="{FF2B5EF4-FFF2-40B4-BE49-F238E27FC236}">
                <a16:creationId xmlns:a16="http://schemas.microsoft.com/office/drawing/2014/main" id="{5C9D3CB9-9126-857B-6B11-E1DB0214ABA5}"/>
              </a:ext>
            </a:extLst>
          </p:cNvPr>
          <p:cNvSpPr/>
          <p:nvPr/>
        </p:nvSpPr>
        <p:spPr>
          <a:xfrm>
            <a:off x="7044792" y="-4468439"/>
            <a:ext cx="5497139" cy="5497139"/>
          </a:xfrm>
          <a:custGeom>
            <a:avLst/>
            <a:gdLst/>
            <a:ahLst/>
            <a:cxnLst/>
            <a:rect l="l" t="t" r="r" b="b"/>
            <a:pathLst>
              <a:path w="5497139" h="5497139">
                <a:moveTo>
                  <a:pt x="0" y="0"/>
                </a:moveTo>
                <a:lnTo>
                  <a:pt x="5497139" y="0"/>
                </a:lnTo>
                <a:lnTo>
                  <a:pt x="5497139" y="5497139"/>
                </a:lnTo>
                <a:lnTo>
                  <a:pt x="0" y="5497139"/>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5" name="Freeform 5">
            <a:extLst>
              <a:ext uri="{FF2B5EF4-FFF2-40B4-BE49-F238E27FC236}">
                <a16:creationId xmlns:a16="http://schemas.microsoft.com/office/drawing/2014/main" id="{31F42541-0120-5A59-5766-59F4E08C2E3F}"/>
              </a:ext>
            </a:extLst>
          </p:cNvPr>
          <p:cNvSpPr/>
          <p:nvPr/>
        </p:nvSpPr>
        <p:spPr>
          <a:xfrm>
            <a:off x="11069156" y="3012167"/>
            <a:ext cx="6101530" cy="4338866"/>
          </a:xfrm>
          <a:custGeom>
            <a:avLst/>
            <a:gdLst/>
            <a:ahLst/>
            <a:cxnLst/>
            <a:rect l="l" t="t" r="r" b="b"/>
            <a:pathLst>
              <a:path w="6101530" h="4338866">
                <a:moveTo>
                  <a:pt x="0" y="0"/>
                </a:moveTo>
                <a:lnTo>
                  <a:pt x="6101530" y="0"/>
                </a:lnTo>
                <a:lnTo>
                  <a:pt x="6101530" y="4338866"/>
                </a:lnTo>
                <a:lnTo>
                  <a:pt x="0" y="4338866"/>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en-US"/>
          </a:p>
        </p:txBody>
      </p:sp>
      <p:sp>
        <p:nvSpPr>
          <p:cNvPr id="6" name="TextBox 6">
            <a:extLst>
              <a:ext uri="{FF2B5EF4-FFF2-40B4-BE49-F238E27FC236}">
                <a16:creationId xmlns:a16="http://schemas.microsoft.com/office/drawing/2014/main" id="{A5164D2A-1348-71CF-BC70-62CDFFB4E136}"/>
              </a:ext>
            </a:extLst>
          </p:cNvPr>
          <p:cNvSpPr txBox="1"/>
          <p:nvPr/>
        </p:nvSpPr>
        <p:spPr>
          <a:xfrm>
            <a:off x="1227837" y="1513567"/>
            <a:ext cx="3383668" cy="1460500"/>
          </a:xfrm>
          <a:prstGeom prst="rect">
            <a:avLst/>
          </a:prstGeom>
        </p:spPr>
        <p:txBody>
          <a:bodyPr lIns="0" tIns="0" rIns="0" bIns="0" rtlCol="0" anchor="t">
            <a:spAutoFit/>
          </a:bodyPr>
          <a:lstStyle/>
          <a:p>
            <a:pPr algn="l">
              <a:lnSpc>
                <a:spcPts val="5750"/>
              </a:lnSpc>
            </a:pPr>
            <a:r>
              <a:rPr lang="en-US" sz="5000" b="1">
                <a:solidFill>
                  <a:srgbClr val="1A1F41"/>
                </a:solidFill>
                <a:latin typeface="Big Shoulders Display Bold"/>
                <a:ea typeface="Big Shoulders Display Bold"/>
                <a:cs typeface="Big Shoulders Display Bold"/>
                <a:sym typeface="Big Shoulders Display Bold"/>
              </a:rPr>
              <a:t>1.TỔNG QUAN</a:t>
            </a:r>
          </a:p>
          <a:p>
            <a:pPr algn="l">
              <a:lnSpc>
                <a:spcPts val="5750"/>
              </a:lnSpc>
            </a:pPr>
            <a:endParaRPr lang="en-US" sz="5000" b="1">
              <a:solidFill>
                <a:srgbClr val="1A1F41"/>
              </a:solidFill>
              <a:latin typeface="Big Shoulders Display Bold"/>
              <a:ea typeface="Big Shoulders Display Bold"/>
              <a:cs typeface="Big Shoulders Display Bold"/>
              <a:sym typeface="Big Shoulders Display Bold"/>
            </a:endParaRPr>
          </a:p>
        </p:txBody>
      </p:sp>
      <p:sp>
        <p:nvSpPr>
          <p:cNvPr id="7" name="TextBox 7">
            <a:extLst>
              <a:ext uri="{FF2B5EF4-FFF2-40B4-BE49-F238E27FC236}">
                <a16:creationId xmlns:a16="http://schemas.microsoft.com/office/drawing/2014/main" id="{3CEAB1EE-AD4F-B08F-1554-A16C61B7C32C}"/>
              </a:ext>
            </a:extLst>
          </p:cNvPr>
          <p:cNvSpPr txBox="1"/>
          <p:nvPr/>
        </p:nvSpPr>
        <p:spPr>
          <a:xfrm>
            <a:off x="1227837" y="3164907"/>
            <a:ext cx="8906763" cy="5154553"/>
          </a:xfrm>
          <a:prstGeom prst="rect">
            <a:avLst/>
          </a:prstGeom>
        </p:spPr>
        <p:txBody>
          <a:bodyPr wrap="square" lIns="0" tIns="0" rIns="0" bIns="0" rtlCol="0" anchor="t">
            <a:spAutoFit/>
          </a:bodyPr>
          <a:lstStyle/>
          <a:p>
            <a:pPr marL="571500" indent="-571500" algn="just">
              <a:lnSpc>
                <a:spcPts val="4527"/>
              </a:lnSpc>
              <a:buFont typeface="Courier New" panose="02070309020205020404" pitchFamily="49" charset="0"/>
              <a:buChar char="o"/>
            </a:pPr>
            <a:r>
              <a:rPr lang="en-US" sz="3600" dirty="0">
                <a:latin typeface="Arial" panose="020B0604020202020204" pitchFamily="34" charset="0"/>
                <a:cs typeface="Arial" panose="020B0604020202020204" pitchFamily="34" charset="0"/>
              </a:rPr>
              <a:t>Game Caro </a:t>
            </a:r>
            <a:r>
              <a:rPr lang="en-US" sz="3600" dirty="0" err="1">
                <a:latin typeface="Arial" panose="020B0604020202020204" pitchFamily="34" charset="0"/>
                <a:cs typeface="Arial" panose="020B0604020202020204" pitchFamily="34" charset="0"/>
              </a:rPr>
              <a:t>là</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trò</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chơi</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quen</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thuộc</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phù</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hợp</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để</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triển</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khai</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trên</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mạng</a:t>
            </a:r>
            <a:r>
              <a:rPr lang="en-US" sz="3600" dirty="0">
                <a:latin typeface="Arial" panose="020B0604020202020204" pitchFamily="34" charset="0"/>
                <a:cs typeface="Arial" panose="020B0604020202020204" pitchFamily="34" charset="0"/>
              </a:rPr>
              <a:t>. </a:t>
            </a:r>
          </a:p>
          <a:p>
            <a:pPr marL="571500" indent="-571500" algn="just">
              <a:lnSpc>
                <a:spcPts val="4527"/>
              </a:lnSpc>
              <a:buFont typeface="Courier New" panose="02070309020205020404" pitchFamily="49" charset="0"/>
              <a:buChar char="o"/>
            </a:pPr>
            <a:r>
              <a:rPr lang="en-US" sz="3600" dirty="0" err="1">
                <a:latin typeface="Arial" panose="020B0604020202020204" pitchFamily="34" charset="0"/>
                <a:cs typeface="Arial" panose="020B0604020202020204" pitchFamily="34" charset="0"/>
              </a:rPr>
              <a:t>Áp</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dụng</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kiến</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thức</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về</a:t>
            </a:r>
            <a:r>
              <a:rPr lang="en-US" sz="3600" dirty="0">
                <a:latin typeface="Arial" panose="020B0604020202020204" pitchFamily="34" charset="0"/>
                <a:cs typeface="Arial" panose="020B0604020202020204" pitchFamily="34" charset="0"/>
              </a:rPr>
              <a:t> </a:t>
            </a:r>
            <a:r>
              <a:rPr lang="en-US" sz="3600" b="1" dirty="0">
                <a:latin typeface="Arial" panose="020B0604020202020204" pitchFamily="34" charset="0"/>
                <a:cs typeface="Arial" panose="020B0604020202020204" pitchFamily="34" charset="0"/>
              </a:rPr>
              <a:t>TCP Socket, Client–Server, JSON </a:t>
            </a:r>
            <a:r>
              <a:rPr lang="en-US" sz="3600" b="1" dirty="0" err="1">
                <a:latin typeface="Arial" panose="020B0604020202020204" pitchFamily="34" charset="0"/>
                <a:cs typeface="Arial" panose="020B0604020202020204" pitchFamily="34" charset="0"/>
              </a:rPr>
              <a:t>và</a:t>
            </a:r>
            <a:r>
              <a:rPr lang="en-US" sz="3600" b="1" dirty="0">
                <a:latin typeface="Arial" panose="020B0604020202020204" pitchFamily="34" charset="0"/>
                <a:cs typeface="Arial" panose="020B0604020202020204" pitchFamily="34" charset="0"/>
              </a:rPr>
              <a:t> </a:t>
            </a:r>
            <a:r>
              <a:rPr lang="en-US" sz="3600" b="1" dirty="0" err="1">
                <a:latin typeface="Arial" panose="020B0604020202020204" pitchFamily="34" charset="0"/>
                <a:cs typeface="Arial" panose="020B0604020202020204" pitchFamily="34" charset="0"/>
              </a:rPr>
              <a:t>đa</a:t>
            </a:r>
            <a:r>
              <a:rPr lang="en-US" sz="3600" b="1" dirty="0">
                <a:latin typeface="Arial" panose="020B0604020202020204" pitchFamily="34" charset="0"/>
                <a:cs typeface="Arial" panose="020B0604020202020204" pitchFamily="34" charset="0"/>
              </a:rPr>
              <a:t> </a:t>
            </a:r>
            <a:r>
              <a:rPr lang="en-US" sz="3600" b="1" dirty="0" err="1">
                <a:latin typeface="Arial" panose="020B0604020202020204" pitchFamily="34" charset="0"/>
                <a:cs typeface="Arial" panose="020B0604020202020204" pitchFamily="34" charset="0"/>
              </a:rPr>
              <a:t>luồng</a:t>
            </a:r>
            <a:r>
              <a:rPr lang="en-US" sz="3600" dirty="0">
                <a:latin typeface="Arial" panose="020B0604020202020204" pitchFamily="34" charset="0"/>
                <a:cs typeface="Arial" panose="020B0604020202020204" pitchFamily="34" charset="0"/>
              </a:rPr>
              <a:t>. </a:t>
            </a:r>
          </a:p>
          <a:p>
            <a:pPr marL="571500" indent="-571500" algn="just">
              <a:lnSpc>
                <a:spcPts val="4527"/>
              </a:lnSpc>
              <a:buFont typeface="Courier New" panose="02070309020205020404" pitchFamily="49" charset="0"/>
              <a:buChar char="o"/>
            </a:pPr>
            <a:r>
              <a:rPr lang="en-US" sz="3600" dirty="0">
                <a:latin typeface="Arial" panose="020B0604020202020204" pitchFamily="34" charset="0"/>
                <a:cs typeface="Arial" panose="020B0604020202020204" pitchFamily="34" charset="0"/>
              </a:rPr>
              <a:t>Rèn </a:t>
            </a:r>
            <a:r>
              <a:rPr lang="en-US" sz="3600" dirty="0" err="1">
                <a:latin typeface="Arial" panose="020B0604020202020204" pitchFamily="34" charset="0"/>
                <a:cs typeface="Arial" panose="020B0604020202020204" pitchFamily="34" charset="0"/>
              </a:rPr>
              <a:t>luyện</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kỹ</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năng</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phân</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tích</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thiết</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kế</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và</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phát</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triển</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phần</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mềm</a:t>
            </a:r>
            <a:r>
              <a:rPr lang="en-US" sz="3600" dirty="0">
                <a:latin typeface="Arial" panose="020B0604020202020204" pitchFamily="34" charset="0"/>
                <a:cs typeface="Arial" panose="020B0604020202020204" pitchFamily="34" charset="0"/>
              </a:rPr>
              <a:t>. </a:t>
            </a:r>
          </a:p>
          <a:p>
            <a:pPr marL="571500" indent="-571500" algn="just">
              <a:lnSpc>
                <a:spcPts val="4527"/>
              </a:lnSpc>
              <a:buFont typeface="Courier New" panose="02070309020205020404" pitchFamily="49" charset="0"/>
              <a:buChar char="o"/>
            </a:pPr>
            <a:r>
              <a:rPr lang="en-US" sz="3600" dirty="0" err="1">
                <a:latin typeface="Arial" panose="020B0604020202020204" pitchFamily="34" charset="0"/>
                <a:cs typeface="Arial" panose="020B0604020202020204" pitchFamily="34" charset="0"/>
              </a:rPr>
              <a:t>Có</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thể</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mở</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rộng</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thêm</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tài</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khoản</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bảng</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xếp</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hạng</a:t>
            </a:r>
            <a:r>
              <a:rPr lang="en-US" sz="3600" dirty="0">
                <a:latin typeface="Arial" panose="020B0604020202020204" pitchFamily="34" charset="0"/>
                <a:cs typeface="Arial" panose="020B0604020202020204" pitchFamily="34" charset="0"/>
              </a:rPr>
              <a:t>, chat, AI </a:t>
            </a:r>
            <a:r>
              <a:rPr lang="en-US" sz="3600" dirty="0" err="1">
                <a:latin typeface="Arial" panose="020B0604020202020204" pitchFamily="34" charset="0"/>
                <a:cs typeface="Arial" panose="020B0604020202020204" pitchFamily="34" charset="0"/>
              </a:rPr>
              <a:t>và</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phiên</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bản</a:t>
            </a:r>
            <a:r>
              <a:rPr lang="en-US" sz="3600" dirty="0">
                <a:latin typeface="Arial" panose="020B0604020202020204" pitchFamily="34" charset="0"/>
                <a:cs typeface="Arial" panose="020B0604020202020204" pitchFamily="34" charset="0"/>
              </a:rPr>
              <a:t> Web/Mobile.</a:t>
            </a:r>
            <a:endParaRPr lang="en-US" sz="3234" dirty="0">
              <a:solidFill>
                <a:srgbClr val="1A1F41"/>
              </a:solidFill>
              <a:latin typeface="Arial" panose="020B0604020202020204" pitchFamily="34" charset="0"/>
              <a:ea typeface="Poppins"/>
              <a:cs typeface="Arial" panose="020B0604020202020204" pitchFamily="34" charset="0"/>
              <a:sym typeface="Poppins"/>
            </a:endParaRPr>
          </a:p>
        </p:txBody>
      </p:sp>
      <p:sp>
        <p:nvSpPr>
          <p:cNvPr id="8" name="TextBox 8">
            <a:extLst>
              <a:ext uri="{FF2B5EF4-FFF2-40B4-BE49-F238E27FC236}">
                <a16:creationId xmlns:a16="http://schemas.microsoft.com/office/drawing/2014/main" id="{13D49689-5203-E9DC-B681-5882C3E6F71D}"/>
              </a:ext>
            </a:extLst>
          </p:cNvPr>
          <p:cNvSpPr txBox="1"/>
          <p:nvPr/>
        </p:nvSpPr>
        <p:spPr>
          <a:xfrm>
            <a:off x="1503393" y="2287464"/>
            <a:ext cx="3383668" cy="875176"/>
          </a:xfrm>
          <a:prstGeom prst="rect">
            <a:avLst/>
          </a:prstGeom>
        </p:spPr>
        <p:txBody>
          <a:bodyPr wrap="square" lIns="0" tIns="0" rIns="0" bIns="0" rtlCol="0" anchor="t">
            <a:spAutoFit/>
          </a:bodyPr>
          <a:lstStyle/>
          <a:p>
            <a:pPr algn="ctr">
              <a:lnSpc>
                <a:spcPts val="3499"/>
              </a:lnSpc>
            </a:pPr>
            <a:r>
              <a:rPr lang="en-US" sz="2499" dirty="0">
                <a:solidFill>
                  <a:srgbClr val="1A1F41"/>
                </a:solidFill>
                <a:latin typeface="Poppins"/>
                <a:ea typeface="Poppins"/>
                <a:cs typeface="Poppins"/>
                <a:sym typeface="Poppins"/>
              </a:rPr>
              <a:t>1.2. Lý do </a:t>
            </a:r>
            <a:r>
              <a:rPr lang="en-US" sz="2499" dirty="0" err="1">
                <a:solidFill>
                  <a:srgbClr val="1A1F41"/>
                </a:solidFill>
                <a:latin typeface="Poppins"/>
                <a:ea typeface="Poppins"/>
                <a:cs typeface="Poppins"/>
                <a:sym typeface="Poppins"/>
              </a:rPr>
              <a:t>chọn</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đề</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tài</a:t>
            </a:r>
            <a:endParaRPr lang="en-US" sz="2499" dirty="0">
              <a:solidFill>
                <a:srgbClr val="1A1F41"/>
              </a:solidFill>
              <a:latin typeface="Poppins"/>
              <a:ea typeface="Poppins"/>
              <a:cs typeface="Poppins"/>
              <a:sym typeface="Poppins"/>
            </a:endParaRPr>
          </a:p>
          <a:p>
            <a:pPr algn="ctr">
              <a:lnSpc>
                <a:spcPts val="3499"/>
              </a:lnSpc>
              <a:spcBef>
                <a:spcPct val="0"/>
              </a:spcBef>
            </a:pPr>
            <a:endParaRPr lang="en-US" sz="2499" dirty="0">
              <a:solidFill>
                <a:srgbClr val="1A1F41"/>
              </a:solidFill>
              <a:latin typeface="Poppins"/>
              <a:ea typeface="Poppins"/>
              <a:cs typeface="Poppins"/>
              <a:sym typeface="Poppins"/>
            </a:endParaRPr>
          </a:p>
        </p:txBody>
      </p:sp>
    </p:spTree>
    <p:extLst>
      <p:ext uri="{BB962C8B-B14F-4D97-AF65-F5344CB8AC3E}">
        <p14:creationId xmlns:p14="http://schemas.microsoft.com/office/powerpoint/2010/main" val="577771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646234">
            <a:off x="15349182" y="526870"/>
            <a:ext cx="3820236" cy="2695003"/>
          </a:xfrm>
          <a:custGeom>
            <a:avLst/>
            <a:gdLst/>
            <a:ahLst/>
            <a:cxnLst/>
            <a:rect l="l" t="t" r="r" b="b"/>
            <a:pathLst>
              <a:path w="3820236" h="2695003">
                <a:moveTo>
                  <a:pt x="0" y="0"/>
                </a:moveTo>
                <a:lnTo>
                  <a:pt x="3820236" y="0"/>
                </a:lnTo>
                <a:lnTo>
                  <a:pt x="3820236" y="2695003"/>
                </a:lnTo>
                <a:lnTo>
                  <a:pt x="0" y="2695003"/>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3" name="Freeform 3"/>
          <p:cNvSpPr/>
          <p:nvPr/>
        </p:nvSpPr>
        <p:spPr>
          <a:xfrm rot="1041331">
            <a:off x="15228878" y="8663504"/>
            <a:ext cx="3159718" cy="2229037"/>
          </a:xfrm>
          <a:custGeom>
            <a:avLst/>
            <a:gdLst/>
            <a:ahLst/>
            <a:cxnLst/>
            <a:rect l="l" t="t" r="r" b="b"/>
            <a:pathLst>
              <a:path w="3159718" h="2229037">
                <a:moveTo>
                  <a:pt x="0" y="0"/>
                </a:moveTo>
                <a:lnTo>
                  <a:pt x="3159718" y="0"/>
                </a:lnTo>
                <a:lnTo>
                  <a:pt x="3159718" y="2229037"/>
                </a:lnTo>
                <a:lnTo>
                  <a:pt x="0" y="2229037"/>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4" name="Freeform 4"/>
          <p:cNvSpPr/>
          <p:nvPr/>
        </p:nvSpPr>
        <p:spPr>
          <a:xfrm>
            <a:off x="7044792" y="-4468439"/>
            <a:ext cx="5497139" cy="5497139"/>
          </a:xfrm>
          <a:custGeom>
            <a:avLst/>
            <a:gdLst/>
            <a:ahLst/>
            <a:cxnLst/>
            <a:rect l="l" t="t" r="r" b="b"/>
            <a:pathLst>
              <a:path w="5497139" h="5497139">
                <a:moveTo>
                  <a:pt x="0" y="0"/>
                </a:moveTo>
                <a:lnTo>
                  <a:pt x="5497139" y="0"/>
                </a:lnTo>
                <a:lnTo>
                  <a:pt x="5497139" y="5497139"/>
                </a:lnTo>
                <a:lnTo>
                  <a:pt x="0" y="5497139"/>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5" name="Freeform 5"/>
          <p:cNvSpPr/>
          <p:nvPr/>
        </p:nvSpPr>
        <p:spPr>
          <a:xfrm>
            <a:off x="10098966" y="2974067"/>
            <a:ext cx="6101530" cy="4338866"/>
          </a:xfrm>
          <a:custGeom>
            <a:avLst/>
            <a:gdLst/>
            <a:ahLst/>
            <a:cxnLst/>
            <a:rect l="l" t="t" r="r" b="b"/>
            <a:pathLst>
              <a:path w="6101530" h="4338866">
                <a:moveTo>
                  <a:pt x="0" y="0"/>
                </a:moveTo>
                <a:lnTo>
                  <a:pt x="6101530" y="0"/>
                </a:lnTo>
                <a:lnTo>
                  <a:pt x="6101530" y="4338866"/>
                </a:lnTo>
                <a:lnTo>
                  <a:pt x="0" y="4338866"/>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en-US"/>
          </a:p>
        </p:txBody>
      </p:sp>
      <p:sp>
        <p:nvSpPr>
          <p:cNvPr id="6" name="TextBox 6"/>
          <p:cNvSpPr txBox="1"/>
          <p:nvPr/>
        </p:nvSpPr>
        <p:spPr>
          <a:xfrm>
            <a:off x="1227837" y="1513567"/>
            <a:ext cx="3383668" cy="1460500"/>
          </a:xfrm>
          <a:prstGeom prst="rect">
            <a:avLst/>
          </a:prstGeom>
        </p:spPr>
        <p:txBody>
          <a:bodyPr lIns="0" tIns="0" rIns="0" bIns="0" rtlCol="0" anchor="t">
            <a:spAutoFit/>
          </a:bodyPr>
          <a:lstStyle/>
          <a:p>
            <a:pPr algn="l">
              <a:lnSpc>
                <a:spcPts val="5750"/>
              </a:lnSpc>
            </a:pPr>
            <a:r>
              <a:rPr lang="en-US" sz="5000" b="1">
                <a:solidFill>
                  <a:srgbClr val="1A1F41"/>
                </a:solidFill>
                <a:latin typeface="Big Shoulders Display Bold"/>
                <a:ea typeface="Big Shoulders Display Bold"/>
                <a:cs typeface="Big Shoulders Display Bold"/>
                <a:sym typeface="Big Shoulders Display Bold"/>
              </a:rPr>
              <a:t>1.TỔNG QUAN</a:t>
            </a:r>
          </a:p>
          <a:p>
            <a:pPr algn="l">
              <a:lnSpc>
                <a:spcPts val="5750"/>
              </a:lnSpc>
            </a:pPr>
            <a:endParaRPr lang="en-US" sz="5000" b="1">
              <a:solidFill>
                <a:srgbClr val="1A1F41"/>
              </a:solidFill>
              <a:latin typeface="Big Shoulders Display Bold"/>
              <a:ea typeface="Big Shoulders Display Bold"/>
              <a:cs typeface="Big Shoulders Display Bold"/>
              <a:sym typeface="Big Shoulders Display Bold"/>
            </a:endParaRPr>
          </a:p>
        </p:txBody>
      </p:sp>
      <p:sp>
        <p:nvSpPr>
          <p:cNvPr id="7" name="TextBox 7"/>
          <p:cNvSpPr txBox="1"/>
          <p:nvPr/>
        </p:nvSpPr>
        <p:spPr>
          <a:xfrm>
            <a:off x="1334716" y="2974067"/>
            <a:ext cx="8571284" cy="6231771"/>
          </a:xfrm>
          <a:prstGeom prst="rect">
            <a:avLst/>
          </a:prstGeom>
        </p:spPr>
        <p:txBody>
          <a:bodyPr wrap="square" lIns="0" tIns="0" rIns="0" bIns="0" rtlCol="0" anchor="t">
            <a:spAutoFit/>
          </a:bodyPr>
          <a:lstStyle/>
          <a:p>
            <a:pPr marL="571500" indent="-571500" algn="just">
              <a:lnSpc>
                <a:spcPts val="4922"/>
              </a:lnSpc>
              <a:buFont typeface="Courier New" panose="02070309020205020404" pitchFamily="49" charset="0"/>
              <a:buChar char="o"/>
            </a:pPr>
            <a:r>
              <a:rPr lang="en-US" sz="3600" dirty="0" err="1">
                <a:latin typeface="Arial" panose="020B0604020202020204" pitchFamily="34" charset="0"/>
                <a:cs typeface="Arial" panose="020B0604020202020204" pitchFamily="34" charset="0"/>
              </a:rPr>
              <a:t>Xây</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dựng</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hệ</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thống</a:t>
            </a:r>
            <a:r>
              <a:rPr lang="en-US" sz="3600" dirty="0">
                <a:latin typeface="Arial" panose="020B0604020202020204" pitchFamily="34" charset="0"/>
                <a:cs typeface="Arial" panose="020B0604020202020204" pitchFamily="34" charset="0"/>
              </a:rPr>
              <a:t> Game Caro </a:t>
            </a:r>
            <a:r>
              <a:rPr lang="en-US" sz="3600" dirty="0" err="1">
                <a:latin typeface="Arial" panose="020B0604020202020204" pitchFamily="34" charset="0"/>
                <a:cs typeface="Arial" panose="020B0604020202020204" pitchFamily="34" charset="0"/>
              </a:rPr>
              <a:t>theo</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mô</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hình</a:t>
            </a:r>
            <a:r>
              <a:rPr lang="en-US" sz="3600" dirty="0">
                <a:latin typeface="Arial" panose="020B0604020202020204" pitchFamily="34" charset="0"/>
                <a:cs typeface="Arial" panose="020B0604020202020204" pitchFamily="34" charset="0"/>
              </a:rPr>
              <a:t> </a:t>
            </a:r>
            <a:r>
              <a:rPr lang="en-US" sz="3600" b="1" dirty="0">
                <a:latin typeface="Arial" panose="020B0604020202020204" pitchFamily="34" charset="0"/>
                <a:cs typeface="Arial" panose="020B0604020202020204" pitchFamily="34" charset="0"/>
              </a:rPr>
              <a:t>Client–Server</a:t>
            </a:r>
            <a:r>
              <a:rPr lang="en-US" sz="3600" dirty="0">
                <a:latin typeface="Arial" panose="020B0604020202020204" pitchFamily="34" charset="0"/>
                <a:cs typeface="Arial" panose="020B0604020202020204" pitchFamily="34" charset="0"/>
              </a:rPr>
              <a:t>. </a:t>
            </a:r>
          </a:p>
          <a:p>
            <a:pPr marL="571500" indent="-571500" algn="just">
              <a:lnSpc>
                <a:spcPts val="4922"/>
              </a:lnSpc>
              <a:buFont typeface="Courier New" panose="02070309020205020404" pitchFamily="49" charset="0"/>
              <a:buChar char="o"/>
            </a:pPr>
            <a:r>
              <a:rPr lang="en-US" sz="3600" dirty="0" err="1">
                <a:latin typeface="Arial" panose="020B0604020202020204" pitchFamily="34" charset="0"/>
                <a:cs typeface="Arial" panose="020B0604020202020204" pitchFamily="34" charset="0"/>
              </a:rPr>
              <a:t>Hỗ</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trợ</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đăng</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nhập</a:t>
            </a:r>
            <a:r>
              <a:rPr lang="en-US" sz="3600" dirty="0">
                <a:latin typeface="Arial" panose="020B0604020202020204" pitchFamily="34" charset="0"/>
                <a:cs typeface="Arial" panose="020B0604020202020204" pitchFamily="34" charset="0"/>
              </a:rPr>
              <a:t>, Lobby, </a:t>
            </a:r>
            <a:r>
              <a:rPr lang="en-US" sz="3600" dirty="0" err="1">
                <a:latin typeface="Arial" panose="020B0604020202020204" pitchFamily="34" charset="0"/>
                <a:cs typeface="Arial" panose="020B0604020202020204" pitchFamily="34" charset="0"/>
              </a:rPr>
              <a:t>ghép</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cặp</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và</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tạo</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phòng</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chơi</a:t>
            </a:r>
            <a:r>
              <a:rPr lang="en-US" sz="3600" dirty="0">
                <a:latin typeface="Arial" panose="020B0604020202020204" pitchFamily="34" charset="0"/>
                <a:cs typeface="Arial" panose="020B0604020202020204" pitchFamily="34" charset="0"/>
              </a:rPr>
              <a:t>. </a:t>
            </a:r>
          </a:p>
          <a:p>
            <a:pPr marL="571500" indent="-571500" algn="just">
              <a:lnSpc>
                <a:spcPts val="4922"/>
              </a:lnSpc>
              <a:buFont typeface="Courier New" panose="02070309020205020404" pitchFamily="49" charset="0"/>
              <a:buChar char="o"/>
            </a:pPr>
            <a:r>
              <a:rPr lang="en-US" sz="3600" dirty="0" err="1">
                <a:latin typeface="Arial" panose="020B0604020202020204" pitchFamily="34" charset="0"/>
                <a:cs typeface="Arial" panose="020B0604020202020204" pitchFamily="34" charset="0"/>
              </a:rPr>
              <a:t>Đồng</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bộ</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bàn</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cờ</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và</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xử</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lý</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dữ</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liệu</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theo</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thời</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gian</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thực</a:t>
            </a:r>
            <a:r>
              <a:rPr lang="en-US" sz="3600" dirty="0">
                <a:latin typeface="Arial" panose="020B0604020202020204" pitchFamily="34" charset="0"/>
                <a:cs typeface="Arial" panose="020B0604020202020204" pitchFamily="34" charset="0"/>
              </a:rPr>
              <a:t>. </a:t>
            </a:r>
          </a:p>
          <a:p>
            <a:pPr marL="571500" indent="-571500" algn="just">
              <a:lnSpc>
                <a:spcPts val="4922"/>
              </a:lnSpc>
              <a:buFont typeface="Courier New" panose="02070309020205020404" pitchFamily="49" charset="0"/>
              <a:buChar char="o"/>
            </a:pPr>
            <a:r>
              <a:rPr lang="en-US" sz="3600" dirty="0" err="1">
                <a:latin typeface="Arial" panose="020B0604020202020204" pitchFamily="34" charset="0"/>
                <a:cs typeface="Arial" panose="020B0604020202020204" pitchFamily="34" charset="0"/>
              </a:rPr>
              <a:t>Xây</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dựng</a:t>
            </a:r>
            <a:r>
              <a:rPr lang="en-US" sz="3600" dirty="0">
                <a:latin typeface="Arial" panose="020B0604020202020204" pitchFamily="34" charset="0"/>
                <a:cs typeface="Arial" panose="020B0604020202020204" pitchFamily="34" charset="0"/>
              </a:rPr>
              <a:t> Game Logic </a:t>
            </a:r>
            <a:r>
              <a:rPr lang="en-US" sz="3600" dirty="0" err="1">
                <a:latin typeface="Arial" panose="020B0604020202020204" pitchFamily="34" charset="0"/>
                <a:cs typeface="Arial" panose="020B0604020202020204" pitchFamily="34" charset="0"/>
              </a:rPr>
              <a:t>quản</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lý</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lượt</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chơi</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và</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xác</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định</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thắng</a:t>
            </a:r>
            <a:r>
              <a:rPr lang="en-US" sz="3600" dirty="0">
                <a:latin typeface="Arial" panose="020B0604020202020204" pitchFamily="34" charset="0"/>
                <a:cs typeface="Arial" panose="020B0604020202020204" pitchFamily="34" charset="0"/>
              </a:rPr>
              <a:t>/</a:t>
            </a:r>
            <a:r>
              <a:rPr lang="en-US" sz="3600" dirty="0" err="1">
                <a:latin typeface="Arial" panose="020B0604020202020204" pitchFamily="34" charset="0"/>
                <a:cs typeface="Arial" panose="020B0604020202020204" pitchFamily="34" charset="0"/>
              </a:rPr>
              <a:t>thua</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Thiết</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kế</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hệ</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thống</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dễ</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bảo</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trì</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và</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dễ</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mở</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rộng</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trong</a:t>
            </a:r>
            <a:r>
              <a:rPr lang="en-US" sz="3600" dirty="0">
                <a:latin typeface="Arial" panose="020B0604020202020204" pitchFamily="34" charset="0"/>
                <a:cs typeface="Arial" panose="020B0604020202020204" pitchFamily="34" charset="0"/>
              </a:rPr>
              <a:t> </a:t>
            </a:r>
            <a:r>
              <a:rPr lang="en-US" sz="3600" dirty="0" err="1">
                <a:latin typeface="Arial" panose="020B0604020202020204" pitchFamily="34" charset="0"/>
                <a:cs typeface="Arial" panose="020B0604020202020204" pitchFamily="34" charset="0"/>
              </a:rPr>
              <a:t>tương</a:t>
            </a:r>
            <a:r>
              <a:rPr lang="en-US" sz="3600" dirty="0">
                <a:latin typeface="Arial" panose="020B0604020202020204" pitchFamily="34" charset="0"/>
                <a:cs typeface="Arial" panose="020B0604020202020204" pitchFamily="34" charset="0"/>
              </a:rPr>
              <a:t> lai.</a:t>
            </a:r>
            <a:endParaRPr lang="en-US" sz="3516" dirty="0">
              <a:solidFill>
                <a:srgbClr val="1A1F41"/>
              </a:solidFill>
              <a:latin typeface="Arial" panose="020B0604020202020204" pitchFamily="34" charset="0"/>
              <a:ea typeface="Poppins"/>
              <a:cs typeface="Arial" panose="020B0604020202020204" pitchFamily="34" charset="0"/>
              <a:sym typeface="Poppins"/>
            </a:endParaRPr>
          </a:p>
        </p:txBody>
      </p:sp>
      <p:sp>
        <p:nvSpPr>
          <p:cNvPr id="8" name="TextBox 8"/>
          <p:cNvSpPr txBox="1"/>
          <p:nvPr/>
        </p:nvSpPr>
        <p:spPr>
          <a:xfrm>
            <a:off x="1566199" y="2287464"/>
            <a:ext cx="1691580" cy="879475"/>
          </a:xfrm>
          <a:prstGeom prst="rect">
            <a:avLst/>
          </a:prstGeom>
        </p:spPr>
        <p:txBody>
          <a:bodyPr lIns="0" tIns="0" rIns="0" bIns="0" rtlCol="0" anchor="t">
            <a:spAutoFit/>
          </a:bodyPr>
          <a:lstStyle/>
          <a:p>
            <a:pPr algn="ctr">
              <a:lnSpc>
                <a:spcPts val="3499"/>
              </a:lnSpc>
            </a:pPr>
            <a:r>
              <a:rPr lang="en-US" sz="2499" dirty="0" err="1">
                <a:solidFill>
                  <a:srgbClr val="1A1F41"/>
                </a:solidFill>
                <a:latin typeface="Poppins"/>
                <a:ea typeface="Poppins"/>
                <a:cs typeface="Poppins"/>
                <a:sym typeface="Poppins"/>
              </a:rPr>
              <a:t>1.3Mục</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tiêu</a:t>
            </a:r>
            <a:endParaRPr lang="en-US" sz="2499" dirty="0">
              <a:solidFill>
                <a:srgbClr val="1A1F41"/>
              </a:solidFill>
              <a:latin typeface="Poppins"/>
              <a:ea typeface="Poppins"/>
              <a:cs typeface="Poppins"/>
              <a:sym typeface="Poppins"/>
            </a:endParaRPr>
          </a:p>
          <a:p>
            <a:pPr algn="ctr">
              <a:lnSpc>
                <a:spcPts val="3499"/>
              </a:lnSpc>
              <a:spcBef>
                <a:spcPct val="0"/>
              </a:spcBef>
            </a:pPr>
            <a:endParaRPr lang="en-US" sz="2499" dirty="0">
              <a:solidFill>
                <a:srgbClr val="1A1F41"/>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1691021">
            <a:off x="14326262" y="7350629"/>
            <a:ext cx="2846485" cy="2008066"/>
          </a:xfrm>
          <a:custGeom>
            <a:avLst/>
            <a:gdLst/>
            <a:ahLst/>
            <a:cxnLst/>
            <a:rect l="l" t="t" r="r" b="b"/>
            <a:pathLst>
              <a:path w="2846485" h="2008066">
                <a:moveTo>
                  <a:pt x="0" y="0"/>
                </a:moveTo>
                <a:lnTo>
                  <a:pt x="2846486" y="0"/>
                </a:lnTo>
                <a:lnTo>
                  <a:pt x="2846486" y="2008065"/>
                </a:lnTo>
                <a:lnTo>
                  <a:pt x="0" y="2008065"/>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3" name="TextBox 3"/>
          <p:cNvSpPr txBox="1"/>
          <p:nvPr/>
        </p:nvSpPr>
        <p:spPr>
          <a:xfrm>
            <a:off x="2286000" y="1932337"/>
            <a:ext cx="14848303" cy="8186857"/>
          </a:xfrm>
          <a:prstGeom prst="rect">
            <a:avLst/>
          </a:prstGeom>
        </p:spPr>
        <p:txBody>
          <a:bodyPr wrap="square" lIns="0" tIns="0" rIns="0" bIns="0" numCol="2" spcCol="1080000" rtlCol="0" anchor="t">
            <a:spAutoFit/>
          </a:bodyPr>
          <a:lstStyle/>
          <a:p>
            <a:r>
              <a:rPr lang="vi-VN" sz="2400" b="1" dirty="0"/>
              <a:t>Kết nối hệ thống</a:t>
            </a:r>
          </a:p>
          <a:p>
            <a:pPr>
              <a:buFont typeface="Arial" panose="020B0604020202020204" pitchFamily="34" charset="0"/>
              <a:buChar char="•"/>
            </a:pPr>
            <a:r>
              <a:rPr lang="vi-VN" sz="2400" dirty="0"/>
              <a:t>Người chơi nhập IP và Port để kết nối với Server bằng TCP.</a:t>
            </a:r>
          </a:p>
          <a:p>
            <a:pPr>
              <a:buFont typeface="Arial" panose="020B0604020202020204" pitchFamily="34" charset="0"/>
              <a:buChar char="•"/>
            </a:pPr>
            <a:r>
              <a:rPr lang="vi-VN" sz="2400" dirty="0"/>
              <a:t>Nếu mất kết nối thì hệ thống báo lỗi và cho kết nối lại.</a:t>
            </a:r>
          </a:p>
          <a:p>
            <a:endParaRPr lang="vi-VN" sz="2400" dirty="0"/>
          </a:p>
          <a:p>
            <a:r>
              <a:rPr lang="vi-VN" sz="2400" b="1" dirty="0"/>
              <a:t>Quản lý người chơi</a:t>
            </a:r>
          </a:p>
          <a:p>
            <a:pPr>
              <a:buFont typeface="Arial" panose="020B0604020202020204" pitchFamily="34" charset="0"/>
              <a:buChar char="•"/>
            </a:pPr>
            <a:r>
              <a:rPr lang="vi-VN" sz="2400" dirty="0"/>
              <a:t>Server quản lý danh sách người chơi đang online.</a:t>
            </a:r>
          </a:p>
          <a:p>
            <a:pPr>
              <a:buFont typeface="Arial" panose="020B0604020202020204" pitchFamily="34" charset="0"/>
              <a:buChar char="•"/>
            </a:pPr>
            <a:r>
              <a:rPr lang="vi-VN" sz="2400" dirty="0"/>
              <a:t>Hiển thị ai đang rảnh và ai đang trong trận đấu.</a:t>
            </a:r>
          </a:p>
          <a:p>
            <a:endParaRPr lang="vi-VN" sz="2400" dirty="0"/>
          </a:p>
          <a:p>
            <a:r>
              <a:rPr lang="vi-VN" sz="2400" b="1" dirty="0"/>
              <a:t>Ghép cặp và tạo phòng</a:t>
            </a:r>
          </a:p>
          <a:p>
            <a:pPr>
              <a:buFont typeface="Arial" panose="020B0604020202020204" pitchFamily="34" charset="0"/>
              <a:buChar char="•"/>
            </a:pPr>
            <a:r>
              <a:rPr lang="vi-VN" sz="2400" dirty="0"/>
              <a:t>Hệ thống tự ghép 2 người chơi.</a:t>
            </a:r>
          </a:p>
          <a:p>
            <a:pPr>
              <a:buFont typeface="Arial" panose="020B0604020202020204" pitchFamily="34" charset="0"/>
              <a:buChar char="•"/>
            </a:pPr>
            <a:r>
              <a:rPr lang="vi-VN" sz="2400" dirty="0"/>
              <a:t>Tạo phòng chơi khi đủ điều kiện.</a:t>
            </a:r>
          </a:p>
          <a:p>
            <a:endParaRPr lang="vi-VN" sz="2400" dirty="0"/>
          </a:p>
          <a:p>
            <a:r>
              <a:rPr lang="vi-VN" sz="2400" b="1" dirty="0"/>
              <a:t>Quy trình trận đấu</a:t>
            </a:r>
          </a:p>
          <a:p>
            <a:pPr>
              <a:buFont typeface="Arial" panose="020B0604020202020204" pitchFamily="34" charset="0"/>
              <a:buChar char="•"/>
            </a:pPr>
            <a:r>
              <a:rPr lang="vi-VN" sz="2400" dirty="0"/>
              <a:t>Quản lý lượt đánh của 2 người.</a:t>
            </a:r>
          </a:p>
          <a:p>
            <a:pPr>
              <a:buFont typeface="Arial" panose="020B0604020202020204" pitchFamily="34" charset="0"/>
              <a:buChar char="•"/>
            </a:pPr>
            <a:r>
              <a:rPr lang="vi-VN" sz="2400" dirty="0"/>
              <a:t>Kiểm tra nước đi hợp lệ và xác định thắng thua theo luật Caro.</a:t>
            </a:r>
          </a:p>
          <a:p>
            <a:endParaRPr lang="vi-VN" sz="2400" dirty="0"/>
          </a:p>
          <a:p>
            <a:endParaRPr lang="vi-VN" sz="2400" dirty="0"/>
          </a:p>
          <a:p>
            <a:endParaRPr lang="vi-VN" sz="2400" dirty="0"/>
          </a:p>
          <a:p>
            <a:r>
              <a:rPr lang="vi-VN" sz="2400" b="1" dirty="0"/>
              <a:t>Hiển thị bàn cờ</a:t>
            </a:r>
          </a:p>
          <a:p>
            <a:pPr>
              <a:buFont typeface="Arial" panose="020B0604020202020204" pitchFamily="34" charset="0"/>
              <a:buChar char="•"/>
            </a:pPr>
            <a:r>
              <a:rPr lang="vi-VN" sz="2400" dirty="0"/>
              <a:t>Đồng bộ bàn cờ giữa 2 người chơi.</a:t>
            </a:r>
          </a:p>
          <a:p>
            <a:pPr>
              <a:buFont typeface="Arial" panose="020B0604020202020204" pitchFamily="34" charset="0"/>
              <a:buChar char="•"/>
            </a:pPr>
            <a:r>
              <a:rPr lang="vi-VN" sz="2400" dirty="0"/>
              <a:t>Cập nhật nước đi theo thời gian thực.</a:t>
            </a:r>
          </a:p>
          <a:p>
            <a:endParaRPr lang="vi-VN" sz="2400" dirty="0"/>
          </a:p>
          <a:p>
            <a:r>
              <a:rPr lang="vi-VN" sz="2400" b="1" dirty="0"/>
              <a:t>Kết thúc trận đấu</a:t>
            </a:r>
          </a:p>
          <a:p>
            <a:pPr>
              <a:buFont typeface="Arial" panose="020B0604020202020204" pitchFamily="34" charset="0"/>
              <a:buChar char="•"/>
            </a:pPr>
            <a:r>
              <a:rPr lang="vi-VN" sz="2400" dirty="0"/>
              <a:t>Hiển thị người thắng, thua hoặc hòa.</a:t>
            </a:r>
          </a:p>
          <a:p>
            <a:pPr>
              <a:buFont typeface="Arial" panose="020B0604020202020204" pitchFamily="34" charset="0"/>
              <a:buChar char="•"/>
            </a:pPr>
            <a:r>
              <a:rPr lang="vi-VN" sz="2400" dirty="0"/>
              <a:t>Lưu lịch sử trận đấu để xem lại.</a:t>
            </a:r>
          </a:p>
          <a:p>
            <a:endParaRPr lang="vi-VN" sz="2400" dirty="0"/>
          </a:p>
          <a:p>
            <a:r>
              <a:rPr lang="vi-VN" sz="2400" b="1" dirty="0"/>
              <a:t>Chức năng bổ sung</a:t>
            </a:r>
          </a:p>
          <a:p>
            <a:pPr>
              <a:buFont typeface="Arial" panose="020B0604020202020204" pitchFamily="34" charset="0"/>
              <a:buChar char="•"/>
            </a:pPr>
            <a:r>
              <a:rPr lang="vi-VN" sz="2400" dirty="0"/>
              <a:t>Chat giữa người chơi.</a:t>
            </a:r>
          </a:p>
          <a:p>
            <a:pPr>
              <a:buFont typeface="Arial" panose="020B0604020202020204" pitchFamily="34" charset="0"/>
              <a:buChar char="•"/>
            </a:pPr>
            <a:r>
              <a:rPr lang="vi-VN" sz="2400" dirty="0"/>
              <a:t>Chơi với Bot AI: Dễ, Vừa, Khó.</a:t>
            </a:r>
          </a:p>
          <a:p>
            <a:pPr>
              <a:buFont typeface="Arial" panose="020B0604020202020204" pitchFamily="34" charset="0"/>
              <a:buChar char="•"/>
            </a:pPr>
            <a:r>
              <a:rPr lang="vi-VN" sz="2400" dirty="0"/>
              <a:t>Xử lý khi người chơi bị mất kết nối.</a:t>
            </a:r>
          </a:p>
        </p:txBody>
      </p:sp>
      <p:sp>
        <p:nvSpPr>
          <p:cNvPr id="4" name="TextBox 4"/>
          <p:cNvSpPr txBox="1"/>
          <p:nvPr/>
        </p:nvSpPr>
        <p:spPr>
          <a:xfrm>
            <a:off x="1353332" y="474547"/>
            <a:ext cx="5778315" cy="736600"/>
          </a:xfrm>
          <a:prstGeom prst="rect">
            <a:avLst/>
          </a:prstGeom>
        </p:spPr>
        <p:txBody>
          <a:bodyPr lIns="0" tIns="0" rIns="0" bIns="0" rtlCol="0" anchor="t">
            <a:spAutoFit/>
          </a:bodyPr>
          <a:lstStyle/>
          <a:p>
            <a:pPr algn="l">
              <a:lnSpc>
                <a:spcPts val="5750"/>
              </a:lnSpc>
              <a:spcBef>
                <a:spcPct val="0"/>
              </a:spcBef>
            </a:pPr>
            <a:r>
              <a:rPr lang="vi-VN" sz="5000" b="1" dirty="0">
                <a:solidFill>
                  <a:srgbClr val="1A1F41"/>
                </a:solidFill>
                <a:latin typeface="Big Shoulders Display Bold"/>
                <a:ea typeface="Big Shoulders Display Bold"/>
                <a:cs typeface="Big Shoulders Display Bold"/>
                <a:sym typeface="Big Shoulders Display Bold"/>
              </a:rPr>
              <a:t>2. PHÂN TÍCH YÊU CẦU</a:t>
            </a:r>
            <a:endParaRPr lang="en-US" sz="5000" b="1" dirty="0">
              <a:solidFill>
                <a:srgbClr val="1A1F41"/>
              </a:solidFill>
              <a:latin typeface="Big Shoulders Display Bold"/>
              <a:ea typeface="Big Shoulders Display Bold"/>
              <a:cs typeface="Big Shoulders Display Bold"/>
              <a:sym typeface="Big Shoulders Display Bold"/>
            </a:endParaRPr>
          </a:p>
        </p:txBody>
      </p:sp>
      <p:sp>
        <p:nvSpPr>
          <p:cNvPr id="5" name="Freeform 5"/>
          <p:cNvSpPr/>
          <p:nvPr/>
        </p:nvSpPr>
        <p:spPr>
          <a:xfrm rot="1658979">
            <a:off x="-442076" y="8628501"/>
            <a:ext cx="2465303" cy="1739159"/>
          </a:xfrm>
          <a:custGeom>
            <a:avLst/>
            <a:gdLst/>
            <a:ahLst/>
            <a:cxnLst/>
            <a:rect l="l" t="t" r="r" b="b"/>
            <a:pathLst>
              <a:path w="2465303" h="1739159">
                <a:moveTo>
                  <a:pt x="0" y="0"/>
                </a:moveTo>
                <a:lnTo>
                  <a:pt x="2465303" y="0"/>
                </a:lnTo>
                <a:lnTo>
                  <a:pt x="2465303" y="1739159"/>
                </a:lnTo>
                <a:lnTo>
                  <a:pt x="0" y="1739159"/>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6" name="Freeform 6"/>
          <p:cNvSpPr/>
          <p:nvPr/>
        </p:nvSpPr>
        <p:spPr>
          <a:xfrm>
            <a:off x="8540080" y="-4549002"/>
            <a:ext cx="5578495" cy="5578495"/>
          </a:xfrm>
          <a:custGeom>
            <a:avLst/>
            <a:gdLst/>
            <a:ahLst/>
            <a:cxnLst/>
            <a:rect l="l" t="t" r="r" b="b"/>
            <a:pathLst>
              <a:path w="5578495" h="5578495">
                <a:moveTo>
                  <a:pt x="0" y="0"/>
                </a:moveTo>
                <a:lnTo>
                  <a:pt x="5578495" y="0"/>
                </a:lnTo>
                <a:lnTo>
                  <a:pt x="5578495" y="5578495"/>
                </a:lnTo>
                <a:lnTo>
                  <a:pt x="0" y="5578495"/>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7" name="TextBox 7"/>
          <p:cNvSpPr txBox="1"/>
          <p:nvPr/>
        </p:nvSpPr>
        <p:spPr>
          <a:xfrm>
            <a:off x="1332311" y="1211147"/>
            <a:ext cx="3888135" cy="422552"/>
          </a:xfrm>
          <a:prstGeom prst="rect">
            <a:avLst/>
          </a:prstGeom>
        </p:spPr>
        <p:txBody>
          <a:bodyPr lIns="0" tIns="0" rIns="0" bIns="0" rtlCol="0" anchor="t">
            <a:spAutoFit/>
          </a:bodyPr>
          <a:lstStyle/>
          <a:p>
            <a:pPr algn="ctr">
              <a:lnSpc>
                <a:spcPts val="3499"/>
              </a:lnSpc>
              <a:spcBef>
                <a:spcPct val="0"/>
              </a:spcBef>
            </a:pPr>
            <a:r>
              <a:rPr lang="vi-VN" sz="2499" dirty="0">
                <a:solidFill>
                  <a:srgbClr val="1A1F41"/>
                </a:solidFill>
                <a:latin typeface="Poppins"/>
                <a:ea typeface="Poppins"/>
                <a:cs typeface="Poppins"/>
                <a:sym typeface="Poppins"/>
              </a:rPr>
              <a:t>2.1 YÊU CẦU CHỨC NĂNG</a:t>
            </a:r>
            <a:endParaRPr lang="en-US" sz="2499" dirty="0">
              <a:solidFill>
                <a:srgbClr val="1A1F41"/>
              </a:solidFill>
              <a:latin typeface="Poppins"/>
              <a:ea typeface="Poppins"/>
              <a:cs typeface="Poppins"/>
              <a:sym typeface="Poppins"/>
            </a:endParaRPr>
          </a:p>
        </p:txBody>
      </p:sp>
    </p:spTree>
    <p:extLst>
      <p:ext uri="{BB962C8B-B14F-4D97-AF65-F5344CB8AC3E}">
        <p14:creationId xmlns:p14="http://schemas.microsoft.com/office/powerpoint/2010/main" val="953247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19710640">
            <a:off x="14317039" y="6792702"/>
            <a:ext cx="3820236" cy="2695003"/>
          </a:xfrm>
          <a:custGeom>
            <a:avLst/>
            <a:gdLst/>
            <a:ahLst/>
            <a:cxnLst/>
            <a:rect l="l" t="t" r="r" b="b"/>
            <a:pathLst>
              <a:path w="3820236" h="2695003">
                <a:moveTo>
                  <a:pt x="0" y="0"/>
                </a:moveTo>
                <a:lnTo>
                  <a:pt x="3820236" y="0"/>
                </a:lnTo>
                <a:lnTo>
                  <a:pt x="3820236" y="2695003"/>
                </a:lnTo>
                <a:lnTo>
                  <a:pt x="0" y="2695003"/>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4" name="Freeform 4"/>
          <p:cNvSpPr/>
          <p:nvPr/>
        </p:nvSpPr>
        <p:spPr>
          <a:xfrm>
            <a:off x="14706600" y="-2675802"/>
            <a:ext cx="5578495" cy="5578495"/>
          </a:xfrm>
          <a:custGeom>
            <a:avLst/>
            <a:gdLst/>
            <a:ahLst/>
            <a:cxnLst/>
            <a:rect l="l" t="t" r="r" b="b"/>
            <a:pathLst>
              <a:path w="5578495" h="5578495">
                <a:moveTo>
                  <a:pt x="0" y="0"/>
                </a:moveTo>
                <a:lnTo>
                  <a:pt x="5578495" y="0"/>
                </a:lnTo>
                <a:lnTo>
                  <a:pt x="5578495" y="5578495"/>
                </a:lnTo>
                <a:lnTo>
                  <a:pt x="0" y="5578495"/>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5" name="Freeform 5"/>
          <p:cNvSpPr/>
          <p:nvPr/>
        </p:nvSpPr>
        <p:spPr>
          <a:xfrm>
            <a:off x="11506200" y="2902693"/>
            <a:ext cx="2958261" cy="2856066"/>
          </a:xfrm>
          <a:custGeom>
            <a:avLst/>
            <a:gdLst/>
            <a:ahLst/>
            <a:cxnLst/>
            <a:rect l="l" t="t" r="r" b="b"/>
            <a:pathLst>
              <a:path w="2958261" h="2856066">
                <a:moveTo>
                  <a:pt x="0" y="0"/>
                </a:moveTo>
                <a:lnTo>
                  <a:pt x="2958261" y="0"/>
                </a:lnTo>
                <a:lnTo>
                  <a:pt x="2958261" y="2856066"/>
                </a:lnTo>
                <a:lnTo>
                  <a:pt x="0" y="2856066"/>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en-US"/>
          </a:p>
        </p:txBody>
      </p:sp>
      <p:sp>
        <p:nvSpPr>
          <p:cNvPr id="6" name="TextBox 6"/>
          <p:cNvSpPr txBox="1"/>
          <p:nvPr/>
        </p:nvSpPr>
        <p:spPr>
          <a:xfrm>
            <a:off x="-333641" y="669925"/>
            <a:ext cx="6925046" cy="736600"/>
          </a:xfrm>
          <a:prstGeom prst="rect">
            <a:avLst/>
          </a:prstGeom>
        </p:spPr>
        <p:txBody>
          <a:bodyPr lIns="0" tIns="0" rIns="0" bIns="0" rtlCol="0" anchor="t">
            <a:spAutoFit/>
          </a:bodyPr>
          <a:lstStyle/>
          <a:p>
            <a:pPr marL="0" lvl="0" indent="0" algn="ctr">
              <a:lnSpc>
                <a:spcPts val="5750"/>
              </a:lnSpc>
              <a:spcBef>
                <a:spcPct val="0"/>
              </a:spcBef>
            </a:pPr>
            <a:r>
              <a:rPr lang="vi-VN" sz="5000" b="1" dirty="0">
                <a:solidFill>
                  <a:srgbClr val="1A1F41"/>
                </a:solidFill>
                <a:latin typeface="Big Shoulders Display Bold"/>
                <a:ea typeface="Big Shoulders Display Bold"/>
                <a:cs typeface="Big Shoulders Display Bold"/>
                <a:sym typeface="Big Shoulders Display Bold"/>
              </a:rPr>
              <a:t>2. PHÂN TÍCH YÊU CẦU</a:t>
            </a:r>
            <a:endParaRPr lang="en-US" sz="5000" b="1" dirty="0">
              <a:solidFill>
                <a:srgbClr val="1A1F41"/>
              </a:solidFill>
              <a:latin typeface="Big Shoulders Display Bold"/>
              <a:ea typeface="Big Shoulders Display Bold"/>
              <a:cs typeface="Big Shoulders Display Bold"/>
              <a:sym typeface="Big Shoulders Display Bold"/>
            </a:endParaRPr>
          </a:p>
        </p:txBody>
      </p:sp>
      <p:sp>
        <p:nvSpPr>
          <p:cNvPr id="7" name="TextBox 7"/>
          <p:cNvSpPr txBox="1"/>
          <p:nvPr/>
        </p:nvSpPr>
        <p:spPr>
          <a:xfrm>
            <a:off x="1987532" y="1905737"/>
            <a:ext cx="7977082" cy="7755969"/>
          </a:xfrm>
          <a:prstGeom prst="rect">
            <a:avLst/>
          </a:prstGeom>
        </p:spPr>
        <p:txBody>
          <a:bodyPr wrap="square" lIns="0" tIns="0" rIns="0" bIns="0" rtlCol="0" anchor="t">
            <a:spAutoFit/>
          </a:bodyPr>
          <a:lstStyle/>
          <a:p>
            <a:r>
              <a:rPr lang="vi-VN" sz="2400" b="1" dirty="0"/>
              <a:t>Tính dễ sử dụng</a:t>
            </a:r>
          </a:p>
          <a:p>
            <a:pPr>
              <a:buFont typeface="Arial" panose="020B0604020202020204" pitchFamily="34" charset="0"/>
              <a:buChar char="•"/>
            </a:pPr>
            <a:r>
              <a:rPr lang="vi-VN" sz="2400" dirty="0"/>
              <a:t>Giao diện Windows Forms đơn giản, dễ thao tác.</a:t>
            </a:r>
          </a:p>
          <a:p>
            <a:endParaRPr lang="vi-VN" sz="2400" b="1" dirty="0"/>
          </a:p>
          <a:p>
            <a:r>
              <a:rPr lang="vi-VN" sz="2400" b="1" dirty="0"/>
              <a:t>Độ tin cậy</a:t>
            </a:r>
          </a:p>
          <a:p>
            <a:pPr>
              <a:buFont typeface="Arial" panose="020B0604020202020204" pitchFamily="34" charset="0"/>
              <a:buChar char="•"/>
            </a:pPr>
            <a:r>
              <a:rPr lang="vi-VN" sz="2400" dirty="0"/>
              <a:t>Hỗ trợ nhiều người chơi và nhiều phòng cùng lúc.</a:t>
            </a:r>
          </a:p>
          <a:p>
            <a:pPr>
              <a:buFont typeface="Arial" panose="020B0604020202020204" pitchFamily="34" charset="0"/>
              <a:buChar char="•"/>
            </a:pPr>
            <a:r>
              <a:rPr lang="vi-VN" sz="2400" dirty="0"/>
              <a:t>Hệ thống hoạt động ổn định.</a:t>
            </a:r>
          </a:p>
          <a:p>
            <a:endParaRPr lang="vi-VN" sz="2400" b="1" dirty="0"/>
          </a:p>
          <a:p>
            <a:r>
              <a:rPr lang="vi-VN" sz="2400" b="1" dirty="0"/>
              <a:t>Hiệu năng</a:t>
            </a:r>
          </a:p>
          <a:p>
            <a:pPr>
              <a:buFont typeface="Arial" panose="020B0604020202020204" pitchFamily="34" charset="0"/>
              <a:buChar char="•"/>
            </a:pPr>
            <a:r>
              <a:rPr lang="vi-VN" sz="2400" dirty="0"/>
              <a:t>Đồng bộ dữ liệu nhanh.</a:t>
            </a:r>
          </a:p>
          <a:p>
            <a:pPr>
              <a:buFont typeface="Arial" panose="020B0604020202020204" pitchFamily="34" charset="0"/>
              <a:buChar char="•"/>
            </a:pPr>
            <a:r>
              <a:rPr lang="vi-VN" sz="2400" dirty="0"/>
              <a:t>Giảm độ trễ khi truyền nhận.</a:t>
            </a:r>
          </a:p>
          <a:p>
            <a:endParaRPr lang="vi-VN" sz="2400" b="1" dirty="0"/>
          </a:p>
          <a:p>
            <a:r>
              <a:rPr lang="vi-VN" sz="2400" b="1" dirty="0"/>
              <a:t>Khả năng mở rộng</a:t>
            </a:r>
          </a:p>
          <a:p>
            <a:pPr>
              <a:buFont typeface="Arial" panose="020B0604020202020204" pitchFamily="34" charset="0"/>
              <a:buChar char="•"/>
            </a:pPr>
            <a:r>
              <a:rPr lang="vi-VN" sz="2400" dirty="0"/>
              <a:t>Kiến trúc Client–Server giúp dễ nâng cấp chức năng.</a:t>
            </a:r>
          </a:p>
          <a:p>
            <a:endParaRPr lang="vi-VN" sz="2400" b="1" dirty="0"/>
          </a:p>
          <a:p>
            <a:r>
              <a:rPr lang="vi-VN" sz="2400" b="1" dirty="0"/>
              <a:t>Bảo trì</a:t>
            </a:r>
          </a:p>
          <a:p>
            <a:pPr>
              <a:buFont typeface="Arial" panose="020B0604020202020204" pitchFamily="34" charset="0"/>
              <a:buChar char="•"/>
            </a:pPr>
            <a:r>
              <a:rPr lang="vi-VN" sz="2400" dirty="0"/>
              <a:t>Chia chức năng thành nhiều lớp riêng biệt.</a:t>
            </a:r>
          </a:p>
          <a:p>
            <a:pPr>
              <a:buFont typeface="Arial" panose="020B0604020202020204" pitchFamily="34" charset="0"/>
              <a:buChar char="•"/>
            </a:pPr>
            <a:r>
              <a:rPr lang="vi-VN" sz="2400" dirty="0"/>
              <a:t>Dễ quản lý và sửa lỗi.</a:t>
            </a:r>
          </a:p>
          <a:p>
            <a:endParaRPr lang="vi-VN" sz="2400" b="1" dirty="0"/>
          </a:p>
          <a:p>
            <a:r>
              <a:rPr lang="vi-VN" sz="2400" b="1" dirty="0"/>
              <a:t>Công nghệ sử dụng</a:t>
            </a:r>
          </a:p>
          <a:p>
            <a:pPr>
              <a:buFont typeface="Arial" panose="020B0604020202020204" pitchFamily="34" charset="0"/>
              <a:buChar char="•"/>
            </a:pPr>
            <a:r>
              <a:rPr lang="vi-VN" sz="2400" dirty="0"/>
              <a:t>C#, .NET, Windows Forms.</a:t>
            </a:r>
          </a:p>
          <a:p>
            <a:pPr>
              <a:buFont typeface="Arial" panose="020B0604020202020204" pitchFamily="34" charset="0"/>
              <a:buChar char="•"/>
            </a:pPr>
            <a:r>
              <a:rPr lang="vi-VN" sz="2400" dirty="0"/>
              <a:t>TCP Socket, JSON Serializer và kiến trúc 3 lớp.</a:t>
            </a:r>
          </a:p>
        </p:txBody>
      </p:sp>
      <p:sp>
        <p:nvSpPr>
          <p:cNvPr id="8" name="TextBox 8"/>
          <p:cNvSpPr txBox="1"/>
          <p:nvPr/>
        </p:nvSpPr>
        <p:spPr>
          <a:xfrm>
            <a:off x="579006" y="1149430"/>
            <a:ext cx="5099752" cy="636713"/>
          </a:xfrm>
          <a:prstGeom prst="rect">
            <a:avLst/>
          </a:prstGeom>
        </p:spPr>
        <p:txBody>
          <a:bodyPr wrap="square" lIns="0" tIns="0" rIns="0" bIns="0" rtlCol="0" anchor="t">
            <a:spAutoFit/>
          </a:bodyPr>
          <a:lstStyle/>
          <a:p>
            <a:pPr algn="ctr">
              <a:lnSpc>
                <a:spcPts val="5750"/>
              </a:lnSpc>
              <a:spcBef>
                <a:spcPct val="0"/>
              </a:spcBef>
            </a:pPr>
            <a:r>
              <a:rPr lang="vi-VN" sz="2400" dirty="0">
                <a:solidFill>
                  <a:srgbClr val="1A1F41"/>
                </a:solidFill>
                <a:ea typeface="Big Shoulders Display"/>
                <a:cs typeface="Big Shoulders Display"/>
                <a:sym typeface="Big Shoulders Display"/>
              </a:rPr>
              <a:t>2.2 YÊU CẦU PHI CHỨC NĂNG</a:t>
            </a:r>
            <a:endParaRPr lang="en-US" sz="2400" dirty="0">
              <a:solidFill>
                <a:srgbClr val="1A1F41"/>
              </a:solidFill>
              <a:ea typeface="Big Shoulders Display"/>
              <a:cs typeface="Big Shoulders Display"/>
              <a:sym typeface="Big Shoulders Display"/>
            </a:endParaRPr>
          </a:p>
        </p:txBody>
      </p:sp>
    </p:spTree>
    <p:extLst>
      <p:ext uri="{BB962C8B-B14F-4D97-AF65-F5344CB8AC3E}">
        <p14:creationId xmlns:p14="http://schemas.microsoft.com/office/powerpoint/2010/main" val="1610228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2" name="Group 2"/>
          <p:cNvGrpSpPr/>
          <p:nvPr/>
        </p:nvGrpSpPr>
        <p:grpSpPr>
          <a:xfrm>
            <a:off x="7562751" y="841375"/>
            <a:ext cx="11264692" cy="8229600"/>
            <a:chOff x="0" y="0"/>
            <a:chExt cx="1885581" cy="1377541"/>
          </a:xfrm>
        </p:grpSpPr>
        <p:sp>
          <p:nvSpPr>
            <p:cNvPr id="3" name="Freeform 3"/>
            <p:cNvSpPr/>
            <p:nvPr/>
          </p:nvSpPr>
          <p:spPr>
            <a:xfrm>
              <a:off x="0" y="0"/>
              <a:ext cx="1885581" cy="1377541"/>
            </a:xfrm>
            <a:custGeom>
              <a:avLst/>
              <a:gdLst/>
              <a:ahLst/>
              <a:cxnLst/>
              <a:rect l="l" t="t" r="r" b="b"/>
              <a:pathLst>
                <a:path w="1885581" h="1377541">
                  <a:moveTo>
                    <a:pt x="0" y="0"/>
                  </a:moveTo>
                  <a:lnTo>
                    <a:pt x="1885581" y="0"/>
                  </a:lnTo>
                  <a:lnTo>
                    <a:pt x="1885581" y="1377541"/>
                  </a:lnTo>
                  <a:lnTo>
                    <a:pt x="0" y="1377541"/>
                  </a:lnTo>
                  <a:close/>
                </a:path>
              </a:pathLst>
            </a:custGeom>
            <a:blipFill>
              <a:blip r:embed="rId2"/>
              <a:stretch>
                <a:fillRect l="-8390" r="-19939"/>
              </a:stretch>
            </a:blipFill>
          </p:spPr>
          <p:txBody>
            <a:bodyPr/>
            <a:lstStyle/>
            <a:p>
              <a:endParaRPr lang="en-US"/>
            </a:p>
          </p:txBody>
        </p:sp>
      </p:grpSp>
      <p:sp>
        <p:nvSpPr>
          <p:cNvPr id="4" name="Freeform 4"/>
          <p:cNvSpPr/>
          <p:nvPr/>
        </p:nvSpPr>
        <p:spPr>
          <a:xfrm rot="677007">
            <a:off x="5982785" y="7502402"/>
            <a:ext cx="1734216" cy="1223411"/>
          </a:xfrm>
          <a:custGeom>
            <a:avLst/>
            <a:gdLst/>
            <a:ahLst/>
            <a:cxnLst/>
            <a:rect l="l" t="t" r="r" b="b"/>
            <a:pathLst>
              <a:path w="1734216" h="1223411">
                <a:moveTo>
                  <a:pt x="0" y="0"/>
                </a:moveTo>
                <a:lnTo>
                  <a:pt x="1734216" y="0"/>
                </a:lnTo>
                <a:lnTo>
                  <a:pt x="1734216" y="1223411"/>
                </a:lnTo>
                <a:lnTo>
                  <a:pt x="0" y="1223411"/>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5" name="Freeform 5"/>
          <p:cNvSpPr/>
          <p:nvPr/>
        </p:nvSpPr>
        <p:spPr>
          <a:xfrm rot="-2262585">
            <a:off x="5892678" y="1926312"/>
            <a:ext cx="1734216" cy="1223411"/>
          </a:xfrm>
          <a:custGeom>
            <a:avLst/>
            <a:gdLst/>
            <a:ahLst/>
            <a:cxnLst/>
            <a:rect l="l" t="t" r="r" b="b"/>
            <a:pathLst>
              <a:path w="1734216" h="1223411">
                <a:moveTo>
                  <a:pt x="0" y="0"/>
                </a:moveTo>
                <a:lnTo>
                  <a:pt x="1734216" y="0"/>
                </a:lnTo>
                <a:lnTo>
                  <a:pt x="1734216" y="1223411"/>
                </a:lnTo>
                <a:lnTo>
                  <a:pt x="0" y="1223411"/>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6" name="Freeform 6"/>
          <p:cNvSpPr/>
          <p:nvPr/>
        </p:nvSpPr>
        <p:spPr>
          <a:xfrm>
            <a:off x="8155420" y="9556634"/>
            <a:ext cx="3322868" cy="3322868"/>
          </a:xfrm>
          <a:custGeom>
            <a:avLst/>
            <a:gdLst/>
            <a:ahLst/>
            <a:cxnLst/>
            <a:rect l="l" t="t" r="r" b="b"/>
            <a:pathLst>
              <a:path w="3322868" h="3322868">
                <a:moveTo>
                  <a:pt x="0" y="0"/>
                </a:moveTo>
                <a:lnTo>
                  <a:pt x="3322868" y="0"/>
                </a:lnTo>
                <a:lnTo>
                  <a:pt x="3322868" y="3322868"/>
                </a:lnTo>
                <a:lnTo>
                  <a:pt x="0" y="3322868"/>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en-US"/>
          </a:p>
        </p:txBody>
      </p:sp>
      <p:sp>
        <p:nvSpPr>
          <p:cNvPr id="7" name="Freeform 7"/>
          <p:cNvSpPr/>
          <p:nvPr/>
        </p:nvSpPr>
        <p:spPr>
          <a:xfrm>
            <a:off x="15597866" y="-2575599"/>
            <a:ext cx="3322868" cy="3322868"/>
          </a:xfrm>
          <a:custGeom>
            <a:avLst/>
            <a:gdLst/>
            <a:ahLst/>
            <a:cxnLst/>
            <a:rect l="l" t="t" r="r" b="b"/>
            <a:pathLst>
              <a:path w="3322868" h="3322868">
                <a:moveTo>
                  <a:pt x="0" y="0"/>
                </a:moveTo>
                <a:lnTo>
                  <a:pt x="3322868" y="0"/>
                </a:lnTo>
                <a:lnTo>
                  <a:pt x="3322868" y="3322868"/>
                </a:lnTo>
                <a:lnTo>
                  <a:pt x="0" y="3322868"/>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en-US"/>
          </a:p>
        </p:txBody>
      </p:sp>
      <p:sp>
        <p:nvSpPr>
          <p:cNvPr id="8" name="TextBox 8"/>
          <p:cNvSpPr txBox="1"/>
          <p:nvPr/>
        </p:nvSpPr>
        <p:spPr>
          <a:xfrm>
            <a:off x="1028700" y="3233737"/>
            <a:ext cx="4519255" cy="4017062"/>
          </a:xfrm>
          <a:prstGeom prst="rect">
            <a:avLst/>
          </a:prstGeom>
        </p:spPr>
        <p:txBody>
          <a:bodyPr lIns="0" tIns="0" rIns="0" bIns="0" rtlCol="0" anchor="t">
            <a:spAutoFit/>
          </a:bodyPr>
          <a:lstStyle/>
          <a:p>
            <a:pPr marL="539749" lvl="1" indent="-269875" algn="just">
              <a:lnSpc>
                <a:spcPts val="3499"/>
              </a:lnSpc>
              <a:buFont typeface="Arial"/>
              <a:buChar char="•"/>
            </a:pPr>
            <a:r>
              <a:rPr lang="en-US" sz="2499" dirty="0" err="1">
                <a:solidFill>
                  <a:srgbClr val="1A1F41"/>
                </a:solidFill>
                <a:latin typeface="Poppins"/>
                <a:ea typeface="Poppins"/>
                <a:cs typeface="Poppins"/>
                <a:sym typeface="Poppins"/>
              </a:rPr>
              <a:t>Đăng</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kí</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tên</a:t>
            </a:r>
            <a:endParaRPr lang="en-US" sz="2499" dirty="0">
              <a:solidFill>
                <a:srgbClr val="1A1F41"/>
              </a:solidFill>
              <a:latin typeface="Poppins"/>
              <a:ea typeface="Poppins"/>
              <a:cs typeface="Poppins"/>
              <a:sym typeface="Poppins"/>
            </a:endParaRPr>
          </a:p>
          <a:p>
            <a:pPr marL="539749" lvl="1" indent="-269875" algn="just">
              <a:lnSpc>
                <a:spcPts val="3499"/>
              </a:lnSpc>
              <a:buFont typeface="Arial"/>
              <a:buChar char="•"/>
            </a:pPr>
            <a:r>
              <a:rPr lang="en-US" sz="2499" dirty="0" err="1">
                <a:solidFill>
                  <a:srgbClr val="1A1F41"/>
                </a:solidFill>
                <a:latin typeface="Poppins"/>
                <a:ea typeface="Poppins"/>
                <a:cs typeface="Poppins"/>
                <a:sym typeface="Poppins"/>
              </a:rPr>
              <a:t>Xem</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danh</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sách</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người</a:t>
            </a:r>
            <a:r>
              <a:rPr lang="en-US" sz="2499" dirty="0">
                <a:solidFill>
                  <a:srgbClr val="1A1F41"/>
                </a:solidFill>
                <a:latin typeface="Poppins"/>
                <a:ea typeface="Poppins"/>
                <a:cs typeface="Poppins"/>
                <a:sym typeface="Poppins"/>
              </a:rPr>
              <a:t> </a:t>
            </a:r>
            <a:r>
              <a:rPr lang="en-US" sz="2499" dirty="0" err="1" smtClean="0">
                <a:solidFill>
                  <a:srgbClr val="1A1F41"/>
                </a:solidFill>
                <a:latin typeface="Poppins"/>
                <a:ea typeface="Poppins"/>
                <a:cs typeface="Poppins"/>
                <a:sym typeface="Poppins"/>
              </a:rPr>
              <a:t>chơi</a:t>
            </a:r>
            <a:endParaRPr lang="en-US" sz="2499" dirty="0" smtClean="0">
              <a:solidFill>
                <a:srgbClr val="1A1F41"/>
              </a:solidFill>
              <a:latin typeface="Poppins"/>
              <a:ea typeface="Poppins"/>
              <a:cs typeface="Poppins"/>
              <a:sym typeface="Poppins"/>
            </a:endParaRPr>
          </a:p>
          <a:p>
            <a:pPr marL="539749" lvl="1" indent="-269875" algn="just">
              <a:lnSpc>
                <a:spcPts val="3499"/>
              </a:lnSpc>
              <a:buFont typeface="Arial"/>
              <a:buChar char="•"/>
            </a:pPr>
            <a:r>
              <a:rPr lang="vi-VN" sz="2499" dirty="0" smtClean="0">
                <a:solidFill>
                  <a:srgbClr val="1A1F41"/>
                </a:solidFill>
                <a:latin typeface="Poppins"/>
                <a:ea typeface="Poppins"/>
                <a:cs typeface="Poppins"/>
                <a:sym typeface="Poppins"/>
              </a:rPr>
              <a:t>Đấu với BOT</a:t>
            </a:r>
            <a:endParaRPr lang="en-US" sz="2499" dirty="0">
              <a:solidFill>
                <a:srgbClr val="1A1F41"/>
              </a:solidFill>
              <a:latin typeface="Poppins"/>
              <a:ea typeface="Poppins"/>
              <a:cs typeface="Poppins"/>
              <a:sym typeface="Poppins"/>
            </a:endParaRPr>
          </a:p>
          <a:p>
            <a:pPr marL="539749" lvl="1" indent="-269875" algn="just">
              <a:lnSpc>
                <a:spcPts val="3499"/>
              </a:lnSpc>
              <a:buFont typeface="Arial"/>
              <a:buChar char="•"/>
            </a:pPr>
            <a:r>
              <a:rPr lang="en-US" sz="2499" dirty="0" err="1">
                <a:solidFill>
                  <a:srgbClr val="1A1F41"/>
                </a:solidFill>
                <a:latin typeface="Poppins"/>
                <a:ea typeface="Poppins"/>
                <a:cs typeface="Poppins"/>
                <a:sym typeface="Poppins"/>
              </a:rPr>
              <a:t>Gửi</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lời</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mời</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thách</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đấu</a:t>
            </a:r>
            <a:endParaRPr lang="en-US" sz="2499" dirty="0">
              <a:solidFill>
                <a:srgbClr val="1A1F41"/>
              </a:solidFill>
              <a:latin typeface="Poppins"/>
              <a:ea typeface="Poppins"/>
              <a:cs typeface="Poppins"/>
              <a:sym typeface="Poppins"/>
            </a:endParaRPr>
          </a:p>
          <a:p>
            <a:pPr marL="539749" lvl="1" indent="-269875" algn="just">
              <a:lnSpc>
                <a:spcPts val="3499"/>
              </a:lnSpc>
              <a:buFont typeface="Arial"/>
              <a:buChar char="•"/>
            </a:pPr>
            <a:r>
              <a:rPr lang="en-US" sz="2499" dirty="0" err="1">
                <a:solidFill>
                  <a:srgbClr val="1A1F41"/>
                </a:solidFill>
                <a:latin typeface="Poppins"/>
                <a:ea typeface="Poppins"/>
                <a:cs typeface="Poppins"/>
                <a:sym typeface="Poppins"/>
              </a:rPr>
              <a:t>Chấp</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nhận</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lời</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mời</a:t>
            </a:r>
            <a:endParaRPr lang="en-US" sz="2499" dirty="0">
              <a:solidFill>
                <a:srgbClr val="1A1F41"/>
              </a:solidFill>
              <a:latin typeface="Poppins"/>
              <a:ea typeface="Poppins"/>
              <a:cs typeface="Poppins"/>
              <a:sym typeface="Poppins"/>
            </a:endParaRPr>
          </a:p>
          <a:p>
            <a:pPr marL="539749" lvl="1" indent="-269875" algn="just">
              <a:lnSpc>
                <a:spcPts val="3499"/>
              </a:lnSpc>
              <a:buFont typeface="Arial"/>
              <a:buChar char="•"/>
            </a:pPr>
            <a:r>
              <a:rPr lang="en-US" sz="2499" dirty="0">
                <a:solidFill>
                  <a:srgbClr val="1A1F41"/>
                </a:solidFill>
                <a:latin typeface="Poppins"/>
                <a:ea typeface="Poppins"/>
                <a:cs typeface="Poppins"/>
                <a:sym typeface="Poppins"/>
              </a:rPr>
              <a:t>Chat message </a:t>
            </a:r>
            <a:r>
              <a:rPr lang="en-US" sz="2499" dirty="0" err="1">
                <a:solidFill>
                  <a:srgbClr val="1A1F41"/>
                </a:solidFill>
                <a:latin typeface="Poppins"/>
                <a:ea typeface="Poppins"/>
                <a:cs typeface="Poppins"/>
                <a:sym typeface="Poppins"/>
              </a:rPr>
              <a:t>trong</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trận</a:t>
            </a:r>
            <a:endParaRPr lang="en-US" sz="2499" dirty="0">
              <a:solidFill>
                <a:srgbClr val="1A1F41"/>
              </a:solidFill>
              <a:latin typeface="Poppins"/>
              <a:ea typeface="Poppins"/>
              <a:cs typeface="Poppins"/>
              <a:sym typeface="Poppins"/>
            </a:endParaRPr>
          </a:p>
          <a:p>
            <a:pPr marL="539749" lvl="1" indent="-269875" algn="just">
              <a:lnSpc>
                <a:spcPts val="3499"/>
              </a:lnSpc>
              <a:buFont typeface="Arial"/>
              <a:buChar char="•"/>
            </a:pPr>
            <a:r>
              <a:rPr lang="en-US" sz="2499" dirty="0" err="1">
                <a:solidFill>
                  <a:srgbClr val="1A1F41"/>
                </a:solidFill>
                <a:latin typeface="Poppins"/>
                <a:ea typeface="Poppins"/>
                <a:cs typeface="Poppins"/>
                <a:sym typeface="Poppins"/>
              </a:rPr>
              <a:t>Chơi</a:t>
            </a:r>
            <a:r>
              <a:rPr lang="en-US" sz="2499" dirty="0">
                <a:solidFill>
                  <a:srgbClr val="1A1F41"/>
                </a:solidFill>
                <a:latin typeface="Poppins"/>
                <a:ea typeface="Poppins"/>
                <a:cs typeface="Poppins"/>
                <a:sym typeface="Poppins"/>
              </a:rPr>
              <a:t> game</a:t>
            </a:r>
          </a:p>
          <a:p>
            <a:pPr marL="539749" lvl="1" indent="-269875" algn="just">
              <a:lnSpc>
                <a:spcPts val="3499"/>
              </a:lnSpc>
              <a:buFont typeface="Arial"/>
              <a:buChar char="•"/>
            </a:pPr>
            <a:r>
              <a:rPr lang="en-US" sz="2499" dirty="0" err="1" smtClean="0">
                <a:solidFill>
                  <a:srgbClr val="1A1F41"/>
                </a:solidFill>
                <a:latin typeface="Poppins"/>
                <a:ea typeface="Poppins"/>
                <a:cs typeface="Poppins"/>
                <a:sym typeface="Poppins"/>
              </a:rPr>
              <a:t>Thoát</a:t>
            </a:r>
            <a:r>
              <a:rPr lang="en-US" sz="2499" dirty="0" smtClean="0">
                <a:solidFill>
                  <a:srgbClr val="1A1F41"/>
                </a:solidFill>
                <a:latin typeface="Poppins"/>
                <a:ea typeface="Poppins"/>
                <a:cs typeface="Poppins"/>
                <a:sym typeface="Poppins"/>
              </a:rPr>
              <a:t> </a:t>
            </a:r>
            <a:r>
              <a:rPr lang="en-US" sz="2499" dirty="0">
                <a:solidFill>
                  <a:srgbClr val="1A1F41"/>
                </a:solidFill>
                <a:latin typeface="Poppins"/>
                <a:ea typeface="Poppins"/>
                <a:cs typeface="Poppins"/>
                <a:sym typeface="Poppins"/>
              </a:rPr>
              <a:t>game</a:t>
            </a:r>
          </a:p>
        </p:txBody>
      </p:sp>
      <p:sp>
        <p:nvSpPr>
          <p:cNvPr id="9" name="TextBox 9"/>
          <p:cNvSpPr txBox="1"/>
          <p:nvPr/>
        </p:nvSpPr>
        <p:spPr>
          <a:xfrm>
            <a:off x="438704" y="860425"/>
            <a:ext cx="5109252" cy="736600"/>
          </a:xfrm>
          <a:prstGeom prst="rect">
            <a:avLst/>
          </a:prstGeom>
        </p:spPr>
        <p:txBody>
          <a:bodyPr lIns="0" tIns="0" rIns="0" bIns="0" rtlCol="0" anchor="t">
            <a:spAutoFit/>
          </a:bodyPr>
          <a:lstStyle/>
          <a:p>
            <a:pPr marL="539751" lvl="1" algn="l">
              <a:lnSpc>
                <a:spcPts val="5750"/>
              </a:lnSpc>
            </a:pPr>
            <a:r>
              <a:rPr lang="vi-VN" sz="5000" b="1" dirty="0">
                <a:solidFill>
                  <a:srgbClr val="1A1F41"/>
                </a:solidFill>
                <a:latin typeface="Big Shoulders Display Bold"/>
                <a:ea typeface="Big Shoulders Display Bold"/>
                <a:cs typeface="Big Shoulders Display Bold"/>
                <a:sym typeface="Big Shoulders Display Bold"/>
              </a:rPr>
              <a:t>3. </a:t>
            </a:r>
            <a:r>
              <a:rPr lang="en-US" sz="5000" b="1" dirty="0">
                <a:solidFill>
                  <a:srgbClr val="1A1F41"/>
                </a:solidFill>
                <a:latin typeface="Big Shoulders Display Bold"/>
                <a:ea typeface="Big Shoulders Display Bold"/>
                <a:cs typeface="Big Shoulders Display Bold"/>
                <a:sym typeface="Big Shoulders Display Bold"/>
              </a:rPr>
              <a:t>THIẾT KẾ HỆ THỐNG</a:t>
            </a:r>
          </a:p>
        </p:txBody>
      </p:sp>
      <p:sp>
        <p:nvSpPr>
          <p:cNvPr id="10" name="TextBox 10"/>
          <p:cNvSpPr txBox="1"/>
          <p:nvPr/>
        </p:nvSpPr>
        <p:spPr>
          <a:xfrm>
            <a:off x="1368561" y="1652083"/>
            <a:ext cx="4749403" cy="441325"/>
          </a:xfrm>
          <a:prstGeom prst="rect">
            <a:avLst/>
          </a:prstGeom>
        </p:spPr>
        <p:txBody>
          <a:bodyPr lIns="0" tIns="0" rIns="0" bIns="0" rtlCol="0" anchor="t">
            <a:spAutoFit/>
          </a:bodyPr>
          <a:lstStyle/>
          <a:p>
            <a:pPr algn="ctr">
              <a:lnSpc>
                <a:spcPts val="3499"/>
              </a:lnSpc>
              <a:spcBef>
                <a:spcPct val="0"/>
              </a:spcBef>
            </a:pPr>
            <a:r>
              <a:rPr lang="en-US" sz="2499">
                <a:solidFill>
                  <a:srgbClr val="1A1F41"/>
                </a:solidFill>
                <a:latin typeface="Poppins"/>
                <a:ea typeface="Poppins"/>
                <a:cs typeface="Poppins"/>
                <a:sym typeface="Poppins"/>
              </a:rPr>
              <a:t>3.1 Sơ đồ use case (tổng quát)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TextBox 2"/>
          <p:cNvSpPr txBox="1"/>
          <p:nvPr/>
        </p:nvSpPr>
        <p:spPr>
          <a:xfrm>
            <a:off x="10625754" y="2712281"/>
            <a:ext cx="4621339" cy="2608596"/>
          </a:xfrm>
          <a:prstGeom prst="rect">
            <a:avLst/>
          </a:prstGeom>
        </p:spPr>
        <p:txBody>
          <a:bodyPr lIns="0" tIns="0" rIns="0" bIns="0" rtlCol="0" anchor="t">
            <a:spAutoFit/>
          </a:bodyPr>
          <a:lstStyle/>
          <a:p>
            <a:pPr marL="532805" lvl="1" indent="-266403" algn="l">
              <a:lnSpc>
                <a:spcPts val="3454"/>
              </a:lnSpc>
              <a:buAutoNum type="arabicPeriod"/>
            </a:pPr>
            <a:r>
              <a:rPr lang="en-US" sz="2467">
                <a:solidFill>
                  <a:srgbClr val="1A1F41"/>
                </a:solidFill>
                <a:latin typeface="Poppins"/>
                <a:ea typeface="Poppins"/>
                <a:cs typeface="Poppins"/>
                <a:sym typeface="Poppins"/>
              </a:rPr>
              <a:t>Người chơi kết nối</a:t>
            </a:r>
          </a:p>
          <a:p>
            <a:pPr marL="532805" lvl="1" indent="-266403" algn="l">
              <a:lnSpc>
                <a:spcPts val="3454"/>
              </a:lnSpc>
              <a:buAutoNum type="arabicPeriod"/>
            </a:pPr>
            <a:r>
              <a:rPr lang="en-US" sz="2467">
                <a:solidFill>
                  <a:srgbClr val="1A1F41"/>
                </a:solidFill>
                <a:latin typeface="Poppins"/>
                <a:ea typeface="Poppins"/>
                <a:cs typeface="Poppins"/>
                <a:sym typeface="Poppins"/>
              </a:rPr>
              <a:t>Vào Lobby</a:t>
            </a:r>
          </a:p>
          <a:p>
            <a:pPr marL="532805" lvl="1" indent="-266403" algn="l">
              <a:lnSpc>
                <a:spcPts val="3454"/>
              </a:lnSpc>
              <a:buAutoNum type="arabicPeriod"/>
            </a:pPr>
            <a:r>
              <a:rPr lang="en-US" sz="2467">
                <a:solidFill>
                  <a:srgbClr val="1A1F41"/>
                </a:solidFill>
                <a:latin typeface="Poppins"/>
                <a:ea typeface="Poppins"/>
                <a:cs typeface="Poppins"/>
                <a:sym typeface="Poppins"/>
              </a:rPr>
              <a:t>Chọn người chơi</a:t>
            </a:r>
          </a:p>
          <a:p>
            <a:pPr marL="532805" lvl="1" indent="-266403" algn="l">
              <a:lnSpc>
                <a:spcPts val="3454"/>
              </a:lnSpc>
              <a:buAutoNum type="arabicPeriod"/>
            </a:pPr>
            <a:r>
              <a:rPr lang="en-US" sz="2467">
                <a:solidFill>
                  <a:srgbClr val="1A1F41"/>
                </a:solidFill>
                <a:latin typeface="Poppins"/>
                <a:ea typeface="Poppins"/>
                <a:cs typeface="Poppins"/>
                <a:sym typeface="Poppins"/>
              </a:rPr>
              <a:t>Gửi thách đấu</a:t>
            </a:r>
          </a:p>
          <a:p>
            <a:pPr marL="532805" lvl="1" indent="-266403" algn="l">
              <a:lnSpc>
                <a:spcPts val="3454"/>
              </a:lnSpc>
              <a:buAutoNum type="arabicPeriod"/>
            </a:pPr>
            <a:r>
              <a:rPr lang="en-US" sz="2467">
                <a:solidFill>
                  <a:srgbClr val="1A1F41"/>
                </a:solidFill>
                <a:latin typeface="Poppins"/>
                <a:ea typeface="Poppins"/>
                <a:cs typeface="Poppins"/>
                <a:sym typeface="Poppins"/>
              </a:rPr>
              <a:t>Bắt đầu game</a:t>
            </a:r>
          </a:p>
          <a:p>
            <a:pPr marL="532805" lvl="1" indent="-266403" algn="l">
              <a:lnSpc>
                <a:spcPts val="3454"/>
              </a:lnSpc>
              <a:buAutoNum type="arabicPeriod"/>
            </a:pPr>
            <a:r>
              <a:rPr lang="en-US" sz="2467">
                <a:solidFill>
                  <a:srgbClr val="1A1F41"/>
                </a:solidFill>
                <a:latin typeface="Poppins"/>
                <a:ea typeface="Poppins"/>
                <a:cs typeface="Poppins"/>
                <a:sym typeface="Poppins"/>
              </a:rPr>
              <a:t>Chơi → kết thúc</a:t>
            </a:r>
          </a:p>
        </p:txBody>
      </p:sp>
      <p:grpSp>
        <p:nvGrpSpPr>
          <p:cNvPr id="3" name="Group 3"/>
          <p:cNvGrpSpPr/>
          <p:nvPr/>
        </p:nvGrpSpPr>
        <p:grpSpPr>
          <a:xfrm>
            <a:off x="0" y="-48335"/>
            <a:ext cx="10205638" cy="10335335"/>
            <a:chOff x="0" y="0"/>
            <a:chExt cx="1510609" cy="1529806"/>
          </a:xfrm>
        </p:grpSpPr>
        <p:sp>
          <p:nvSpPr>
            <p:cNvPr id="4" name="Freeform 4"/>
            <p:cNvSpPr/>
            <p:nvPr/>
          </p:nvSpPr>
          <p:spPr>
            <a:xfrm>
              <a:off x="0" y="0"/>
              <a:ext cx="1510609" cy="1529807"/>
            </a:xfrm>
            <a:custGeom>
              <a:avLst/>
              <a:gdLst/>
              <a:ahLst/>
              <a:cxnLst/>
              <a:rect l="l" t="t" r="r" b="b"/>
              <a:pathLst>
                <a:path w="1510609" h="1529807">
                  <a:moveTo>
                    <a:pt x="0" y="0"/>
                  </a:moveTo>
                  <a:lnTo>
                    <a:pt x="1510609" y="0"/>
                  </a:lnTo>
                  <a:lnTo>
                    <a:pt x="1510609" y="1529807"/>
                  </a:lnTo>
                  <a:lnTo>
                    <a:pt x="0" y="1529807"/>
                  </a:lnTo>
                  <a:close/>
                </a:path>
              </a:pathLst>
            </a:custGeom>
            <a:blipFill>
              <a:blip r:embed="rId2"/>
              <a:stretch>
                <a:fillRect l="-2214" r="-2214"/>
              </a:stretch>
            </a:blipFill>
          </p:spPr>
          <p:txBody>
            <a:bodyPr/>
            <a:lstStyle/>
            <a:p>
              <a:endParaRPr lang="en-US"/>
            </a:p>
          </p:txBody>
        </p:sp>
      </p:grpSp>
      <p:sp>
        <p:nvSpPr>
          <p:cNvPr id="5" name="Freeform 5"/>
          <p:cNvSpPr/>
          <p:nvPr/>
        </p:nvSpPr>
        <p:spPr>
          <a:xfrm rot="-1691021">
            <a:off x="16540182" y="-543154"/>
            <a:ext cx="2846485" cy="2008066"/>
          </a:xfrm>
          <a:custGeom>
            <a:avLst/>
            <a:gdLst/>
            <a:ahLst/>
            <a:cxnLst/>
            <a:rect l="l" t="t" r="r" b="b"/>
            <a:pathLst>
              <a:path w="2846485" h="2008066">
                <a:moveTo>
                  <a:pt x="0" y="0"/>
                </a:moveTo>
                <a:lnTo>
                  <a:pt x="2846485" y="0"/>
                </a:lnTo>
                <a:lnTo>
                  <a:pt x="2846485" y="2008066"/>
                </a:lnTo>
                <a:lnTo>
                  <a:pt x="0" y="2008066"/>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6" name="Freeform 6"/>
          <p:cNvSpPr/>
          <p:nvPr/>
        </p:nvSpPr>
        <p:spPr>
          <a:xfrm>
            <a:off x="6298412" y="-3481782"/>
            <a:ext cx="4510482" cy="4510482"/>
          </a:xfrm>
          <a:custGeom>
            <a:avLst/>
            <a:gdLst/>
            <a:ahLst/>
            <a:cxnLst/>
            <a:rect l="l" t="t" r="r" b="b"/>
            <a:pathLst>
              <a:path w="4510482" h="4510482">
                <a:moveTo>
                  <a:pt x="0" y="0"/>
                </a:moveTo>
                <a:lnTo>
                  <a:pt x="4510482" y="0"/>
                </a:lnTo>
                <a:lnTo>
                  <a:pt x="4510482" y="4510482"/>
                </a:lnTo>
                <a:lnTo>
                  <a:pt x="0" y="4510482"/>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en-US"/>
          </a:p>
        </p:txBody>
      </p:sp>
      <p:sp>
        <p:nvSpPr>
          <p:cNvPr id="7" name="TextBox 7"/>
          <p:cNvSpPr txBox="1"/>
          <p:nvPr/>
        </p:nvSpPr>
        <p:spPr>
          <a:xfrm>
            <a:off x="10334254" y="1047750"/>
            <a:ext cx="6925046" cy="736600"/>
          </a:xfrm>
          <a:prstGeom prst="rect">
            <a:avLst/>
          </a:prstGeom>
        </p:spPr>
        <p:txBody>
          <a:bodyPr lIns="0" tIns="0" rIns="0" bIns="0" rtlCol="0" anchor="t">
            <a:spAutoFit/>
          </a:bodyPr>
          <a:lstStyle/>
          <a:p>
            <a:pPr marL="0" lvl="0" indent="0" algn="l">
              <a:lnSpc>
                <a:spcPts val="5750"/>
              </a:lnSpc>
              <a:spcBef>
                <a:spcPct val="0"/>
              </a:spcBef>
            </a:pPr>
            <a:r>
              <a:rPr lang="en-US" sz="5000" b="1">
                <a:solidFill>
                  <a:srgbClr val="1A1F41"/>
                </a:solidFill>
                <a:latin typeface="Big Shoulders Display Bold"/>
                <a:ea typeface="Big Shoulders Display Bold"/>
                <a:cs typeface="Big Shoulders Display Bold"/>
                <a:sym typeface="Big Shoulders Display Bold"/>
              </a:rPr>
              <a:t>3.THIẾT KẾ HỆ THỐNG</a:t>
            </a:r>
          </a:p>
        </p:txBody>
      </p:sp>
      <p:sp>
        <p:nvSpPr>
          <p:cNvPr id="8" name="TextBox 8"/>
          <p:cNvSpPr txBox="1"/>
          <p:nvPr/>
        </p:nvSpPr>
        <p:spPr>
          <a:xfrm>
            <a:off x="10474473" y="1951394"/>
            <a:ext cx="3087737" cy="441325"/>
          </a:xfrm>
          <a:prstGeom prst="rect">
            <a:avLst/>
          </a:prstGeom>
        </p:spPr>
        <p:txBody>
          <a:bodyPr lIns="0" tIns="0" rIns="0" bIns="0" rtlCol="0" anchor="t">
            <a:spAutoFit/>
          </a:bodyPr>
          <a:lstStyle/>
          <a:p>
            <a:pPr algn="ctr">
              <a:lnSpc>
                <a:spcPts val="3499"/>
              </a:lnSpc>
              <a:spcBef>
                <a:spcPct val="0"/>
              </a:spcBef>
            </a:pPr>
            <a:r>
              <a:rPr lang="en-US" sz="2499">
                <a:solidFill>
                  <a:srgbClr val="1A1F41"/>
                </a:solidFill>
                <a:latin typeface="Poppins"/>
                <a:ea typeface="Poppins"/>
                <a:cs typeface="Poppins"/>
                <a:sym typeface="Poppins"/>
              </a:rPr>
              <a:t>3.2 Sơ đồ hoạt động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2" name="Group 2"/>
          <p:cNvGrpSpPr/>
          <p:nvPr/>
        </p:nvGrpSpPr>
        <p:grpSpPr>
          <a:xfrm>
            <a:off x="7204845" y="871631"/>
            <a:ext cx="11264692" cy="8229600"/>
            <a:chOff x="0" y="0"/>
            <a:chExt cx="1885581" cy="1377541"/>
          </a:xfrm>
        </p:grpSpPr>
        <p:sp>
          <p:nvSpPr>
            <p:cNvPr id="3" name="Freeform 3"/>
            <p:cNvSpPr/>
            <p:nvPr/>
          </p:nvSpPr>
          <p:spPr>
            <a:xfrm>
              <a:off x="0" y="0"/>
              <a:ext cx="1885581" cy="1377541"/>
            </a:xfrm>
            <a:custGeom>
              <a:avLst/>
              <a:gdLst/>
              <a:ahLst/>
              <a:cxnLst/>
              <a:rect l="l" t="t" r="r" b="b"/>
              <a:pathLst>
                <a:path w="1885581" h="1377541">
                  <a:moveTo>
                    <a:pt x="0" y="0"/>
                  </a:moveTo>
                  <a:lnTo>
                    <a:pt x="1885581" y="0"/>
                  </a:lnTo>
                  <a:lnTo>
                    <a:pt x="1885581" y="1377541"/>
                  </a:lnTo>
                  <a:lnTo>
                    <a:pt x="0" y="1377541"/>
                  </a:lnTo>
                  <a:close/>
                </a:path>
              </a:pathLst>
            </a:custGeom>
            <a:blipFill>
              <a:blip r:embed="rId2"/>
              <a:stretch>
                <a:fillRect l="-2988" r="-2988"/>
              </a:stretch>
            </a:blipFill>
          </p:spPr>
          <p:txBody>
            <a:bodyPr/>
            <a:lstStyle/>
            <a:p>
              <a:endParaRPr lang="en-US"/>
            </a:p>
          </p:txBody>
        </p:sp>
      </p:grpSp>
      <p:sp>
        <p:nvSpPr>
          <p:cNvPr id="4" name="Freeform 4"/>
          <p:cNvSpPr/>
          <p:nvPr/>
        </p:nvSpPr>
        <p:spPr>
          <a:xfrm rot="677007">
            <a:off x="5650883" y="7719983"/>
            <a:ext cx="1734216" cy="1223411"/>
          </a:xfrm>
          <a:custGeom>
            <a:avLst/>
            <a:gdLst/>
            <a:ahLst/>
            <a:cxnLst/>
            <a:rect l="l" t="t" r="r" b="b"/>
            <a:pathLst>
              <a:path w="1734216" h="1223411">
                <a:moveTo>
                  <a:pt x="0" y="0"/>
                </a:moveTo>
                <a:lnTo>
                  <a:pt x="1734217" y="0"/>
                </a:lnTo>
                <a:lnTo>
                  <a:pt x="1734217" y="1223411"/>
                </a:lnTo>
                <a:lnTo>
                  <a:pt x="0" y="1223411"/>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5" name="Freeform 5"/>
          <p:cNvSpPr/>
          <p:nvPr/>
        </p:nvSpPr>
        <p:spPr>
          <a:xfrm rot="-2262585">
            <a:off x="5892678" y="1926312"/>
            <a:ext cx="1734216" cy="1223411"/>
          </a:xfrm>
          <a:custGeom>
            <a:avLst/>
            <a:gdLst/>
            <a:ahLst/>
            <a:cxnLst/>
            <a:rect l="l" t="t" r="r" b="b"/>
            <a:pathLst>
              <a:path w="1734216" h="1223411">
                <a:moveTo>
                  <a:pt x="0" y="0"/>
                </a:moveTo>
                <a:lnTo>
                  <a:pt x="1734216" y="0"/>
                </a:lnTo>
                <a:lnTo>
                  <a:pt x="1734216" y="1223411"/>
                </a:lnTo>
                <a:lnTo>
                  <a:pt x="0" y="1223411"/>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6" name="Freeform 6"/>
          <p:cNvSpPr/>
          <p:nvPr/>
        </p:nvSpPr>
        <p:spPr>
          <a:xfrm>
            <a:off x="8155420" y="9556634"/>
            <a:ext cx="3322868" cy="3322868"/>
          </a:xfrm>
          <a:custGeom>
            <a:avLst/>
            <a:gdLst/>
            <a:ahLst/>
            <a:cxnLst/>
            <a:rect l="l" t="t" r="r" b="b"/>
            <a:pathLst>
              <a:path w="3322868" h="3322868">
                <a:moveTo>
                  <a:pt x="0" y="0"/>
                </a:moveTo>
                <a:lnTo>
                  <a:pt x="3322868" y="0"/>
                </a:lnTo>
                <a:lnTo>
                  <a:pt x="3322868" y="3322868"/>
                </a:lnTo>
                <a:lnTo>
                  <a:pt x="0" y="3322868"/>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en-US"/>
          </a:p>
        </p:txBody>
      </p:sp>
      <p:sp>
        <p:nvSpPr>
          <p:cNvPr id="7" name="Freeform 7"/>
          <p:cNvSpPr/>
          <p:nvPr/>
        </p:nvSpPr>
        <p:spPr>
          <a:xfrm>
            <a:off x="15597866" y="-2575599"/>
            <a:ext cx="3322868" cy="3322868"/>
          </a:xfrm>
          <a:custGeom>
            <a:avLst/>
            <a:gdLst/>
            <a:ahLst/>
            <a:cxnLst/>
            <a:rect l="l" t="t" r="r" b="b"/>
            <a:pathLst>
              <a:path w="3322868" h="3322868">
                <a:moveTo>
                  <a:pt x="0" y="0"/>
                </a:moveTo>
                <a:lnTo>
                  <a:pt x="3322868" y="0"/>
                </a:lnTo>
                <a:lnTo>
                  <a:pt x="3322868" y="3322868"/>
                </a:lnTo>
                <a:lnTo>
                  <a:pt x="0" y="3322868"/>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en-US"/>
          </a:p>
        </p:txBody>
      </p:sp>
      <p:sp>
        <p:nvSpPr>
          <p:cNvPr id="8" name="TextBox 8"/>
          <p:cNvSpPr txBox="1"/>
          <p:nvPr/>
        </p:nvSpPr>
        <p:spPr>
          <a:xfrm>
            <a:off x="1239316" y="3287417"/>
            <a:ext cx="4519255" cy="4013278"/>
          </a:xfrm>
          <a:prstGeom prst="rect">
            <a:avLst/>
          </a:prstGeom>
        </p:spPr>
        <p:txBody>
          <a:bodyPr lIns="0" tIns="0" rIns="0" bIns="0" rtlCol="0" anchor="t">
            <a:spAutoFit/>
          </a:bodyPr>
          <a:lstStyle/>
          <a:p>
            <a:pPr algn="l">
              <a:lnSpc>
                <a:spcPts val="3499"/>
              </a:lnSpc>
            </a:pPr>
            <a:r>
              <a:rPr lang="en-US" sz="2499" dirty="0" err="1">
                <a:solidFill>
                  <a:srgbClr val="1A1F41"/>
                </a:solidFill>
                <a:latin typeface="Poppins"/>
                <a:ea typeface="Poppins"/>
                <a:cs typeface="Poppins"/>
                <a:sym typeface="Poppins"/>
              </a:rPr>
              <a:t>Các</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đối</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tượng</a:t>
            </a:r>
            <a:r>
              <a:rPr lang="en-US" sz="2499" dirty="0">
                <a:solidFill>
                  <a:srgbClr val="1A1F41"/>
                </a:solidFill>
                <a:latin typeface="Poppins"/>
                <a:ea typeface="Poppins"/>
                <a:cs typeface="Poppins"/>
                <a:sym typeface="Poppins"/>
              </a:rPr>
              <a:t>:</a:t>
            </a:r>
          </a:p>
          <a:p>
            <a:pPr marL="539749" lvl="1" indent="-269875" algn="l">
              <a:lnSpc>
                <a:spcPts val="3499"/>
              </a:lnSpc>
              <a:buFont typeface="Arial"/>
              <a:buChar char="•"/>
            </a:pPr>
            <a:r>
              <a:rPr lang="en-US" sz="2499" dirty="0">
                <a:solidFill>
                  <a:srgbClr val="1A1F41"/>
                </a:solidFill>
                <a:latin typeface="Poppins"/>
                <a:ea typeface="Poppins"/>
                <a:cs typeface="Poppins"/>
                <a:sym typeface="Poppins"/>
              </a:rPr>
              <a:t>Client </a:t>
            </a:r>
            <a:r>
              <a:rPr lang="en-US" sz="2499" dirty="0" smtClean="0">
                <a:solidFill>
                  <a:srgbClr val="1A1F41"/>
                </a:solidFill>
                <a:latin typeface="Poppins"/>
                <a:ea typeface="Poppins"/>
                <a:cs typeface="Poppins"/>
                <a:sym typeface="Poppins"/>
              </a:rPr>
              <a:t>A</a:t>
            </a:r>
            <a:endParaRPr lang="en-US" sz="2499" dirty="0">
              <a:solidFill>
                <a:srgbClr val="1A1F41"/>
              </a:solidFill>
              <a:latin typeface="Poppins"/>
              <a:ea typeface="Poppins"/>
              <a:cs typeface="Poppins"/>
              <a:sym typeface="Poppins"/>
            </a:endParaRPr>
          </a:p>
          <a:p>
            <a:pPr marL="539749" lvl="1" indent="-269875" algn="l">
              <a:lnSpc>
                <a:spcPts val="3499"/>
              </a:lnSpc>
              <a:buFont typeface="Arial"/>
              <a:buChar char="•"/>
            </a:pPr>
            <a:r>
              <a:rPr lang="en-US" sz="2499" dirty="0">
                <a:solidFill>
                  <a:srgbClr val="1A1F41"/>
                </a:solidFill>
                <a:latin typeface="Poppins"/>
                <a:ea typeface="Poppins"/>
                <a:cs typeface="Poppins"/>
                <a:sym typeface="Poppins"/>
              </a:rPr>
              <a:t>Server</a:t>
            </a:r>
          </a:p>
          <a:p>
            <a:pPr marL="539749" lvl="1" indent="-269875" algn="l">
              <a:lnSpc>
                <a:spcPts val="3499"/>
              </a:lnSpc>
              <a:buFont typeface="Arial"/>
              <a:buChar char="•"/>
            </a:pPr>
            <a:r>
              <a:rPr lang="en-US" sz="2499" dirty="0">
                <a:solidFill>
                  <a:srgbClr val="1A1F41"/>
                </a:solidFill>
                <a:latin typeface="Poppins"/>
                <a:ea typeface="Poppins"/>
                <a:cs typeface="Poppins"/>
                <a:sym typeface="Poppins"/>
              </a:rPr>
              <a:t>Client </a:t>
            </a:r>
            <a:r>
              <a:rPr lang="en-US" sz="2499" dirty="0" smtClean="0">
                <a:solidFill>
                  <a:srgbClr val="1A1F41"/>
                </a:solidFill>
                <a:latin typeface="Poppins"/>
                <a:ea typeface="Poppins"/>
                <a:cs typeface="Poppins"/>
                <a:sym typeface="Poppins"/>
              </a:rPr>
              <a:t>B</a:t>
            </a:r>
            <a:endParaRPr lang="en-US" sz="2499" dirty="0">
              <a:solidFill>
                <a:srgbClr val="1A1F41"/>
              </a:solidFill>
              <a:latin typeface="Poppins"/>
              <a:ea typeface="Poppins"/>
              <a:cs typeface="Poppins"/>
              <a:sym typeface="Poppins"/>
            </a:endParaRPr>
          </a:p>
          <a:p>
            <a:pPr algn="l">
              <a:lnSpc>
                <a:spcPts val="3499"/>
              </a:lnSpc>
            </a:pPr>
            <a:r>
              <a:rPr lang="en-US" sz="2499" dirty="0" err="1">
                <a:solidFill>
                  <a:srgbClr val="1A1F41"/>
                </a:solidFill>
                <a:latin typeface="Poppins"/>
                <a:ea typeface="Poppins"/>
                <a:cs typeface="Poppins"/>
                <a:sym typeface="Poppins"/>
              </a:rPr>
              <a:t>Luồng</a:t>
            </a:r>
            <a:r>
              <a:rPr lang="en-US" sz="2499" dirty="0">
                <a:solidFill>
                  <a:srgbClr val="1A1F41"/>
                </a:solidFill>
                <a:latin typeface="Poppins"/>
                <a:ea typeface="Poppins"/>
                <a:cs typeface="Poppins"/>
                <a:sym typeface="Poppins"/>
              </a:rPr>
              <a:t>:</a:t>
            </a:r>
          </a:p>
          <a:p>
            <a:pPr marL="539749" lvl="1" indent="-269875" algn="l">
              <a:lnSpc>
                <a:spcPts val="3499"/>
              </a:lnSpc>
              <a:buFont typeface="Arial"/>
              <a:buChar char="•"/>
            </a:pPr>
            <a:r>
              <a:rPr lang="en-US" sz="2499" dirty="0">
                <a:solidFill>
                  <a:srgbClr val="1A1F41"/>
                </a:solidFill>
                <a:latin typeface="Poppins"/>
                <a:ea typeface="Poppins"/>
                <a:cs typeface="Poppins"/>
                <a:sym typeface="Poppins"/>
              </a:rPr>
              <a:t>Client </a:t>
            </a:r>
            <a:r>
              <a:rPr lang="en-US" sz="2499" dirty="0" err="1">
                <a:solidFill>
                  <a:srgbClr val="1A1F41"/>
                </a:solidFill>
                <a:latin typeface="Poppins"/>
                <a:ea typeface="Poppins"/>
                <a:cs typeface="Poppins"/>
                <a:sym typeface="Poppins"/>
              </a:rPr>
              <a:t>gửi</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reuqest</a:t>
            </a:r>
            <a:endParaRPr lang="en-US" sz="2499" dirty="0">
              <a:solidFill>
                <a:srgbClr val="1A1F41"/>
              </a:solidFill>
              <a:latin typeface="Poppins"/>
              <a:ea typeface="Poppins"/>
              <a:cs typeface="Poppins"/>
              <a:sym typeface="Poppins"/>
            </a:endParaRPr>
          </a:p>
          <a:p>
            <a:pPr marL="539749" lvl="1" indent="-269875" algn="l">
              <a:lnSpc>
                <a:spcPts val="3499"/>
              </a:lnSpc>
              <a:buFont typeface="Arial"/>
              <a:buChar char="•"/>
            </a:pPr>
            <a:r>
              <a:rPr lang="en-US" sz="2499" dirty="0">
                <a:solidFill>
                  <a:srgbClr val="1A1F41"/>
                </a:solidFill>
                <a:latin typeface="Poppins"/>
                <a:ea typeface="Poppins"/>
                <a:cs typeface="Poppins"/>
                <a:sym typeface="Poppins"/>
              </a:rPr>
              <a:t>Server </a:t>
            </a:r>
            <a:r>
              <a:rPr lang="en-US" sz="2499" dirty="0" err="1">
                <a:solidFill>
                  <a:srgbClr val="1A1F41"/>
                </a:solidFill>
                <a:latin typeface="Poppins"/>
                <a:ea typeface="Poppins"/>
                <a:cs typeface="Poppins"/>
                <a:sym typeface="Poppins"/>
              </a:rPr>
              <a:t>xử</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lí</a:t>
            </a:r>
            <a:endParaRPr lang="en-US" sz="2499" dirty="0">
              <a:solidFill>
                <a:srgbClr val="1A1F41"/>
              </a:solidFill>
              <a:latin typeface="Poppins"/>
              <a:ea typeface="Poppins"/>
              <a:cs typeface="Poppins"/>
              <a:sym typeface="Poppins"/>
            </a:endParaRPr>
          </a:p>
          <a:p>
            <a:pPr marL="539749" lvl="1" indent="-269875" algn="l">
              <a:lnSpc>
                <a:spcPts val="3499"/>
              </a:lnSpc>
              <a:buFont typeface="Arial"/>
              <a:buChar char="•"/>
            </a:pPr>
            <a:r>
              <a:rPr lang="en-US" sz="2499" dirty="0">
                <a:solidFill>
                  <a:srgbClr val="1A1F41"/>
                </a:solidFill>
                <a:latin typeface="Poppins"/>
                <a:ea typeface="Poppins"/>
                <a:cs typeface="Poppins"/>
                <a:sym typeface="Poppins"/>
              </a:rPr>
              <a:t>Server </a:t>
            </a:r>
            <a:r>
              <a:rPr lang="en-US" sz="2499" dirty="0" err="1">
                <a:solidFill>
                  <a:srgbClr val="1A1F41"/>
                </a:solidFill>
                <a:latin typeface="Poppins"/>
                <a:ea typeface="Poppins"/>
                <a:cs typeface="Poppins"/>
                <a:sym typeface="Poppins"/>
              </a:rPr>
              <a:t>gửi</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lại</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cho</a:t>
            </a:r>
            <a:r>
              <a:rPr lang="en-US" sz="2499" dirty="0">
                <a:solidFill>
                  <a:srgbClr val="1A1F41"/>
                </a:solidFill>
                <a:latin typeface="Poppins"/>
                <a:ea typeface="Poppins"/>
                <a:cs typeface="Poppins"/>
                <a:sym typeface="Poppins"/>
              </a:rPr>
              <a:t> client </a:t>
            </a:r>
            <a:r>
              <a:rPr lang="en-US" sz="2499" dirty="0" err="1">
                <a:solidFill>
                  <a:srgbClr val="1A1F41"/>
                </a:solidFill>
                <a:latin typeface="Poppins"/>
                <a:ea typeface="Poppins"/>
                <a:cs typeface="Poppins"/>
                <a:sym typeface="Poppins"/>
              </a:rPr>
              <a:t>còn</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lại</a:t>
            </a:r>
            <a:endParaRPr lang="en-US" sz="2499" dirty="0">
              <a:solidFill>
                <a:srgbClr val="1A1F41"/>
              </a:solidFill>
              <a:latin typeface="Poppins"/>
              <a:ea typeface="Poppins"/>
              <a:cs typeface="Poppins"/>
              <a:sym typeface="Poppins"/>
            </a:endParaRPr>
          </a:p>
        </p:txBody>
      </p:sp>
      <p:sp>
        <p:nvSpPr>
          <p:cNvPr id="9" name="TextBox 9"/>
          <p:cNvSpPr txBox="1"/>
          <p:nvPr/>
        </p:nvSpPr>
        <p:spPr>
          <a:xfrm>
            <a:off x="438704" y="860425"/>
            <a:ext cx="5109252" cy="736600"/>
          </a:xfrm>
          <a:prstGeom prst="rect">
            <a:avLst/>
          </a:prstGeom>
        </p:spPr>
        <p:txBody>
          <a:bodyPr lIns="0" tIns="0" rIns="0" bIns="0" rtlCol="0" anchor="t">
            <a:spAutoFit/>
          </a:bodyPr>
          <a:lstStyle/>
          <a:p>
            <a:pPr marL="539751" lvl="1" algn="l">
              <a:lnSpc>
                <a:spcPts val="5750"/>
              </a:lnSpc>
            </a:pPr>
            <a:r>
              <a:rPr lang="vi-VN" sz="5000" b="1" dirty="0">
                <a:solidFill>
                  <a:srgbClr val="1A1F41"/>
                </a:solidFill>
                <a:latin typeface="Big Shoulders Display Bold"/>
                <a:ea typeface="Big Shoulders Display Bold"/>
                <a:cs typeface="Big Shoulders Display Bold"/>
                <a:sym typeface="Big Shoulders Display Bold"/>
              </a:rPr>
              <a:t>3. </a:t>
            </a:r>
            <a:r>
              <a:rPr lang="en-US" sz="5000" b="1" dirty="0">
                <a:solidFill>
                  <a:srgbClr val="1A1F41"/>
                </a:solidFill>
                <a:latin typeface="Big Shoulders Display Bold"/>
                <a:ea typeface="Big Shoulders Display Bold"/>
                <a:cs typeface="Big Shoulders Display Bold"/>
                <a:sym typeface="Big Shoulders Display Bold"/>
              </a:rPr>
              <a:t>THIẾT KẾ HỆ THỐNG</a:t>
            </a:r>
          </a:p>
        </p:txBody>
      </p:sp>
      <p:sp>
        <p:nvSpPr>
          <p:cNvPr id="10" name="TextBox 10"/>
          <p:cNvSpPr txBox="1"/>
          <p:nvPr/>
        </p:nvSpPr>
        <p:spPr>
          <a:xfrm>
            <a:off x="2487154" y="1652083"/>
            <a:ext cx="2512219" cy="441325"/>
          </a:xfrm>
          <a:prstGeom prst="rect">
            <a:avLst/>
          </a:prstGeom>
        </p:spPr>
        <p:txBody>
          <a:bodyPr lIns="0" tIns="0" rIns="0" bIns="0" rtlCol="0" anchor="t">
            <a:spAutoFit/>
          </a:bodyPr>
          <a:lstStyle/>
          <a:p>
            <a:pPr algn="ctr">
              <a:lnSpc>
                <a:spcPts val="3499"/>
              </a:lnSpc>
              <a:spcBef>
                <a:spcPct val="0"/>
              </a:spcBef>
            </a:pPr>
            <a:r>
              <a:rPr lang="en-US" sz="2499">
                <a:solidFill>
                  <a:srgbClr val="1A1F41"/>
                </a:solidFill>
                <a:latin typeface="Poppins"/>
                <a:ea typeface="Poppins"/>
                <a:cs typeface="Poppins"/>
                <a:sym typeface="Poppins"/>
              </a:rPr>
              <a:t>3.1 Sơ đồ tuần tự</a:t>
            </a:r>
          </a:p>
        </p:txBody>
      </p:sp>
      <p:sp>
        <p:nvSpPr>
          <p:cNvPr id="11" name="TextBox 11"/>
          <p:cNvSpPr txBox="1"/>
          <p:nvPr/>
        </p:nvSpPr>
        <p:spPr>
          <a:xfrm>
            <a:off x="1239316" y="2584563"/>
            <a:ext cx="3508028" cy="441325"/>
          </a:xfrm>
          <a:prstGeom prst="rect">
            <a:avLst/>
          </a:prstGeom>
        </p:spPr>
        <p:txBody>
          <a:bodyPr lIns="0" tIns="0" rIns="0" bIns="0" rtlCol="0" anchor="t">
            <a:spAutoFit/>
          </a:bodyPr>
          <a:lstStyle/>
          <a:p>
            <a:pPr algn="ctr">
              <a:lnSpc>
                <a:spcPts val="3499"/>
              </a:lnSpc>
              <a:spcBef>
                <a:spcPct val="0"/>
              </a:spcBef>
            </a:pPr>
            <a:r>
              <a:rPr lang="en-US" sz="2499">
                <a:solidFill>
                  <a:srgbClr val="1A1F41"/>
                </a:solidFill>
                <a:latin typeface="Poppins"/>
                <a:ea typeface="Poppins"/>
                <a:cs typeface="Poppins"/>
                <a:sym typeface="Poppins"/>
              </a:rPr>
              <a:t>các chức năng chính::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677007">
            <a:off x="-232435" y="9282967"/>
            <a:ext cx="2846485" cy="2008066"/>
          </a:xfrm>
          <a:custGeom>
            <a:avLst/>
            <a:gdLst/>
            <a:ahLst/>
            <a:cxnLst/>
            <a:rect l="l" t="t" r="r" b="b"/>
            <a:pathLst>
              <a:path w="2846485" h="2008066">
                <a:moveTo>
                  <a:pt x="0" y="0"/>
                </a:moveTo>
                <a:lnTo>
                  <a:pt x="2846486" y="0"/>
                </a:lnTo>
                <a:lnTo>
                  <a:pt x="2846486" y="2008066"/>
                </a:lnTo>
                <a:lnTo>
                  <a:pt x="0" y="2008066"/>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3" name="Freeform 3"/>
          <p:cNvSpPr/>
          <p:nvPr/>
        </p:nvSpPr>
        <p:spPr>
          <a:xfrm>
            <a:off x="17030869" y="1500680"/>
            <a:ext cx="5578495" cy="5578495"/>
          </a:xfrm>
          <a:custGeom>
            <a:avLst/>
            <a:gdLst/>
            <a:ahLst/>
            <a:cxnLst/>
            <a:rect l="l" t="t" r="r" b="b"/>
            <a:pathLst>
              <a:path w="5578495" h="5578495">
                <a:moveTo>
                  <a:pt x="0" y="0"/>
                </a:moveTo>
                <a:lnTo>
                  <a:pt x="5578495" y="0"/>
                </a:lnTo>
                <a:lnTo>
                  <a:pt x="5578495" y="5578495"/>
                </a:lnTo>
                <a:lnTo>
                  <a:pt x="0" y="5578495"/>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4" name="Freeform 4"/>
          <p:cNvSpPr/>
          <p:nvPr/>
        </p:nvSpPr>
        <p:spPr>
          <a:xfrm>
            <a:off x="1635256" y="1149725"/>
            <a:ext cx="5606026" cy="5834545"/>
          </a:xfrm>
          <a:custGeom>
            <a:avLst/>
            <a:gdLst/>
            <a:ahLst/>
            <a:cxnLst/>
            <a:rect l="l" t="t" r="r" b="b"/>
            <a:pathLst>
              <a:path w="5606026" h="5834545">
                <a:moveTo>
                  <a:pt x="0" y="0"/>
                </a:moveTo>
                <a:lnTo>
                  <a:pt x="5606026" y="0"/>
                </a:lnTo>
                <a:lnTo>
                  <a:pt x="5606026" y="5834545"/>
                </a:lnTo>
                <a:lnTo>
                  <a:pt x="0" y="5834545"/>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9021342" y="1308314"/>
            <a:ext cx="6925046" cy="736600"/>
          </a:xfrm>
          <a:prstGeom prst="rect">
            <a:avLst/>
          </a:prstGeom>
        </p:spPr>
        <p:txBody>
          <a:bodyPr lIns="0" tIns="0" rIns="0" bIns="0" rtlCol="0" anchor="t">
            <a:spAutoFit/>
          </a:bodyPr>
          <a:lstStyle/>
          <a:p>
            <a:pPr marL="539751" lvl="1" algn="l">
              <a:lnSpc>
                <a:spcPts val="5750"/>
              </a:lnSpc>
              <a:spcBef>
                <a:spcPct val="0"/>
              </a:spcBef>
            </a:pPr>
            <a:r>
              <a:rPr lang="vi-VN" sz="5000" b="1" dirty="0">
                <a:solidFill>
                  <a:srgbClr val="1A1F41"/>
                </a:solidFill>
                <a:latin typeface="Big Shoulders Display Bold"/>
                <a:ea typeface="Big Shoulders Display Bold"/>
                <a:cs typeface="Big Shoulders Display Bold"/>
                <a:sym typeface="Big Shoulders Display Bold"/>
              </a:rPr>
              <a:t>4. </a:t>
            </a:r>
            <a:r>
              <a:rPr lang="en-US" sz="5000" b="1" dirty="0">
                <a:solidFill>
                  <a:srgbClr val="1A1F41"/>
                </a:solidFill>
                <a:latin typeface="Big Shoulders Display Bold"/>
                <a:ea typeface="Big Shoulders Display Bold"/>
                <a:cs typeface="Big Shoulders Display Bold"/>
                <a:sym typeface="Big Shoulders Display Bold"/>
              </a:rPr>
              <a:t>CÀI ĐẶT VÀ TRIỂN KHAI</a:t>
            </a:r>
          </a:p>
        </p:txBody>
      </p:sp>
      <p:sp>
        <p:nvSpPr>
          <p:cNvPr id="6" name="TextBox 6"/>
          <p:cNvSpPr txBox="1"/>
          <p:nvPr/>
        </p:nvSpPr>
        <p:spPr>
          <a:xfrm>
            <a:off x="9711561" y="2667030"/>
            <a:ext cx="6234827" cy="3508375"/>
          </a:xfrm>
          <a:prstGeom prst="rect">
            <a:avLst/>
          </a:prstGeom>
        </p:spPr>
        <p:txBody>
          <a:bodyPr lIns="0" tIns="0" rIns="0" bIns="0" rtlCol="0" anchor="t">
            <a:spAutoFit/>
          </a:bodyPr>
          <a:lstStyle/>
          <a:p>
            <a:pPr algn="l">
              <a:lnSpc>
                <a:spcPts val="3499"/>
              </a:lnSpc>
            </a:pPr>
            <a:r>
              <a:rPr lang="en-US" sz="2499">
                <a:solidFill>
                  <a:srgbClr val="1A1F41"/>
                </a:solidFill>
                <a:latin typeface="Poppins"/>
                <a:ea typeface="Poppins"/>
                <a:cs typeface="Poppins"/>
                <a:sym typeface="Poppins"/>
              </a:rPr>
              <a:t>Mô hình Client -server : hệ thống áp dụng mô hình Client-server chuẩn, trong đó server đóng vai trò điều phối cho mọi trận đấu</a:t>
            </a:r>
          </a:p>
          <a:p>
            <a:pPr algn="l">
              <a:lnSpc>
                <a:spcPts val="3499"/>
              </a:lnSpc>
            </a:pPr>
            <a:r>
              <a:rPr lang="en-US" sz="2499">
                <a:solidFill>
                  <a:srgbClr val="1A1F41"/>
                </a:solidFill>
                <a:latin typeface="Poppins"/>
                <a:ea typeface="Poppins"/>
                <a:cs typeface="Poppins"/>
                <a:sym typeface="Poppins"/>
              </a:rPr>
              <a:t>Giao thức TCP có kết nối được chọn thay vì UDP để đảm bảo tính tin cậy tuyệt đối - tránh mất gói tin hoặc sai lệch thứ tự trạng thái bàn cờ</a:t>
            </a:r>
          </a:p>
        </p:txBody>
      </p:sp>
      <p:sp>
        <p:nvSpPr>
          <p:cNvPr id="7" name="TextBox 7"/>
          <p:cNvSpPr txBox="1"/>
          <p:nvPr/>
        </p:nvSpPr>
        <p:spPr>
          <a:xfrm>
            <a:off x="9867646" y="1978239"/>
            <a:ext cx="4634210" cy="441325"/>
          </a:xfrm>
          <a:prstGeom prst="rect">
            <a:avLst/>
          </a:prstGeom>
        </p:spPr>
        <p:txBody>
          <a:bodyPr lIns="0" tIns="0" rIns="0" bIns="0" rtlCol="0" anchor="t">
            <a:spAutoFit/>
          </a:bodyPr>
          <a:lstStyle/>
          <a:p>
            <a:pPr algn="ctr">
              <a:lnSpc>
                <a:spcPts val="3499"/>
              </a:lnSpc>
              <a:spcBef>
                <a:spcPct val="0"/>
              </a:spcBef>
            </a:pPr>
            <a:r>
              <a:rPr lang="en-US" sz="2499">
                <a:solidFill>
                  <a:srgbClr val="1A1F41"/>
                </a:solidFill>
                <a:latin typeface="Poppins"/>
                <a:ea typeface="Poppins"/>
                <a:cs typeface="Poppins"/>
                <a:sym typeface="Poppins"/>
              </a:rPr>
              <a:t>4.1 Mô hình &amp; giao thức mạng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1691021">
            <a:off x="15919929" y="2558110"/>
            <a:ext cx="2846485" cy="2008066"/>
          </a:xfrm>
          <a:custGeom>
            <a:avLst/>
            <a:gdLst/>
            <a:ahLst/>
            <a:cxnLst/>
            <a:rect l="l" t="t" r="r" b="b"/>
            <a:pathLst>
              <a:path w="2846485" h="2008066">
                <a:moveTo>
                  <a:pt x="0" y="0"/>
                </a:moveTo>
                <a:lnTo>
                  <a:pt x="2846486" y="0"/>
                </a:lnTo>
                <a:lnTo>
                  <a:pt x="2846486" y="2008065"/>
                </a:lnTo>
                <a:lnTo>
                  <a:pt x="0" y="2008065"/>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3" name="TextBox 3"/>
          <p:cNvSpPr txBox="1"/>
          <p:nvPr/>
        </p:nvSpPr>
        <p:spPr>
          <a:xfrm>
            <a:off x="2068097" y="3098586"/>
            <a:ext cx="10420421" cy="4384675"/>
          </a:xfrm>
          <a:prstGeom prst="rect">
            <a:avLst/>
          </a:prstGeom>
        </p:spPr>
        <p:txBody>
          <a:bodyPr lIns="0" tIns="0" rIns="0" bIns="0" rtlCol="0" anchor="t">
            <a:spAutoFit/>
          </a:bodyPr>
          <a:lstStyle/>
          <a:p>
            <a:pPr marL="539749" lvl="1" indent="-269875" algn="just">
              <a:lnSpc>
                <a:spcPts val="3499"/>
              </a:lnSpc>
              <a:buFont typeface="Arial"/>
              <a:buChar char="•"/>
            </a:pPr>
            <a:r>
              <a:rPr lang="en-US" sz="2499">
                <a:solidFill>
                  <a:srgbClr val="1A1F41"/>
                </a:solidFill>
                <a:latin typeface="Poppins"/>
                <a:ea typeface="Poppins"/>
                <a:cs typeface="Poppins"/>
                <a:sym typeface="Poppins"/>
              </a:rPr>
              <a:t>Phía server: Khi nhận yêu cầu đánh cờ, Server kiểm tra người gửi có đúng lượt không. Nếu sai lượt hoặc ô không hợp lệ, Server phản hồi ngay bằng thông báo lỗi cụ thể về Client. Nếu hợp lệ, Server cập nhật bàn cờ, lưu lại nước đi, kiểm tra thắng/hòa rồi chuyển lượt và gửi trạng thái mới cho cả hai người chơi.</a:t>
            </a:r>
          </a:p>
          <a:p>
            <a:pPr marL="539749" lvl="1" indent="-269875" algn="just">
              <a:lnSpc>
                <a:spcPts val="3499"/>
              </a:lnSpc>
              <a:spcBef>
                <a:spcPct val="0"/>
              </a:spcBef>
              <a:buFont typeface="Arial"/>
              <a:buChar char="•"/>
            </a:pPr>
            <a:r>
              <a:rPr lang="en-US" sz="2499">
                <a:solidFill>
                  <a:srgbClr val="1A1F41"/>
                </a:solidFill>
                <a:latin typeface="Poppins"/>
                <a:ea typeface="Poppins"/>
                <a:cs typeface="Poppins"/>
                <a:sym typeface="Poppins"/>
              </a:rPr>
              <a:t>Phía client: Client chỉ gửi yêu cầu đánh cờ khi đến lượt của mình. Sau khi nhận được trạng thái mới từ Server, giao diện sẽ cập nhật bàn cờ, hiển thị lượt chơi hiện tại và thời gian còn lại của lượt.</a:t>
            </a:r>
          </a:p>
        </p:txBody>
      </p:sp>
      <p:sp>
        <p:nvSpPr>
          <p:cNvPr id="4" name="TextBox 4"/>
          <p:cNvSpPr txBox="1"/>
          <p:nvPr/>
        </p:nvSpPr>
        <p:spPr>
          <a:xfrm>
            <a:off x="1611403" y="1495907"/>
            <a:ext cx="5778315" cy="736600"/>
          </a:xfrm>
          <a:prstGeom prst="rect">
            <a:avLst/>
          </a:prstGeom>
        </p:spPr>
        <p:txBody>
          <a:bodyPr lIns="0" tIns="0" rIns="0" bIns="0" rtlCol="0" anchor="t">
            <a:spAutoFit/>
          </a:bodyPr>
          <a:lstStyle/>
          <a:p>
            <a:pPr algn="l">
              <a:lnSpc>
                <a:spcPts val="5750"/>
              </a:lnSpc>
              <a:spcBef>
                <a:spcPct val="0"/>
              </a:spcBef>
            </a:pPr>
            <a:r>
              <a:rPr lang="en-US" sz="5000" b="1">
                <a:solidFill>
                  <a:srgbClr val="1A1F41"/>
                </a:solidFill>
                <a:latin typeface="Big Shoulders Display Bold"/>
                <a:ea typeface="Big Shoulders Display Bold"/>
                <a:cs typeface="Big Shoulders Display Bold"/>
                <a:sym typeface="Big Shoulders Display Bold"/>
              </a:rPr>
              <a:t>4.CÀI ĐẶT VÀ TRIỂN KHAI</a:t>
            </a:r>
          </a:p>
        </p:txBody>
      </p:sp>
      <p:sp>
        <p:nvSpPr>
          <p:cNvPr id="5" name="Freeform 5"/>
          <p:cNvSpPr/>
          <p:nvPr/>
        </p:nvSpPr>
        <p:spPr>
          <a:xfrm rot="1658979">
            <a:off x="-2335" y="8691283"/>
            <a:ext cx="2465303" cy="1739159"/>
          </a:xfrm>
          <a:custGeom>
            <a:avLst/>
            <a:gdLst/>
            <a:ahLst/>
            <a:cxnLst/>
            <a:rect l="l" t="t" r="r" b="b"/>
            <a:pathLst>
              <a:path w="2465303" h="1739159">
                <a:moveTo>
                  <a:pt x="0" y="0"/>
                </a:moveTo>
                <a:lnTo>
                  <a:pt x="2465303" y="0"/>
                </a:lnTo>
                <a:lnTo>
                  <a:pt x="2465303" y="1739159"/>
                </a:lnTo>
                <a:lnTo>
                  <a:pt x="0" y="1739159"/>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6" name="Freeform 6"/>
          <p:cNvSpPr/>
          <p:nvPr/>
        </p:nvSpPr>
        <p:spPr>
          <a:xfrm>
            <a:off x="8540080" y="-4549002"/>
            <a:ext cx="5578495" cy="5578495"/>
          </a:xfrm>
          <a:custGeom>
            <a:avLst/>
            <a:gdLst/>
            <a:ahLst/>
            <a:cxnLst/>
            <a:rect l="l" t="t" r="r" b="b"/>
            <a:pathLst>
              <a:path w="5578495" h="5578495">
                <a:moveTo>
                  <a:pt x="0" y="0"/>
                </a:moveTo>
                <a:lnTo>
                  <a:pt x="5578495" y="0"/>
                </a:lnTo>
                <a:lnTo>
                  <a:pt x="5578495" y="5578495"/>
                </a:lnTo>
                <a:lnTo>
                  <a:pt x="0" y="5578495"/>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7" name="TextBox 7"/>
          <p:cNvSpPr txBox="1"/>
          <p:nvPr/>
        </p:nvSpPr>
        <p:spPr>
          <a:xfrm>
            <a:off x="2298423" y="2378233"/>
            <a:ext cx="3888135" cy="441325"/>
          </a:xfrm>
          <a:prstGeom prst="rect">
            <a:avLst/>
          </a:prstGeom>
        </p:spPr>
        <p:txBody>
          <a:bodyPr lIns="0" tIns="0" rIns="0" bIns="0" rtlCol="0" anchor="t">
            <a:spAutoFit/>
          </a:bodyPr>
          <a:lstStyle/>
          <a:p>
            <a:pPr algn="ctr">
              <a:lnSpc>
                <a:spcPts val="3499"/>
              </a:lnSpc>
              <a:spcBef>
                <a:spcPct val="0"/>
              </a:spcBef>
            </a:pPr>
            <a:r>
              <a:rPr lang="en-US" sz="2499">
                <a:solidFill>
                  <a:srgbClr val="1A1F41"/>
                </a:solidFill>
                <a:latin typeface="Poppins"/>
                <a:ea typeface="Poppins"/>
                <a:cs typeface="Poppins"/>
                <a:sym typeface="Poppins"/>
              </a:rPr>
              <a:t>Cơ chế Kiểm Soát Lượt đi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1691021">
            <a:off x="15919929" y="2558110"/>
            <a:ext cx="2846485" cy="2008066"/>
          </a:xfrm>
          <a:custGeom>
            <a:avLst/>
            <a:gdLst/>
            <a:ahLst/>
            <a:cxnLst/>
            <a:rect l="l" t="t" r="r" b="b"/>
            <a:pathLst>
              <a:path w="2846485" h="2008066">
                <a:moveTo>
                  <a:pt x="0" y="0"/>
                </a:moveTo>
                <a:lnTo>
                  <a:pt x="2846486" y="0"/>
                </a:lnTo>
                <a:lnTo>
                  <a:pt x="2846486" y="2008065"/>
                </a:lnTo>
                <a:lnTo>
                  <a:pt x="0" y="2008065"/>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3" name="TextBox 3"/>
          <p:cNvSpPr txBox="1"/>
          <p:nvPr/>
        </p:nvSpPr>
        <p:spPr>
          <a:xfrm>
            <a:off x="2068097" y="2962433"/>
            <a:ext cx="6471983" cy="5260975"/>
          </a:xfrm>
          <a:prstGeom prst="rect">
            <a:avLst/>
          </a:prstGeom>
        </p:spPr>
        <p:txBody>
          <a:bodyPr lIns="0" tIns="0" rIns="0" bIns="0" rtlCol="0" anchor="t">
            <a:spAutoFit/>
          </a:bodyPr>
          <a:lstStyle/>
          <a:p>
            <a:pPr marL="539749" lvl="1" indent="-269875" algn="just">
              <a:lnSpc>
                <a:spcPts val="3499"/>
              </a:lnSpc>
              <a:buFont typeface="Arial"/>
              <a:buChar char="•"/>
            </a:pPr>
            <a:r>
              <a:rPr lang="en-US" sz="2499">
                <a:solidFill>
                  <a:srgbClr val="1A1F41"/>
                </a:solidFill>
                <a:latin typeface="Poppins"/>
                <a:ea typeface="Poppins"/>
                <a:cs typeface="Poppins"/>
                <a:sym typeface="Poppins"/>
              </a:rPr>
              <a:t>Client:Cung cấp giao diện cho người chơi, gửi các yêu cầu đến Server, nhận dữ liệu phản hồi và hiển thị trạng thái trò chơi.</a:t>
            </a:r>
          </a:p>
          <a:p>
            <a:pPr marL="539749" lvl="1" indent="-269875" algn="just">
              <a:lnSpc>
                <a:spcPts val="3499"/>
              </a:lnSpc>
              <a:buFont typeface="Arial"/>
              <a:buChar char="•"/>
            </a:pPr>
            <a:r>
              <a:rPr lang="en-US" sz="2499">
                <a:solidFill>
                  <a:srgbClr val="1A1F41"/>
                </a:solidFill>
                <a:latin typeface="Poppins"/>
                <a:ea typeface="Poppins"/>
                <a:cs typeface="Poppins"/>
                <a:sym typeface="Poppins"/>
              </a:rPr>
              <a:t>Server: Khởi động máy chủ, quản lý kết nối TCP, xử lý các yêu cầu từ Client, điều khiển trận đấu, đồng bộ dữ liệu và lưu lịch sử thi đấu.</a:t>
            </a:r>
          </a:p>
          <a:p>
            <a:pPr marL="539749" lvl="1" indent="-269875" algn="just">
              <a:lnSpc>
                <a:spcPts val="3499"/>
              </a:lnSpc>
              <a:spcBef>
                <a:spcPct val="0"/>
              </a:spcBef>
              <a:buFont typeface="Arial"/>
              <a:buChar char="•"/>
            </a:pPr>
            <a:r>
              <a:rPr lang="en-US" sz="2499">
                <a:solidFill>
                  <a:srgbClr val="1A1F41"/>
                </a:solidFill>
                <a:latin typeface="Poppins"/>
                <a:ea typeface="Poppins"/>
                <a:cs typeface="Poppins"/>
                <a:sym typeface="Poppins"/>
              </a:rPr>
              <a:t>Shared:Chứa các lớp dùng chung như Packet, PacketHelper, DTO và Serializer để trao đổi dữ liệu giữa Client và Server.</a:t>
            </a:r>
          </a:p>
        </p:txBody>
      </p:sp>
      <p:sp>
        <p:nvSpPr>
          <p:cNvPr id="4" name="TextBox 4"/>
          <p:cNvSpPr txBox="1"/>
          <p:nvPr/>
        </p:nvSpPr>
        <p:spPr>
          <a:xfrm>
            <a:off x="1611403" y="1495907"/>
            <a:ext cx="5778315" cy="736600"/>
          </a:xfrm>
          <a:prstGeom prst="rect">
            <a:avLst/>
          </a:prstGeom>
        </p:spPr>
        <p:txBody>
          <a:bodyPr lIns="0" tIns="0" rIns="0" bIns="0" rtlCol="0" anchor="t">
            <a:spAutoFit/>
          </a:bodyPr>
          <a:lstStyle/>
          <a:p>
            <a:pPr algn="l">
              <a:lnSpc>
                <a:spcPts val="5750"/>
              </a:lnSpc>
              <a:spcBef>
                <a:spcPct val="0"/>
              </a:spcBef>
            </a:pPr>
            <a:r>
              <a:rPr lang="en-US" sz="5000" b="1">
                <a:solidFill>
                  <a:srgbClr val="1A1F41"/>
                </a:solidFill>
                <a:latin typeface="Big Shoulders Display Bold"/>
                <a:ea typeface="Big Shoulders Display Bold"/>
                <a:cs typeface="Big Shoulders Display Bold"/>
                <a:sym typeface="Big Shoulders Display Bold"/>
              </a:rPr>
              <a:t>4.CÀI ĐẶT VÀ TRIỂN KHAI</a:t>
            </a:r>
          </a:p>
        </p:txBody>
      </p:sp>
      <p:sp>
        <p:nvSpPr>
          <p:cNvPr id="5" name="Freeform 5"/>
          <p:cNvSpPr/>
          <p:nvPr/>
        </p:nvSpPr>
        <p:spPr>
          <a:xfrm rot="1658979">
            <a:off x="-2335" y="8691283"/>
            <a:ext cx="2465303" cy="1739159"/>
          </a:xfrm>
          <a:custGeom>
            <a:avLst/>
            <a:gdLst/>
            <a:ahLst/>
            <a:cxnLst/>
            <a:rect l="l" t="t" r="r" b="b"/>
            <a:pathLst>
              <a:path w="2465303" h="1739159">
                <a:moveTo>
                  <a:pt x="0" y="0"/>
                </a:moveTo>
                <a:lnTo>
                  <a:pt x="2465303" y="0"/>
                </a:lnTo>
                <a:lnTo>
                  <a:pt x="2465303" y="1739159"/>
                </a:lnTo>
                <a:lnTo>
                  <a:pt x="0" y="1739159"/>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6" name="Freeform 6"/>
          <p:cNvSpPr/>
          <p:nvPr/>
        </p:nvSpPr>
        <p:spPr>
          <a:xfrm>
            <a:off x="8540080" y="-4549002"/>
            <a:ext cx="5578495" cy="5578495"/>
          </a:xfrm>
          <a:custGeom>
            <a:avLst/>
            <a:gdLst/>
            <a:ahLst/>
            <a:cxnLst/>
            <a:rect l="l" t="t" r="r" b="b"/>
            <a:pathLst>
              <a:path w="5578495" h="5578495">
                <a:moveTo>
                  <a:pt x="0" y="0"/>
                </a:moveTo>
                <a:lnTo>
                  <a:pt x="5578495" y="0"/>
                </a:lnTo>
                <a:lnTo>
                  <a:pt x="5578495" y="5578495"/>
                </a:lnTo>
                <a:lnTo>
                  <a:pt x="0" y="5578495"/>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7" name="TextBox 7"/>
          <p:cNvSpPr txBox="1"/>
          <p:nvPr/>
        </p:nvSpPr>
        <p:spPr>
          <a:xfrm>
            <a:off x="2196402" y="2378233"/>
            <a:ext cx="4092178" cy="441325"/>
          </a:xfrm>
          <a:prstGeom prst="rect">
            <a:avLst/>
          </a:prstGeom>
        </p:spPr>
        <p:txBody>
          <a:bodyPr lIns="0" tIns="0" rIns="0" bIns="0" rtlCol="0" anchor="t">
            <a:spAutoFit/>
          </a:bodyPr>
          <a:lstStyle/>
          <a:p>
            <a:pPr algn="ctr">
              <a:lnSpc>
                <a:spcPts val="3499"/>
              </a:lnSpc>
              <a:spcBef>
                <a:spcPct val="0"/>
              </a:spcBef>
            </a:pPr>
            <a:r>
              <a:rPr lang="en-US" sz="2499">
                <a:solidFill>
                  <a:srgbClr val="1A1F41"/>
                </a:solidFill>
                <a:latin typeface="Poppins"/>
                <a:ea typeface="Poppins"/>
                <a:cs typeface="Poppins"/>
                <a:sym typeface="Poppins"/>
              </a:rPr>
              <a:t>4.2 các  thành phần chính</a:t>
            </a:r>
          </a:p>
        </p:txBody>
      </p:sp>
      <p:sp>
        <p:nvSpPr>
          <p:cNvPr id="8" name="TextBox 8"/>
          <p:cNvSpPr txBox="1"/>
          <p:nvPr/>
        </p:nvSpPr>
        <p:spPr>
          <a:xfrm>
            <a:off x="9091012" y="2962433"/>
            <a:ext cx="6523456" cy="5699125"/>
          </a:xfrm>
          <a:prstGeom prst="rect">
            <a:avLst/>
          </a:prstGeom>
        </p:spPr>
        <p:txBody>
          <a:bodyPr lIns="0" tIns="0" rIns="0" bIns="0" rtlCol="0" anchor="t">
            <a:spAutoFit/>
          </a:bodyPr>
          <a:lstStyle/>
          <a:p>
            <a:pPr marL="539749" lvl="1" indent="-269875" algn="l">
              <a:lnSpc>
                <a:spcPts val="3499"/>
              </a:lnSpc>
              <a:buFont typeface="Arial"/>
              <a:buChar char="•"/>
            </a:pPr>
            <a:r>
              <a:rPr lang="en-US" sz="2499">
                <a:solidFill>
                  <a:srgbClr val="1A1F41"/>
                </a:solidFill>
                <a:latin typeface="Poppins"/>
                <a:ea typeface="Poppins"/>
                <a:cs typeface="Poppins"/>
                <a:sym typeface="Poppins"/>
              </a:rPr>
              <a:t>Game logic: Cài đặt luật chơi Caro, quản lý bàn cờ, kiểm tra điều kiện thắng, xử lý lượt chơi và hỗ trợ chế độ chơi với Bot.</a:t>
            </a:r>
          </a:p>
          <a:p>
            <a:pPr marL="539749" lvl="1" indent="-269875" algn="l">
              <a:lnSpc>
                <a:spcPts val="3499"/>
              </a:lnSpc>
              <a:buFont typeface="Arial"/>
              <a:buChar char="•"/>
            </a:pPr>
            <a:r>
              <a:rPr lang="en-US" sz="2499">
                <a:solidFill>
                  <a:srgbClr val="1A1F41"/>
                </a:solidFill>
                <a:latin typeface="Poppins"/>
                <a:ea typeface="Poppins"/>
                <a:cs typeface="Poppins"/>
                <a:sym typeface="Poppins"/>
              </a:rPr>
              <a:t>ServerManager:Khởi động Server, lắng nghe kết nối TCP, quản lý người chơi, xử lý các gói tin (Packet), điều khiển trận đấu, đồng bộ trạng thái.</a:t>
            </a:r>
          </a:p>
          <a:p>
            <a:pPr marL="539749" lvl="1" indent="-269875" algn="l">
              <a:lnSpc>
                <a:spcPts val="3499"/>
              </a:lnSpc>
              <a:buFont typeface="Arial"/>
              <a:buChar char="•"/>
            </a:pPr>
            <a:r>
              <a:rPr lang="en-US" sz="2499">
                <a:solidFill>
                  <a:srgbClr val="1A1F41"/>
                </a:solidFill>
                <a:latin typeface="Poppins"/>
                <a:ea typeface="Poppins"/>
                <a:cs typeface="Poppins"/>
                <a:sym typeface="Poppins"/>
              </a:rPr>
              <a:t>MatchmakingService:Quản lý sảnh chờ (Lobby), danh sách người chơi trực tuyến, xử lý lời mời thi đấu, phản hồi lời mời và khởi tạo trận đấu giữa hai người chơi.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2" name="Group 2"/>
          <p:cNvGrpSpPr/>
          <p:nvPr/>
        </p:nvGrpSpPr>
        <p:grpSpPr>
          <a:xfrm>
            <a:off x="11425802" y="1918472"/>
            <a:ext cx="5909139" cy="590913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t="-156" b="-156"/>
              </a:stretch>
            </a:blipFill>
          </p:spPr>
          <p:txBody>
            <a:bodyPr/>
            <a:lstStyle/>
            <a:p>
              <a:endParaRPr lang="en-US"/>
            </a:p>
          </p:txBody>
        </p:sp>
      </p:grpSp>
      <p:sp>
        <p:nvSpPr>
          <p:cNvPr id="4" name="Freeform 4"/>
          <p:cNvSpPr/>
          <p:nvPr/>
        </p:nvSpPr>
        <p:spPr>
          <a:xfrm rot="-646234">
            <a:off x="16021315" y="-33117"/>
            <a:ext cx="3820236" cy="2695003"/>
          </a:xfrm>
          <a:custGeom>
            <a:avLst/>
            <a:gdLst/>
            <a:ahLst/>
            <a:cxnLst/>
            <a:rect l="l" t="t" r="r" b="b"/>
            <a:pathLst>
              <a:path w="3820236" h="2695003">
                <a:moveTo>
                  <a:pt x="0" y="0"/>
                </a:moveTo>
                <a:lnTo>
                  <a:pt x="3820235" y="0"/>
                </a:lnTo>
                <a:lnTo>
                  <a:pt x="3820235" y="2695003"/>
                </a:lnTo>
                <a:lnTo>
                  <a:pt x="0" y="2695003"/>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5" name="Freeform 5"/>
          <p:cNvSpPr/>
          <p:nvPr/>
        </p:nvSpPr>
        <p:spPr>
          <a:xfrm rot="1041331">
            <a:off x="-465422" y="8336050"/>
            <a:ext cx="3820236" cy="2695003"/>
          </a:xfrm>
          <a:custGeom>
            <a:avLst/>
            <a:gdLst/>
            <a:ahLst/>
            <a:cxnLst/>
            <a:rect l="l" t="t" r="r" b="b"/>
            <a:pathLst>
              <a:path w="3820236" h="2695003">
                <a:moveTo>
                  <a:pt x="0" y="0"/>
                </a:moveTo>
                <a:lnTo>
                  <a:pt x="3820236" y="0"/>
                </a:lnTo>
                <a:lnTo>
                  <a:pt x="3820236" y="2695003"/>
                </a:lnTo>
                <a:lnTo>
                  <a:pt x="0" y="2695003"/>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6" name="Freeform 6"/>
          <p:cNvSpPr/>
          <p:nvPr/>
        </p:nvSpPr>
        <p:spPr>
          <a:xfrm>
            <a:off x="5238715" y="-4633998"/>
            <a:ext cx="5578495" cy="5578495"/>
          </a:xfrm>
          <a:custGeom>
            <a:avLst/>
            <a:gdLst/>
            <a:ahLst/>
            <a:cxnLst/>
            <a:rect l="l" t="t" r="r" b="b"/>
            <a:pathLst>
              <a:path w="5578495" h="5578495">
                <a:moveTo>
                  <a:pt x="0" y="0"/>
                </a:moveTo>
                <a:lnTo>
                  <a:pt x="5578495" y="0"/>
                </a:lnTo>
                <a:lnTo>
                  <a:pt x="5578495" y="5578495"/>
                </a:lnTo>
                <a:lnTo>
                  <a:pt x="0" y="5578495"/>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en-US"/>
          </a:p>
        </p:txBody>
      </p:sp>
      <p:sp>
        <p:nvSpPr>
          <p:cNvPr id="7" name="Freeform 7"/>
          <p:cNvSpPr/>
          <p:nvPr/>
        </p:nvSpPr>
        <p:spPr>
          <a:xfrm>
            <a:off x="9219641" y="9342503"/>
            <a:ext cx="5578495" cy="5578495"/>
          </a:xfrm>
          <a:custGeom>
            <a:avLst/>
            <a:gdLst/>
            <a:ahLst/>
            <a:cxnLst/>
            <a:rect l="l" t="t" r="r" b="b"/>
            <a:pathLst>
              <a:path w="5578495" h="5578495">
                <a:moveTo>
                  <a:pt x="0" y="0"/>
                </a:moveTo>
                <a:lnTo>
                  <a:pt x="5578494" y="0"/>
                </a:lnTo>
                <a:lnTo>
                  <a:pt x="5578494" y="5578495"/>
                </a:lnTo>
                <a:lnTo>
                  <a:pt x="0" y="5578495"/>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en-US"/>
          </a:p>
        </p:txBody>
      </p:sp>
      <p:sp>
        <p:nvSpPr>
          <p:cNvPr id="8" name="TextBox 8"/>
          <p:cNvSpPr txBox="1"/>
          <p:nvPr/>
        </p:nvSpPr>
        <p:spPr>
          <a:xfrm>
            <a:off x="1794212" y="1063251"/>
            <a:ext cx="6132601" cy="736600"/>
          </a:xfrm>
          <a:prstGeom prst="rect">
            <a:avLst/>
          </a:prstGeom>
        </p:spPr>
        <p:txBody>
          <a:bodyPr lIns="0" tIns="0" rIns="0" bIns="0" rtlCol="0" anchor="t">
            <a:spAutoFit/>
          </a:bodyPr>
          <a:lstStyle/>
          <a:p>
            <a:pPr algn="l">
              <a:lnSpc>
                <a:spcPts val="5750"/>
              </a:lnSpc>
            </a:pPr>
            <a:r>
              <a:rPr lang="en-US" sz="5000" b="1">
                <a:solidFill>
                  <a:srgbClr val="1A1F41"/>
                </a:solidFill>
                <a:latin typeface="Big Shoulders Display Bold"/>
                <a:ea typeface="Big Shoulders Display Bold"/>
                <a:cs typeface="Big Shoulders Display Bold"/>
                <a:sym typeface="Big Shoulders Display Bold"/>
              </a:rPr>
              <a:t>4.CÀI ĐẶT VÀ TRIỂN KHAI</a:t>
            </a:r>
          </a:p>
        </p:txBody>
      </p:sp>
      <p:sp>
        <p:nvSpPr>
          <p:cNvPr id="9" name="TextBox 9"/>
          <p:cNvSpPr txBox="1"/>
          <p:nvPr/>
        </p:nvSpPr>
        <p:spPr>
          <a:xfrm>
            <a:off x="2127494" y="2568956"/>
            <a:ext cx="9002103" cy="5203825"/>
          </a:xfrm>
          <a:prstGeom prst="rect">
            <a:avLst/>
          </a:prstGeom>
        </p:spPr>
        <p:txBody>
          <a:bodyPr lIns="0" tIns="0" rIns="0" bIns="0" rtlCol="0" anchor="t">
            <a:spAutoFit/>
          </a:bodyPr>
          <a:lstStyle/>
          <a:p>
            <a:pPr algn="just">
              <a:lnSpc>
                <a:spcPts val="3499"/>
              </a:lnSpc>
            </a:pPr>
            <a:r>
              <a:rPr lang="en-US" sz="2499">
                <a:solidFill>
                  <a:srgbClr val="1A1F41"/>
                </a:solidFill>
                <a:latin typeface="Poppins"/>
                <a:ea typeface="Poppins"/>
                <a:cs typeface="Poppins"/>
                <a:sym typeface="Poppins"/>
              </a:rPr>
              <a:t>Thay vì duyệt toàn bộ bàn cờ, thuật toán lấy vị trí quân cờ vừa đặt làm trung tâm và đếm liên tiếp theo 4 trục:</a:t>
            </a:r>
          </a:p>
          <a:p>
            <a:pPr marL="539749" lvl="1" indent="-269875" algn="l">
              <a:lnSpc>
                <a:spcPts val="3499"/>
              </a:lnSpc>
              <a:buFont typeface="Arial"/>
              <a:buChar char="•"/>
            </a:pPr>
            <a:r>
              <a:rPr lang="en-US" sz="2499">
                <a:solidFill>
                  <a:srgbClr val="1A1F41"/>
                </a:solidFill>
                <a:latin typeface="Poppins"/>
                <a:ea typeface="Poppins"/>
                <a:cs typeface="Poppins"/>
                <a:sym typeface="Poppins"/>
              </a:rPr>
              <a:t>Trục ngang: Duyệt sang trái và sang phải</a:t>
            </a:r>
          </a:p>
          <a:p>
            <a:pPr marL="539749" lvl="1" indent="-269875" algn="l">
              <a:lnSpc>
                <a:spcPts val="3499"/>
              </a:lnSpc>
              <a:buFont typeface="Arial"/>
              <a:buChar char="•"/>
            </a:pPr>
            <a:r>
              <a:rPr lang="en-US" sz="2499">
                <a:solidFill>
                  <a:srgbClr val="1A1F41"/>
                </a:solidFill>
                <a:latin typeface="Poppins"/>
                <a:ea typeface="Poppins"/>
                <a:cs typeface="Poppins"/>
                <a:sym typeface="Poppins"/>
              </a:rPr>
              <a:t>Trục Dọc: Duyệt từ trên và xuống dưới từ tâm</a:t>
            </a:r>
          </a:p>
          <a:p>
            <a:pPr marL="539749" lvl="1" indent="-269875" algn="l">
              <a:lnSpc>
                <a:spcPts val="3499"/>
              </a:lnSpc>
              <a:buFont typeface="Arial"/>
              <a:buChar char="•"/>
            </a:pPr>
            <a:r>
              <a:rPr lang="en-US" sz="2499">
                <a:solidFill>
                  <a:srgbClr val="1A1F41"/>
                </a:solidFill>
                <a:latin typeface="Poppins"/>
                <a:ea typeface="Poppins"/>
                <a:cs typeface="Poppins"/>
                <a:sym typeface="Poppins"/>
              </a:rPr>
              <a:t>Chéo chính: Từ góc trên-trái xuống góc dưới-phải.</a:t>
            </a:r>
          </a:p>
          <a:p>
            <a:pPr marL="539749" lvl="1" indent="-269875" algn="l">
              <a:lnSpc>
                <a:spcPts val="3499"/>
              </a:lnSpc>
              <a:buFont typeface="Arial"/>
              <a:buChar char="•"/>
            </a:pPr>
            <a:r>
              <a:rPr lang="en-US" sz="2499">
                <a:solidFill>
                  <a:srgbClr val="1A1F41"/>
                </a:solidFill>
                <a:latin typeface="Poppins"/>
                <a:ea typeface="Poppins"/>
                <a:cs typeface="Poppins"/>
                <a:sym typeface="Poppins"/>
              </a:rPr>
              <a:t>Chéo phụ: Từgóc dưới-trái lên góc trên-phải.</a:t>
            </a:r>
          </a:p>
          <a:p>
            <a:pPr algn="l">
              <a:lnSpc>
                <a:spcPts val="3499"/>
              </a:lnSpc>
            </a:pPr>
            <a:endParaRPr lang="en-US" sz="2499">
              <a:solidFill>
                <a:srgbClr val="1A1F41"/>
              </a:solidFill>
              <a:latin typeface="Poppins"/>
              <a:ea typeface="Poppins"/>
              <a:cs typeface="Poppins"/>
              <a:sym typeface="Poppins"/>
            </a:endParaRPr>
          </a:p>
          <a:p>
            <a:pPr algn="l">
              <a:lnSpc>
                <a:spcPts val="3359"/>
              </a:lnSpc>
            </a:pPr>
            <a:r>
              <a:rPr lang="en-US" sz="2400">
                <a:solidFill>
                  <a:srgbClr val="1A1F41"/>
                </a:solidFill>
                <a:latin typeface="Poppins"/>
                <a:ea typeface="Poppins"/>
                <a:cs typeface="Poppins"/>
                <a:sym typeface="Poppins"/>
              </a:rPr>
              <a:t>Mỗi hướng dừng khi gặp: </a:t>
            </a:r>
            <a:r>
              <a:rPr lang="en-US" sz="2400" b="1">
                <a:solidFill>
                  <a:srgbClr val="1A1F41"/>
                </a:solidFill>
                <a:latin typeface="Poppins Bold"/>
                <a:ea typeface="Poppins Bold"/>
                <a:cs typeface="Poppins Bold"/>
                <a:sym typeface="Poppins Bold"/>
              </a:rPr>
              <a:t>mép bàn cờ || ô trống || quân cờ đối phương</a:t>
            </a:r>
            <a:r>
              <a:rPr lang="en-US" sz="2400">
                <a:solidFill>
                  <a:srgbClr val="1A1F41"/>
                </a:solidFill>
                <a:latin typeface="Poppins"/>
                <a:ea typeface="Poppins"/>
                <a:cs typeface="Poppins"/>
                <a:sym typeface="Poppins"/>
              </a:rPr>
              <a:t>. Nếu tổng hai chiều của</a:t>
            </a:r>
            <a:r>
              <a:rPr lang="en-US" sz="2400" b="1">
                <a:solidFill>
                  <a:srgbClr val="1A1F41"/>
                </a:solidFill>
                <a:latin typeface="Poppins Bold"/>
                <a:ea typeface="Poppins Bold"/>
                <a:cs typeface="Poppins Bold"/>
                <a:sym typeface="Poppins Bold"/>
              </a:rPr>
              <a:t> </a:t>
            </a:r>
            <a:r>
              <a:rPr lang="en-US" sz="2400">
                <a:solidFill>
                  <a:srgbClr val="1A1F41"/>
                </a:solidFill>
                <a:latin typeface="Poppins"/>
                <a:ea typeface="Poppins"/>
                <a:cs typeface="Poppins"/>
                <a:sym typeface="Poppins"/>
              </a:rPr>
              <a:t>một trục</a:t>
            </a:r>
            <a:r>
              <a:rPr lang="en-US" sz="2400" b="1">
                <a:solidFill>
                  <a:srgbClr val="1A1F41"/>
                </a:solidFill>
                <a:latin typeface="Poppins Bold"/>
                <a:ea typeface="Poppins Bold"/>
                <a:cs typeface="Poppins Bold"/>
                <a:sym typeface="Poppins Bold"/>
              </a:rPr>
              <a:t> ≥ 5</a:t>
            </a:r>
            <a:r>
              <a:rPr lang="en-US" sz="2400">
                <a:solidFill>
                  <a:srgbClr val="1A1F41"/>
                </a:solidFill>
                <a:latin typeface="Poppins"/>
                <a:ea typeface="Poppins"/>
                <a:cs typeface="Poppins"/>
                <a:sym typeface="Poppins"/>
              </a:rPr>
              <a:t>, trò chơi </a:t>
            </a:r>
            <a:r>
              <a:rPr lang="en-US" sz="2400" b="1">
                <a:solidFill>
                  <a:srgbClr val="1A1F41"/>
                </a:solidFill>
                <a:latin typeface="Poppins Bold"/>
                <a:ea typeface="Poppins Bold"/>
                <a:cs typeface="Poppins Bold"/>
                <a:sym typeface="Poppins Bold"/>
              </a:rPr>
              <a:t>kết thúc ngay lập tức</a:t>
            </a:r>
            <a:r>
              <a:rPr lang="en-US" sz="2400">
                <a:solidFill>
                  <a:srgbClr val="1A1F41"/>
                </a:solidFill>
                <a:latin typeface="Poppins"/>
                <a:ea typeface="Poppins"/>
                <a:cs typeface="Poppins"/>
                <a:sym typeface="Poppins"/>
              </a:rPr>
              <a:t>.</a:t>
            </a:r>
          </a:p>
          <a:p>
            <a:pPr algn="l">
              <a:lnSpc>
                <a:spcPts val="3499"/>
              </a:lnSpc>
            </a:pPr>
            <a:endParaRPr lang="en-US" sz="2400">
              <a:solidFill>
                <a:srgbClr val="1A1F41"/>
              </a:solidFill>
              <a:latin typeface="Poppins"/>
              <a:ea typeface="Poppins"/>
              <a:cs typeface="Poppins"/>
              <a:sym typeface="Poppins"/>
            </a:endParaRPr>
          </a:p>
          <a:p>
            <a:pPr algn="l">
              <a:lnSpc>
                <a:spcPts val="3499"/>
              </a:lnSpc>
            </a:pPr>
            <a:endParaRPr lang="en-US" sz="2400">
              <a:solidFill>
                <a:srgbClr val="1A1F41"/>
              </a:solidFill>
              <a:latin typeface="Poppins"/>
              <a:ea typeface="Poppins"/>
              <a:cs typeface="Poppins"/>
              <a:sym typeface="Poppins"/>
            </a:endParaRPr>
          </a:p>
        </p:txBody>
      </p:sp>
      <p:sp>
        <p:nvSpPr>
          <p:cNvPr id="10" name="TextBox 10"/>
          <p:cNvSpPr txBox="1"/>
          <p:nvPr/>
        </p:nvSpPr>
        <p:spPr>
          <a:xfrm>
            <a:off x="2127494" y="1809376"/>
            <a:ext cx="4367212" cy="537276"/>
          </a:xfrm>
          <a:prstGeom prst="rect">
            <a:avLst/>
          </a:prstGeom>
        </p:spPr>
        <p:txBody>
          <a:bodyPr lIns="0" tIns="0" rIns="0" bIns="0" rtlCol="0" anchor="t">
            <a:spAutoFit/>
          </a:bodyPr>
          <a:lstStyle/>
          <a:p>
            <a:pPr algn="ctr">
              <a:lnSpc>
                <a:spcPts val="4152"/>
              </a:lnSpc>
              <a:spcBef>
                <a:spcPct val="0"/>
              </a:spcBef>
            </a:pPr>
            <a:r>
              <a:rPr lang="en-US" sz="3610">
                <a:solidFill>
                  <a:srgbClr val="1A1F41"/>
                </a:solidFill>
                <a:latin typeface="Big Shoulders Display"/>
                <a:ea typeface="Big Shoulders Display"/>
                <a:cs typeface="Big Shoulders Display"/>
                <a:sym typeface="Big Shoulders Display"/>
              </a:rPr>
              <a:t>Thuật toán kiểm tra thắng thua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2" name="Group 2"/>
          <p:cNvGrpSpPr/>
          <p:nvPr/>
        </p:nvGrpSpPr>
        <p:grpSpPr>
          <a:xfrm>
            <a:off x="11425802" y="1918472"/>
            <a:ext cx="5909139" cy="590913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t="-156" b="-156"/>
              </a:stretch>
            </a:blipFill>
          </p:spPr>
          <p:txBody>
            <a:bodyPr/>
            <a:lstStyle/>
            <a:p>
              <a:endParaRPr lang="en-US"/>
            </a:p>
          </p:txBody>
        </p:sp>
      </p:grpSp>
      <p:sp>
        <p:nvSpPr>
          <p:cNvPr id="4" name="Freeform 4"/>
          <p:cNvSpPr/>
          <p:nvPr/>
        </p:nvSpPr>
        <p:spPr>
          <a:xfrm rot="-646234">
            <a:off x="16021315" y="-33117"/>
            <a:ext cx="3820236" cy="2695003"/>
          </a:xfrm>
          <a:custGeom>
            <a:avLst/>
            <a:gdLst/>
            <a:ahLst/>
            <a:cxnLst/>
            <a:rect l="l" t="t" r="r" b="b"/>
            <a:pathLst>
              <a:path w="3820236" h="2695003">
                <a:moveTo>
                  <a:pt x="0" y="0"/>
                </a:moveTo>
                <a:lnTo>
                  <a:pt x="3820235" y="0"/>
                </a:lnTo>
                <a:lnTo>
                  <a:pt x="3820235" y="2695003"/>
                </a:lnTo>
                <a:lnTo>
                  <a:pt x="0" y="2695003"/>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5" name="Freeform 5"/>
          <p:cNvSpPr/>
          <p:nvPr/>
        </p:nvSpPr>
        <p:spPr>
          <a:xfrm rot="1041331">
            <a:off x="-465422" y="8336050"/>
            <a:ext cx="3820236" cy="2695003"/>
          </a:xfrm>
          <a:custGeom>
            <a:avLst/>
            <a:gdLst/>
            <a:ahLst/>
            <a:cxnLst/>
            <a:rect l="l" t="t" r="r" b="b"/>
            <a:pathLst>
              <a:path w="3820236" h="2695003">
                <a:moveTo>
                  <a:pt x="0" y="0"/>
                </a:moveTo>
                <a:lnTo>
                  <a:pt x="3820236" y="0"/>
                </a:lnTo>
                <a:lnTo>
                  <a:pt x="3820236" y="2695003"/>
                </a:lnTo>
                <a:lnTo>
                  <a:pt x="0" y="2695003"/>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6" name="Freeform 6"/>
          <p:cNvSpPr/>
          <p:nvPr/>
        </p:nvSpPr>
        <p:spPr>
          <a:xfrm>
            <a:off x="5238715" y="-4633998"/>
            <a:ext cx="5578495" cy="5578495"/>
          </a:xfrm>
          <a:custGeom>
            <a:avLst/>
            <a:gdLst/>
            <a:ahLst/>
            <a:cxnLst/>
            <a:rect l="l" t="t" r="r" b="b"/>
            <a:pathLst>
              <a:path w="5578495" h="5578495">
                <a:moveTo>
                  <a:pt x="0" y="0"/>
                </a:moveTo>
                <a:lnTo>
                  <a:pt x="5578495" y="0"/>
                </a:lnTo>
                <a:lnTo>
                  <a:pt x="5578495" y="5578495"/>
                </a:lnTo>
                <a:lnTo>
                  <a:pt x="0" y="5578495"/>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en-US"/>
          </a:p>
        </p:txBody>
      </p:sp>
      <p:sp>
        <p:nvSpPr>
          <p:cNvPr id="7" name="Freeform 7"/>
          <p:cNvSpPr/>
          <p:nvPr/>
        </p:nvSpPr>
        <p:spPr>
          <a:xfrm>
            <a:off x="9219641" y="9342503"/>
            <a:ext cx="5578495" cy="5578495"/>
          </a:xfrm>
          <a:custGeom>
            <a:avLst/>
            <a:gdLst/>
            <a:ahLst/>
            <a:cxnLst/>
            <a:rect l="l" t="t" r="r" b="b"/>
            <a:pathLst>
              <a:path w="5578495" h="5578495">
                <a:moveTo>
                  <a:pt x="0" y="0"/>
                </a:moveTo>
                <a:lnTo>
                  <a:pt x="5578494" y="0"/>
                </a:lnTo>
                <a:lnTo>
                  <a:pt x="5578494" y="5578495"/>
                </a:lnTo>
                <a:lnTo>
                  <a:pt x="0" y="5578495"/>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en-US"/>
          </a:p>
        </p:txBody>
      </p:sp>
      <p:sp>
        <p:nvSpPr>
          <p:cNvPr id="8" name="TextBox 8"/>
          <p:cNvSpPr txBox="1"/>
          <p:nvPr/>
        </p:nvSpPr>
        <p:spPr>
          <a:xfrm>
            <a:off x="1794212" y="1063251"/>
            <a:ext cx="6132601" cy="736600"/>
          </a:xfrm>
          <a:prstGeom prst="rect">
            <a:avLst/>
          </a:prstGeom>
        </p:spPr>
        <p:txBody>
          <a:bodyPr lIns="0" tIns="0" rIns="0" bIns="0" rtlCol="0" anchor="t">
            <a:spAutoFit/>
          </a:bodyPr>
          <a:lstStyle/>
          <a:p>
            <a:pPr algn="l">
              <a:lnSpc>
                <a:spcPts val="5750"/>
              </a:lnSpc>
            </a:pPr>
            <a:r>
              <a:rPr lang="en-US" sz="5000" b="1">
                <a:solidFill>
                  <a:srgbClr val="1A1F41"/>
                </a:solidFill>
                <a:latin typeface="Big Shoulders Display Bold"/>
                <a:ea typeface="Big Shoulders Display Bold"/>
                <a:cs typeface="Big Shoulders Display Bold"/>
                <a:sym typeface="Big Shoulders Display Bold"/>
              </a:rPr>
              <a:t>4.CÀI ĐẶT VÀ TRIỂN KHAI</a:t>
            </a:r>
          </a:p>
        </p:txBody>
      </p:sp>
      <p:sp>
        <p:nvSpPr>
          <p:cNvPr id="9" name="TextBox 9"/>
          <p:cNvSpPr txBox="1"/>
          <p:nvPr/>
        </p:nvSpPr>
        <p:spPr>
          <a:xfrm>
            <a:off x="2127494" y="2568956"/>
            <a:ext cx="9002103" cy="6575425"/>
          </a:xfrm>
          <a:prstGeom prst="rect">
            <a:avLst/>
          </a:prstGeom>
        </p:spPr>
        <p:txBody>
          <a:bodyPr lIns="0" tIns="0" rIns="0" bIns="0" rtlCol="0" anchor="t">
            <a:spAutoFit/>
          </a:bodyPr>
          <a:lstStyle/>
          <a:p>
            <a:pPr algn="just">
              <a:lnSpc>
                <a:spcPts val="3499"/>
              </a:lnSpc>
            </a:pPr>
            <a:r>
              <a:rPr lang="en-US" sz="2499">
                <a:solidFill>
                  <a:srgbClr val="1A1F41"/>
                </a:solidFill>
                <a:latin typeface="Poppins"/>
                <a:ea typeface="Poppins"/>
                <a:cs typeface="Poppins"/>
                <a:sym typeface="Poppins"/>
              </a:rPr>
              <a:t>Đối với chế độ chơi với Bot, sau khi người chơi hoàn thành lượt đánh, Server sẽ gọi lớp GameService để tính toán nước đi tiếp theo. Thuật toán được lựa chọn phụ thuộc vào mức độ khó mà người chơi đã chọn.</a:t>
            </a:r>
          </a:p>
          <a:p>
            <a:pPr marL="539749" lvl="1" indent="-269875" algn="l">
              <a:lnSpc>
                <a:spcPts val="3499"/>
              </a:lnSpc>
              <a:buFont typeface="Arial"/>
              <a:buChar char="•"/>
            </a:pPr>
            <a:r>
              <a:rPr lang="en-US" sz="2499">
                <a:solidFill>
                  <a:srgbClr val="1A1F41"/>
                </a:solidFill>
                <a:latin typeface="Poppins"/>
                <a:ea typeface="Poppins"/>
                <a:cs typeface="Poppins"/>
                <a:sym typeface="Poppins"/>
              </a:rPr>
              <a:t>mức Easy: Bot chọn ngẫu nhiên một ô trống nằm gần các quân cờ đã có trên bàn</a:t>
            </a:r>
          </a:p>
          <a:p>
            <a:pPr marL="539749" lvl="1" indent="-269875" algn="l">
              <a:lnSpc>
                <a:spcPts val="3499"/>
              </a:lnSpc>
              <a:buFont typeface="Arial"/>
              <a:buChar char="•"/>
            </a:pPr>
            <a:r>
              <a:rPr lang="en-US" sz="2499">
                <a:solidFill>
                  <a:srgbClr val="1A1F41"/>
                </a:solidFill>
                <a:latin typeface="Poppins"/>
                <a:ea typeface="Poppins"/>
                <a:cs typeface="Poppins"/>
                <a:sym typeface="Poppins"/>
              </a:rPr>
              <a:t>Ở mức Medium: Bot đánh giá các vị trí dựa trên khả năng tấn công và phòng thủ trước khi lựa chọn nước đi. </a:t>
            </a:r>
          </a:p>
          <a:p>
            <a:pPr marL="539749" lvl="1" indent="-269875" algn="l">
              <a:lnSpc>
                <a:spcPts val="3499"/>
              </a:lnSpc>
              <a:buFont typeface="Arial"/>
              <a:buChar char="•"/>
            </a:pPr>
            <a:r>
              <a:rPr lang="en-US" sz="2499">
                <a:solidFill>
                  <a:srgbClr val="1A1F41"/>
                </a:solidFill>
                <a:latin typeface="Poppins"/>
                <a:ea typeface="Poppins"/>
                <a:cs typeface="Poppins"/>
                <a:sym typeface="Poppins"/>
              </a:rPr>
              <a:t>Ở mức Hard: Bot sẽ "suy nghĩ trước" nhiều nước đi, tự đặt mình vào vị trí của cả hai người chơi để tìm ra nước đi tốt nhất. Bot luôn ưu tiên đánh thẳng vào nước thắng nếu có cơ hội, hoặc lập tức chặn lại khi đối thủ sắp thắng. </a:t>
            </a:r>
          </a:p>
          <a:p>
            <a:pPr algn="l">
              <a:lnSpc>
                <a:spcPts val="3499"/>
              </a:lnSpc>
            </a:pPr>
            <a:endParaRPr lang="en-US" sz="2499">
              <a:solidFill>
                <a:srgbClr val="1A1F41"/>
              </a:solidFill>
              <a:latin typeface="Poppins"/>
              <a:ea typeface="Poppins"/>
              <a:cs typeface="Poppins"/>
              <a:sym typeface="Poppins"/>
            </a:endParaRPr>
          </a:p>
        </p:txBody>
      </p:sp>
      <p:sp>
        <p:nvSpPr>
          <p:cNvPr id="10" name="TextBox 10"/>
          <p:cNvSpPr txBox="1"/>
          <p:nvPr/>
        </p:nvSpPr>
        <p:spPr>
          <a:xfrm>
            <a:off x="2636828" y="1809376"/>
            <a:ext cx="4297372" cy="1077218"/>
          </a:xfrm>
          <a:prstGeom prst="rect">
            <a:avLst/>
          </a:prstGeom>
        </p:spPr>
        <p:txBody>
          <a:bodyPr wrap="square" lIns="0" tIns="0" rIns="0" bIns="0" rtlCol="0" anchor="t">
            <a:spAutoFit/>
          </a:bodyPr>
          <a:lstStyle/>
          <a:p>
            <a:pPr algn="ctr">
              <a:lnSpc>
                <a:spcPts val="4152"/>
              </a:lnSpc>
            </a:pPr>
            <a:r>
              <a:rPr lang="en-US" sz="3610" dirty="0" err="1">
                <a:solidFill>
                  <a:srgbClr val="1A1F41"/>
                </a:solidFill>
                <a:latin typeface="Big Shoulders Display"/>
                <a:ea typeface="Big Shoulders Display"/>
                <a:cs typeface="Big Shoulders Display"/>
                <a:sym typeface="Big Shoulders Display"/>
              </a:rPr>
              <a:t>Xử</a:t>
            </a:r>
            <a:r>
              <a:rPr lang="en-US" sz="3610" dirty="0">
                <a:solidFill>
                  <a:srgbClr val="1A1F41"/>
                </a:solidFill>
                <a:latin typeface="Big Shoulders Display"/>
                <a:ea typeface="Big Shoulders Display"/>
                <a:cs typeface="Big Shoulders Display"/>
                <a:sym typeface="Big Shoulders Display"/>
              </a:rPr>
              <a:t> </a:t>
            </a:r>
            <a:r>
              <a:rPr lang="en-US" sz="3610" dirty="0" err="1">
                <a:solidFill>
                  <a:srgbClr val="1A1F41"/>
                </a:solidFill>
                <a:latin typeface="Big Shoulders Display"/>
                <a:ea typeface="Big Shoulders Display"/>
                <a:cs typeface="Big Shoulders Display"/>
                <a:sym typeface="Big Shoulders Display"/>
              </a:rPr>
              <a:t>lý</a:t>
            </a:r>
            <a:r>
              <a:rPr lang="en-US" sz="3610" dirty="0">
                <a:solidFill>
                  <a:srgbClr val="1A1F41"/>
                </a:solidFill>
                <a:latin typeface="Big Shoulders Display"/>
                <a:ea typeface="Big Shoulders Display"/>
                <a:cs typeface="Big Shoulders Display"/>
                <a:sym typeface="Big Shoulders Display"/>
              </a:rPr>
              <a:t> </a:t>
            </a:r>
            <a:r>
              <a:rPr lang="en-US" sz="3610" dirty="0" err="1">
                <a:solidFill>
                  <a:srgbClr val="1A1F41"/>
                </a:solidFill>
                <a:latin typeface="Big Shoulders Display"/>
                <a:ea typeface="Big Shoulders Display"/>
                <a:cs typeface="Big Shoulders Display"/>
                <a:sym typeface="Big Shoulders Display"/>
              </a:rPr>
              <a:t>chế</a:t>
            </a:r>
            <a:r>
              <a:rPr lang="en-US" sz="3610" dirty="0">
                <a:solidFill>
                  <a:srgbClr val="1A1F41"/>
                </a:solidFill>
                <a:latin typeface="Big Shoulders Display"/>
                <a:ea typeface="Big Shoulders Display"/>
                <a:cs typeface="Big Shoulders Display"/>
                <a:sym typeface="Big Shoulders Display"/>
              </a:rPr>
              <a:t> </a:t>
            </a:r>
            <a:r>
              <a:rPr lang="en-US" sz="3610" dirty="0" err="1">
                <a:solidFill>
                  <a:srgbClr val="1A1F41"/>
                </a:solidFill>
                <a:latin typeface="Big Shoulders Display"/>
                <a:ea typeface="Big Shoulders Display"/>
                <a:cs typeface="Big Shoulders Display"/>
                <a:sym typeface="Big Shoulders Display"/>
              </a:rPr>
              <a:t>độ</a:t>
            </a:r>
            <a:r>
              <a:rPr lang="en-US" sz="3610" dirty="0">
                <a:solidFill>
                  <a:srgbClr val="1A1F41"/>
                </a:solidFill>
                <a:latin typeface="Big Shoulders Display"/>
                <a:ea typeface="Big Shoulders Display"/>
                <a:cs typeface="Big Shoulders Display"/>
                <a:sym typeface="Big Shoulders Display"/>
              </a:rPr>
              <a:t> </a:t>
            </a:r>
            <a:r>
              <a:rPr lang="en-US" sz="3610" dirty="0" err="1">
                <a:solidFill>
                  <a:srgbClr val="1A1F41"/>
                </a:solidFill>
                <a:latin typeface="Big Shoulders Display"/>
                <a:ea typeface="Big Shoulders Display"/>
                <a:cs typeface="Big Shoulders Display"/>
                <a:sym typeface="Big Shoulders Display"/>
              </a:rPr>
              <a:t>chơi</a:t>
            </a:r>
            <a:r>
              <a:rPr lang="en-US" sz="3610" dirty="0">
                <a:solidFill>
                  <a:srgbClr val="1A1F41"/>
                </a:solidFill>
                <a:latin typeface="Big Shoulders Display"/>
                <a:ea typeface="Big Shoulders Display"/>
                <a:cs typeface="Big Shoulders Display"/>
                <a:sym typeface="Big Shoulders Display"/>
              </a:rPr>
              <a:t> </a:t>
            </a:r>
            <a:r>
              <a:rPr lang="en-US" sz="3610" dirty="0" err="1">
                <a:solidFill>
                  <a:srgbClr val="1A1F41"/>
                </a:solidFill>
                <a:latin typeface="Big Shoulders Display"/>
                <a:ea typeface="Big Shoulders Display"/>
                <a:cs typeface="Big Shoulders Display"/>
                <a:sym typeface="Big Shoulders Display"/>
              </a:rPr>
              <a:t>với</a:t>
            </a:r>
            <a:r>
              <a:rPr lang="en-US" sz="3610" dirty="0">
                <a:solidFill>
                  <a:srgbClr val="1A1F41"/>
                </a:solidFill>
                <a:latin typeface="Big Shoulders Display"/>
                <a:ea typeface="Big Shoulders Display"/>
                <a:cs typeface="Big Shoulders Display"/>
                <a:sym typeface="Big Shoulders Display"/>
              </a:rPr>
              <a:t> Bot</a:t>
            </a:r>
          </a:p>
          <a:p>
            <a:pPr algn="ctr">
              <a:lnSpc>
                <a:spcPts val="4152"/>
              </a:lnSpc>
              <a:spcBef>
                <a:spcPct val="0"/>
              </a:spcBef>
            </a:pPr>
            <a:endParaRPr lang="en-US" sz="3610" dirty="0">
              <a:solidFill>
                <a:srgbClr val="1A1F41"/>
              </a:solidFill>
              <a:latin typeface="Big Shoulders Display"/>
              <a:ea typeface="Big Shoulders Display"/>
              <a:cs typeface="Big Shoulders Display"/>
              <a:sym typeface="Big Shoulders Display"/>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646234">
            <a:off x="14757720" y="8087970"/>
            <a:ext cx="3820236" cy="2695003"/>
          </a:xfrm>
          <a:custGeom>
            <a:avLst/>
            <a:gdLst/>
            <a:ahLst/>
            <a:cxnLst/>
            <a:rect l="l" t="t" r="r" b="b"/>
            <a:pathLst>
              <a:path w="3820236" h="2695003">
                <a:moveTo>
                  <a:pt x="0" y="0"/>
                </a:moveTo>
                <a:lnTo>
                  <a:pt x="3820236" y="0"/>
                </a:lnTo>
                <a:lnTo>
                  <a:pt x="3820236" y="2695003"/>
                </a:lnTo>
                <a:lnTo>
                  <a:pt x="0" y="2695003"/>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3" name="Freeform 3"/>
          <p:cNvSpPr/>
          <p:nvPr/>
        </p:nvSpPr>
        <p:spPr>
          <a:xfrm rot="1041331">
            <a:off x="-1056878" y="5259749"/>
            <a:ext cx="2710700" cy="1912276"/>
          </a:xfrm>
          <a:custGeom>
            <a:avLst/>
            <a:gdLst/>
            <a:ahLst/>
            <a:cxnLst/>
            <a:rect l="l" t="t" r="r" b="b"/>
            <a:pathLst>
              <a:path w="2710700" h="1912276">
                <a:moveTo>
                  <a:pt x="0" y="0"/>
                </a:moveTo>
                <a:lnTo>
                  <a:pt x="2710700" y="0"/>
                </a:lnTo>
                <a:lnTo>
                  <a:pt x="2710700" y="1912276"/>
                </a:lnTo>
                <a:lnTo>
                  <a:pt x="0" y="1912276"/>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4" name="Freeform 4"/>
          <p:cNvSpPr/>
          <p:nvPr/>
        </p:nvSpPr>
        <p:spPr>
          <a:xfrm>
            <a:off x="722059" y="9070975"/>
            <a:ext cx="5578495" cy="5578495"/>
          </a:xfrm>
          <a:custGeom>
            <a:avLst/>
            <a:gdLst/>
            <a:ahLst/>
            <a:cxnLst/>
            <a:rect l="l" t="t" r="r" b="b"/>
            <a:pathLst>
              <a:path w="5578495" h="5578495">
                <a:moveTo>
                  <a:pt x="0" y="0"/>
                </a:moveTo>
                <a:lnTo>
                  <a:pt x="5578495" y="0"/>
                </a:lnTo>
                <a:lnTo>
                  <a:pt x="5578495" y="5578495"/>
                </a:lnTo>
                <a:lnTo>
                  <a:pt x="0" y="5578495"/>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5" name="Freeform 5"/>
          <p:cNvSpPr/>
          <p:nvPr/>
        </p:nvSpPr>
        <p:spPr>
          <a:xfrm>
            <a:off x="14750624" y="1028700"/>
            <a:ext cx="2958261" cy="2856066"/>
          </a:xfrm>
          <a:custGeom>
            <a:avLst/>
            <a:gdLst/>
            <a:ahLst/>
            <a:cxnLst/>
            <a:rect l="l" t="t" r="r" b="b"/>
            <a:pathLst>
              <a:path w="2958261" h="2856066">
                <a:moveTo>
                  <a:pt x="0" y="0"/>
                </a:moveTo>
                <a:lnTo>
                  <a:pt x="2958261" y="0"/>
                </a:lnTo>
                <a:lnTo>
                  <a:pt x="2958261" y="2856066"/>
                </a:lnTo>
                <a:lnTo>
                  <a:pt x="0" y="2856066"/>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en-US"/>
          </a:p>
        </p:txBody>
      </p:sp>
      <p:sp>
        <p:nvSpPr>
          <p:cNvPr id="6" name="TextBox 6"/>
          <p:cNvSpPr txBox="1"/>
          <p:nvPr/>
        </p:nvSpPr>
        <p:spPr>
          <a:xfrm>
            <a:off x="-333641" y="669925"/>
            <a:ext cx="6925046" cy="736600"/>
          </a:xfrm>
          <a:prstGeom prst="rect">
            <a:avLst/>
          </a:prstGeom>
        </p:spPr>
        <p:txBody>
          <a:bodyPr lIns="0" tIns="0" rIns="0" bIns="0" rtlCol="0" anchor="t">
            <a:spAutoFit/>
          </a:bodyPr>
          <a:lstStyle/>
          <a:p>
            <a:pPr marL="0" lvl="0" indent="0" algn="ctr">
              <a:lnSpc>
                <a:spcPts val="5750"/>
              </a:lnSpc>
              <a:spcBef>
                <a:spcPct val="0"/>
              </a:spcBef>
            </a:pPr>
            <a:r>
              <a:rPr lang="en-US" sz="5000" b="1">
                <a:solidFill>
                  <a:srgbClr val="1A1F41"/>
                </a:solidFill>
                <a:latin typeface="Big Shoulders Display Bold"/>
                <a:ea typeface="Big Shoulders Display Bold"/>
                <a:cs typeface="Big Shoulders Display Bold"/>
                <a:sym typeface="Big Shoulders Display Bold"/>
              </a:rPr>
              <a:t>5.TESTING</a:t>
            </a:r>
          </a:p>
        </p:txBody>
      </p:sp>
      <p:sp>
        <p:nvSpPr>
          <p:cNvPr id="7" name="TextBox 7"/>
          <p:cNvSpPr txBox="1"/>
          <p:nvPr/>
        </p:nvSpPr>
        <p:spPr>
          <a:xfrm>
            <a:off x="2139249" y="2471916"/>
            <a:ext cx="9942557" cy="2193925"/>
          </a:xfrm>
          <a:prstGeom prst="rect">
            <a:avLst/>
          </a:prstGeom>
        </p:spPr>
        <p:txBody>
          <a:bodyPr lIns="0" tIns="0" rIns="0" bIns="0" rtlCol="0" anchor="t">
            <a:spAutoFit/>
          </a:bodyPr>
          <a:lstStyle/>
          <a:p>
            <a:pPr algn="ctr">
              <a:lnSpc>
                <a:spcPts val="3499"/>
              </a:lnSpc>
              <a:spcBef>
                <a:spcPct val="0"/>
              </a:spcBef>
            </a:pPr>
            <a:r>
              <a:rPr lang="en-US" sz="2499" dirty="0" err="1">
                <a:solidFill>
                  <a:srgbClr val="1A1F41"/>
                </a:solidFill>
                <a:latin typeface="Poppins"/>
                <a:ea typeface="Poppins"/>
                <a:cs typeface="Poppins"/>
                <a:sym typeface="Poppins"/>
              </a:rPr>
              <a:t>Quá</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trình</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kiểm</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thử</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được</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thực</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hiện</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theo</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phương</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pháp</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kiểm</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thử</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hộp</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đen</a:t>
            </a:r>
            <a:r>
              <a:rPr lang="en-US" sz="2499" dirty="0">
                <a:solidFill>
                  <a:srgbClr val="1A1F41"/>
                </a:solidFill>
                <a:latin typeface="Poppins"/>
                <a:ea typeface="Poppins"/>
                <a:cs typeface="Poppins"/>
                <a:sym typeface="Poppins"/>
              </a:rPr>
              <a:t> (Black-box Testing) — </a:t>
            </a:r>
            <a:r>
              <a:rPr lang="en-US" sz="2499" dirty="0" err="1">
                <a:solidFill>
                  <a:srgbClr val="1A1F41"/>
                </a:solidFill>
                <a:latin typeface="Poppins"/>
                <a:ea typeface="Poppins"/>
                <a:cs typeface="Poppins"/>
                <a:sym typeface="Poppins"/>
              </a:rPr>
              <a:t>chỉ</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dựa</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trên</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đầu</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vào</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và</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kết</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quả</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đầu</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ra</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quan</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sát</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được</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không</a:t>
            </a:r>
            <a:r>
              <a:rPr lang="en-US" sz="2499" dirty="0">
                <a:solidFill>
                  <a:srgbClr val="1A1F41"/>
                </a:solidFill>
                <a:latin typeface="Poppins"/>
                <a:ea typeface="Poppins"/>
                <a:cs typeface="Poppins"/>
                <a:sym typeface="Poppins"/>
              </a:rPr>
              <a:t> can </a:t>
            </a:r>
            <a:r>
              <a:rPr lang="en-US" sz="2499" dirty="0" err="1">
                <a:solidFill>
                  <a:srgbClr val="1A1F41"/>
                </a:solidFill>
                <a:latin typeface="Poppins"/>
                <a:ea typeface="Poppins"/>
                <a:cs typeface="Poppins"/>
                <a:sym typeface="Poppins"/>
              </a:rPr>
              <a:t>thiệp</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vào</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cấu</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trúc</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nội</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bộ</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của</a:t>
            </a:r>
            <a:r>
              <a:rPr lang="en-US" sz="2499" dirty="0">
                <a:solidFill>
                  <a:srgbClr val="1A1F41"/>
                </a:solidFill>
                <a:latin typeface="Poppins"/>
                <a:ea typeface="Poppins"/>
                <a:cs typeface="Poppins"/>
                <a:sym typeface="Poppins"/>
              </a:rPr>
              <a:t> code.</a:t>
            </a:r>
          </a:p>
          <a:p>
            <a:pPr algn="ctr">
              <a:lnSpc>
                <a:spcPts val="3499"/>
              </a:lnSpc>
              <a:spcBef>
                <a:spcPct val="0"/>
              </a:spcBef>
            </a:pPr>
            <a:endParaRPr lang="en-US" sz="2499" dirty="0">
              <a:solidFill>
                <a:srgbClr val="1A1F41"/>
              </a:solidFill>
              <a:latin typeface="Poppins"/>
              <a:ea typeface="Poppins"/>
              <a:cs typeface="Poppins"/>
              <a:sym typeface="Poppins"/>
            </a:endParaRPr>
          </a:p>
        </p:txBody>
      </p:sp>
      <p:sp>
        <p:nvSpPr>
          <p:cNvPr id="8" name="TextBox 8"/>
          <p:cNvSpPr txBox="1"/>
          <p:nvPr/>
        </p:nvSpPr>
        <p:spPr>
          <a:xfrm>
            <a:off x="2139248" y="1523468"/>
            <a:ext cx="4794951" cy="736600"/>
          </a:xfrm>
          <a:prstGeom prst="rect">
            <a:avLst/>
          </a:prstGeom>
        </p:spPr>
        <p:txBody>
          <a:bodyPr wrap="square" lIns="0" tIns="0" rIns="0" bIns="0" rtlCol="0" anchor="t">
            <a:spAutoFit/>
          </a:bodyPr>
          <a:lstStyle/>
          <a:p>
            <a:pPr algn="ctr">
              <a:lnSpc>
                <a:spcPts val="5750"/>
              </a:lnSpc>
              <a:spcBef>
                <a:spcPct val="0"/>
              </a:spcBef>
            </a:pPr>
            <a:r>
              <a:rPr lang="en-US" sz="5000" dirty="0">
                <a:solidFill>
                  <a:srgbClr val="1A1F41"/>
                </a:solidFill>
                <a:latin typeface="Big Shoulders Display"/>
                <a:ea typeface="Big Shoulders Display"/>
                <a:cs typeface="Big Shoulders Display"/>
                <a:sym typeface="Big Shoulders Display"/>
              </a:rPr>
              <a:t>5.1 </a:t>
            </a:r>
            <a:r>
              <a:rPr lang="en-US" sz="5000" dirty="0" err="1">
                <a:solidFill>
                  <a:srgbClr val="1A1F41"/>
                </a:solidFill>
                <a:latin typeface="Big Shoulders Display"/>
                <a:ea typeface="Big Shoulders Display"/>
                <a:cs typeface="Big Shoulders Display"/>
                <a:sym typeface="Big Shoulders Display"/>
              </a:rPr>
              <a:t>Mục</a:t>
            </a:r>
            <a:r>
              <a:rPr lang="en-US" sz="5000" dirty="0">
                <a:solidFill>
                  <a:srgbClr val="1A1F41"/>
                </a:solidFill>
                <a:latin typeface="Big Shoulders Display"/>
                <a:ea typeface="Big Shoulders Display"/>
                <a:cs typeface="Big Shoulders Display"/>
                <a:sym typeface="Big Shoulders Display"/>
              </a:rPr>
              <a:t> </a:t>
            </a:r>
            <a:r>
              <a:rPr lang="en-US" sz="5000" dirty="0" err="1">
                <a:solidFill>
                  <a:srgbClr val="1A1F41"/>
                </a:solidFill>
                <a:latin typeface="Big Shoulders Display"/>
                <a:ea typeface="Big Shoulders Display"/>
                <a:cs typeface="Big Shoulders Display"/>
                <a:sym typeface="Big Shoulders Display"/>
              </a:rPr>
              <a:t>tiêu</a:t>
            </a:r>
            <a:r>
              <a:rPr lang="en-US" sz="5000" dirty="0">
                <a:solidFill>
                  <a:srgbClr val="1A1F41"/>
                </a:solidFill>
                <a:latin typeface="Big Shoulders Display"/>
                <a:ea typeface="Big Shoulders Display"/>
                <a:cs typeface="Big Shoulders Display"/>
                <a:sym typeface="Big Shoulders Display"/>
              </a:rPr>
              <a:t> </a:t>
            </a:r>
            <a:r>
              <a:rPr lang="en-US" sz="5000" dirty="0" err="1">
                <a:solidFill>
                  <a:srgbClr val="1A1F41"/>
                </a:solidFill>
                <a:latin typeface="Big Shoulders Display"/>
                <a:ea typeface="Big Shoulders Display"/>
                <a:cs typeface="Big Shoulders Display"/>
                <a:sym typeface="Big Shoulders Display"/>
              </a:rPr>
              <a:t>kiểm</a:t>
            </a:r>
            <a:r>
              <a:rPr lang="en-US" sz="5000" dirty="0">
                <a:solidFill>
                  <a:srgbClr val="1A1F41"/>
                </a:solidFill>
                <a:latin typeface="Big Shoulders Display"/>
                <a:ea typeface="Big Shoulders Display"/>
                <a:cs typeface="Big Shoulders Display"/>
                <a:sym typeface="Big Shoulders Display"/>
              </a:rPr>
              <a:t> </a:t>
            </a:r>
            <a:r>
              <a:rPr lang="en-US" sz="5000" dirty="0" err="1">
                <a:solidFill>
                  <a:srgbClr val="1A1F41"/>
                </a:solidFill>
                <a:latin typeface="Big Shoulders Display"/>
                <a:ea typeface="Big Shoulders Display"/>
                <a:cs typeface="Big Shoulders Display"/>
                <a:sym typeface="Big Shoulders Display"/>
              </a:rPr>
              <a:t>thử</a:t>
            </a:r>
            <a:endParaRPr lang="en-US" sz="5000" dirty="0">
              <a:solidFill>
                <a:srgbClr val="1A1F41"/>
              </a:solidFill>
              <a:latin typeface="Big Shoulders Display"/>
              <a:ea typeface="Big Shoulders Display"/>
              <a:cs typeface="Big Shoulders Display"/>
              <a:sym typeface="Big Shoulders Display"/>
            </a:endParaRPr>
          </a:p>
        </p:txBody>
      </p:sp>
      <p:sp>
        <p:nvSpPr>
          <p:cNvPr id="9" name="TextBox 9"/>
          <p:cNvSpPr txBox="1"/>
          <p:nvPr/>
        </p:nvSpPr>
        <p:spPr>
          <a:xfrm>
            <a:off x="2139249" y="4307066"/>
            <a:ext cx="5328351" cy="736600"/>
          </a:xfrm>
          <a:prstGeom prst="rect">
            <a:avLst/>
          </a:prstGeom>
        </p:spPr>
        <p:txBody>
          <a:bodyPr wrap="square" lIns="0" tIns="0" rIns="0" bIns="0" rtlCol="0" anchor="t">
            <a:spAutoFit/>
          </a:bodyPr>
          <a:lstStyle/>
          <a:p>
            <a:pPr algn="ctr">
              <a:lnSpc>
                <a:spcPts val="5750"/>
              </a:lnSpc>
              <a:spcBef>
                <a:spcPct val="0"/>
              </a:spcBef>
            </a:pPr>
            <a:r>
              <a:rPr lang="en-US" sz="5000" dirty="0">
                <a:solidFill>
                  <a:srgbClr val="1A1F41"/>
                </a:solidFill>
                <a:latin typeface="Big Shoulders Display"/>
                <a:ea typeface="Big Shoulders Display"/>
                <a:cs typeface="Big Shoulders Display"/>
                <a:sym typeface="Big Shoulders Display"/>
              </a:rPr>
              <a:t>5.2 </a:t>
            </a:r>
            <a:r>
              <a:rPr lang="en-US" sz="5000" dirty="0" err="1">
                <a:solidFill>
                  <a:srgbClr val="1A1F41"/>
                </a:solidFill>
                <a:latin typeface="Big Shoulders Display"/>
                <a:ea typeface="Big Shoulders Display"/>
                <a:cs typeface="Big Shoulders Display"/>
                <a:sym typeface="Big Shoulders Display"/>
              </a:rPr>
              <a:t>Phương</a:t>
            </a:r>
            <a:r>
              <a:rPr lang="en-US" sz="5000" dirty="0">
                <a:solidFill>
                  <a:srgbClr val="1A1F41"/>
                </a:solidFill>
                <a:latin typeface="Big Shoulders Display"/>
                <a:ea typeface="Big Shoulders Display"/>
                <a:cs typeface="Big Shoulders Display"/>
                <a:sym typeface="Big Shoulders Display"/>
              </a:rPr>
              <a:t> </a:t>
            </a:r>
            <a:r>
              <a:rPr lang="en-US" sz="5000" dirty="0" err="1">
                <a:solidFill>
                  <a:srgbClr val="1A1F41"/>
                </a:solidFill>
                <a:latin typeface="Big Shoulders Display"/>
                <a:ea typeface="Big Shoulders Display"/>
                <a:cs typeface="Big Shoulders Display"/>
                <a:sym typeface="Big Shoulders Display"/>
              </a:rPr>
              <a:t>pháp</a:t>
            </a:r>
            <a:r>
              <a:rPr lang="en-US" sz="5000" dirty="0">
                <a:solidFill>
                  <a:srgbClr val="1A1F41"/>
                </a:solidFill>
                <a:latin typeface="Big Shoulders Display"/>
                <a:ea typeface="Big Shoulders Display"/>
                <a:cs typeface="Big Shoulders Display"/>
                <a:sym typeface="Big Shoulders Display"/>
              </a:rPr>
              <a:t> </a:t>
            </a:r>
            <a:r>
              <a:rPr lang="en-US" sz="5000" dirty="0" err="1">
                <a:solidFill>
                  <a:srgbClr val="1A1F41"/>
                </a:solidFill>
                <a:latin typeface="Big Shoulders Display"/>
                <a:ea typeface="Big Shoulders Display"/>
                <a:cs typeface="Big Shoulders Display"/>
                <a:sym typeface="Big Shoulders Display"/>
              </a:rPr>
              <a:t>kiểm</a:t>
            </a:r>
            <a:r>
              <a:rPr lang="en-US" sz="5000" dirty="0">
                <a:solidFill>
                  <a:srgbClr val="1A1F41"/>
                </a:solidFill>
                <a:latin typeface="Big Shoulders Display"/>
                <a:ea typeface="Big Shoulders Display"/>
                <a:cs typeface="Big Shoulders Display"/>
                <a:sym typeface="Big Shoulders Display"/>
              </a:rPr>
              <a:t> </a:t>
            </a:r>
            <a:r>
              <a:rPr lang="en-US" sz="5000" dirty="0" err="1">
                <a:solidFill>
                  <a:srgbClr val="1A1F41"/>
                </a:solidFill>
                <a:latin typeface="Big Shoulders Display"/>
                <a:ea typeface="Big Shoulders Display"/>
                <a:cs typeface="Big Shoulders Display"/>
                <a:sym typeface="Big Shoulders Display"/>
              </a:rPr>
              <a:t>thử</a:t>
            </a:r>
            <a:endParaRPr lang="en-US" sz="5000" dirty="0">
              <a:solidFill>
                <a:srgbClr val="1A1F41"/>
              </a:solidFill>
              <a:latin typeface="Big Shoulders Display"/>
              <a:ea typeface="Big Shoulders Display"/>
              <a:cs typeface="Big Shoulders Display"/>
              <a:sym typeface="Big Shoulders Display"/>
            </a:endParaRPr>
          </a:p>
        </p:txBody>
      </p:sp>
      <p:sp>
        <p:nvSpPr>
          <p:cNvPr id="10" name="TextBox 10"/>
          <p:cNvSpPr txBox="1"/>
          <p:nvPr/>
        </p:nvSpPr>
        <p:spPr>
          <a:xfrm>
            <a:off x="2170084" y="5253216"/>
            <a:ext cx="10366144" cy="1317625"/>
          </a:xfrm>
          <a:prstGeom prst="rect">
            <a:avLst/>
          </a:prstGeom>
        </p:spPr>
        <p:txBody>
          <a:bodyPr lIns="0" tIns="0" rIns="0" bIns="0" rtlCol="0" anchor="t">
            <a:spAutoFit/>
          </a:bodyPr>
          <a:lstStyle/>
          <a:p>
            <a:pPr algn="l">
              <a:lnSpc>
                <a:spcPts val="3499"/>
              </a:lnSpc>
              <a:spcBef>
                <a:spcPct val="0"/>
              </a:spcBef>
            </a:pPr>
            <a:r>
              <a:rPr lang="en-US" sz="2499">
                <a:solidFill>
                  <a:srgbClr val="1A1F41"/>
                </a:solidFill>
                <a:latin typeface="Poppins"/>
                <a:ea typeface="Poppins"/>
                <a:cs typeface="Poppins"/>
                <a:sym typeface="Poppins"/>
              </a:rPr>
              <a:t>Nhóm sử dụng phương pháp kiểm thử thủ công (Manual Testing) — trực tiếp chạy ứng dụng, thao tác trên giao diện và quan sát kết quả hiển thị để đối chiếu với kết quả mong đợi.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646234">
            <a:off x="14757720" y="8087970"/>
            <a:ext cx="3820236" cy="2695003"/>
          </a:xfrm>
          <a:custGeom>
            <a:avLst/>
            <a:gdLst/>
            <a:ahLst/>
            <a:cxnLst/>
            <a:rect l="l" t="t" r="r" b="b"/>
            <a:pathLst>
              <a:path w="3820236" h="2695003">
                <a:moveTo>
                  <a:pt x="0" y="0"/>
                </a:moveTo>
                <a:lnTo>
                  <a:pt x="3820236" y="0"/>
                </a:lnTo>
                <a:lnTo>
                  <a:pt x="3820236" y="2695003"/>
                </a:lnTo>
                <a:lnTo>
                  <a:pt x="0" y="2695003"/>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3" name="Freeform 3"/>
          <p:cNvSpPr/>
          <p:nvPr/>
        </p:nvSpPr>
        <p:spPr>
          <a:xfrm rot="1041331">
            <a:off x="-1056878" y="5259749"/>
            <a:ext cx="2710700" cy="1912276"/>
          </a:xfrm>
          <a:custGeom>
            <a:avLst/>
            <a:gdLst/>
            <a:ahLst/>
            <a:cxnLst/>
            <a:rect l="l" t="t" r="r" b="b"/>
            <a:pathLst>
              <a:path w="2710700" h="1912276">
                <a:moveTo>
                  <a:pt x="0" y="0"/>
                </a:moveTo>
                <a:lnTo>
                  <a:pt x="2710700" y="0"/>
                </a:lnTo>
                <a:lnTo>
                  <a:pt x="2710700" y="1912276"/>
                </a:lnTo>
                <a:lnTo>
                  <a:pt x="0" y="1912276"/>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4" name="Freeform 4"/>
          <p:cNvSpPr/>
          <p:nvPr/>
        </p:nvSpPr>
        <p:spPr>
          <a:xfrm>
            <a:off x="722059" y="9070975"/>
            <a:ext cx="5578495" cy="5578495"/>
          </a:xfrm>
          <a:custGeom>
            <a:avLst/>
            <a:gdLst/>
            <a:ahLst/>
            <a:cxnLst/>
            <a:rect l="l" t="t" r="r" b="b"/>
            <a:pathLst>
              <a:path w="5578495" h="5578495">
                <a:moveTo>
                  <a:pt x="0" y="0"/>
                </a:moveTo>
                <a:lnTo>
                  <a:pt x="5578495" y="0"/>
                </a:lnTo>
                <a:lnTo>
                  <a:pt x="5578495" y="5578495"/>
                </a:lnTo>
                <a:lnTo>
                  <a:pt x="0" y="5578495"/>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5" name="Freeform 5"/>
          <p:cNvSpPr/>
          <p:nvPr/>
        </p:nvSpPr>
        <p:spPr>
          <a:xfrm>
            <a:off x="14750624" y="1028700"/>
            <a:ext cx="2958261" cy="2856066"/>
          </a:xfrm>
          <a:custGeom>
            <a:avLst/>
            <a:gdLst/>
            <a:ahLst/>
            <a:cxnLst/>
            <a:rect l="l" t="t" r="r" b="b"/>
            <a:pathLst>
              <a:path w="2958261" h="2856066">
                <a:moveTo>
                  <a:pt x="0" y="0"/>
                </a:moveTo>
                <a:lnTo>
                  <a:pt x="2958261" y="0"/>
                </a:lnTo>
                <a:lnTo>
                  <a:pt x="2958261" y="2856066"/>
                </a:lnTo>
                <a:lnTo>
                  <a:pt x="0" y="2856066"/>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en-US"/>
          </a:p>
        </p:txBody>
      </p:sp>
      <p:sp>
        <p:nvSpPr>
          <p:cNvPr id="6" name="TextBox 6"/>
          <p:cNvSpPr txBox="1"/>
          <p:nvPr/>
        </p:nvSpPr>
        <p:spPr>
          <a:xfrm>
            <a:off x="-333641" y="669925"/>
            <a:ext cx="6925046" cy="736600"/>
          </a:xfrm>
          <a:prstGeom prst="rect">
            <a:avLst/>
          </a:prstGeom>
        </p:spPr>
        <p:txBody>
          <a:bodyPr lIns="0" tIns="0" rIns="0" bIns="0" rtlCol="0" anchor="t">
            <a:spAutoFit/>
          </a:bodyPr>
          <a:lstStyle/>
          <a:p>
            <a:pPr marL="0" lvl="0" indent="0" algn="ctr">
              <a:lnSpc>
                <a:spcPts val="5750"/>
              </a:lnSpc>
              <a:spcBef>
                <a:spcPct val="0"/>
              </a:spcBef>
            </a:pPr>
            <a:r>
              <a:rPr lang="en-US" sz="5000" b="1">
                <a:solidFill>
                  <a:srgbClr val="1A1F41"/>
                </a:solidFill>
                <a:latin typeface="Big Shoulders Display Bold"/>
                <a:ea typeface="Big Shoulders Display Bold"/>
                <a:cs typeface="Big Shoulders Display Bold"/>
                <a:sym typeface="Big Shoulders Display Bold"/>
              </a:rPr>
              <a:t>5.TESTING</a:t>
            </a:r>
          </a:p>
        </p:txBody>
      </p:sp>
      <p:sp>
        <p:nvSpPr>
          <p:cNvPr id="7" name="TextBox 7"/>
          <p:cNvSpPr txBox="1"/>
          <p:nvPr/>
        </p:nvSpPr>
        <p:spPr>
          <a:xfrm>
            <a:off x="2139249" y="2705054"/>
            <a:ext cx="9942557" cy="4822825"/>
          </a:xfrm>
          <a:prstGeom prst="rect">
            <a:avLst/>
          </a:prstGeom>
        </p:spPr>
        <p:txBody>
          <a:bodyPr lIns="0" tIns="0" rIns="0" bIns="0" rtlCol="0" anchor="t">
            <a:spAutoFit/>
          </a:bodyPr>
          <a:lstStyle/>
          <a:p>
            <a:pPr algn="l">
              <a:lnSpc>
                <a:spcPts val="3499"/>
              </a:lnSpc>
              <a:spcBef>
                <a:spcPct val="0"/>
              </a:spcBef>
            </a:pPr>
            <a:r>
              <a:rPr lang="en-US" sz="2499">
                <a:solidFill>
                  <a:srgbClr val="1A1F41"/>
                </a:solidFill>
                <a:latin typeface="Poppins"/>
                <a:ea typeface="Poppins"/>
                <a:cs typeface="Poppins"/>
                <a:sym typeface="Poppins"/>
              </a:rPr>
              <a:t>Hệ thống được kiểm thử theo các module chính:</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Module Login: Kiểm tra xác thực đầu vào và luồng đăng nhập thành công.</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Module Lobby: Kiểm tra hiển thị danh sách người chơi, gửi/nhận lời mời đấu</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Module Game: Kiểm tra logic click bàn cờ, quản lý lượt đi, render bàn cờ, đánh vào ô đã có quân, đánh khi chưa đến lượt.</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Module Cầu hòa: Kiểm tra luồng gửi/nhận/chấp nhận/từ chối cầu hòa, ngăn chặn cầu hòa với bot.</a:t>
            </a:r>
          </a:p>
          <a:p>
            <a:pPr marL="539749" lvl="1" indent="-269875" algn="l">
              <a:lnSpc>
                <a:spcPts val="3499"/>
              </a:lnSpc>
              <a:buFont typeface="Arial"/>
              <a:buChar char="•"/>
            </a:pPr>
            <a:r>
              <a:rPr lang="en-US" sz="2499">
                <a:solidFill>
                  <a:srgbClr val="1A1F41"/>
                </a:solidFill>
                <a:latin typeface="Poppins"/>
                <a:ea typeface="Poppins"/>
                <a:cs typeface="Poppins"/>
                <a:sym typeface="Poppins"/>
              </a:rPr>
              <a:t>Module Bot: Kiểm tra 3 mức độ khó (Easy/Medium/Hard)</a:t>
            </a:r>
          </a:p>
        </p:txBody>
      </p:sp>
      <p:sp>
        <p:nvSpPr>
          <p:cNvPr id="8" name="TextBox 8"/>
          <p:cNvSpPr txBox="1"/>
          <p:nvPr/>
        </p:nvSpPr>
        <p:spPr>
          <a:xfrm>
            <a:off x="2139249" y="1425575"/>
            <a:ext cx="6242751" cy="736600"/>
          </a:xfrm>
          <a:prstGeom prst="rect">
            <a:avLst/>
          </a:prstGeom>
        </p:spPr>
        <p:txBody>
          <a:bodyPr wrap="square" lIns="0" tIns="0" rIns="0" bIns="0" rtlCol="0" anchor="t">
            <a:spAutoFit/>
          </a:bodyPr>
          <a:lstStyle/>
          <a:p>
            <a:pPr algn="ctr">
              <a:lnSpc>
                <a:spcPts val="5750"/>
              </a:lnSpc>
              <a:spcBef>
                <a:spcPct val="0"/>
              </a:spcBef>
            </a:pPr>
            <a:r>
              <a:rPr lang="en-US" sz="5000" dirty="0">
                <a:solidFill>
                  <a:srgbClr val="1A1F41"/>
                </a:solidFill>
                <a:latin typeface="Big Shoulders Display"/>
                <a:ea typeface="Big Shoulders Display"/>
                <a:cs typeface="Big Shoulders Display"/>
                <a:sym typeface="Big Shoulders Display"/>
              </a:rPr>
              <a:t>5.3 </a:t>
            </a:r>
            <a:r>
              <a:rPr lang="en-US" sz="5000" dirty="0" err="1">
                <a:solidFill>
                  <a:srgbClr val="1A1F41"/>
                </a:solidFill>
                <a:latin typeface="Big Shoulders Display"/>
                <a:ea typeface="Big Shoulders Display"/>
                <a:cs typeface="Big Shoulders Display"/>
                <a:sym typeface="Big Shoulders Display"/>
              </a:rPr>
              <a:t>Các</a:t>
            </a:r>
            <a:r>
              <a:rPr lang="en-US" sz="5000" dirty="0">
                <a:solidFill>
                  <a:srgbClr val="1A1F41"/>
                </a:solidFill>
                <a:latin typeface="Big Shoulders Display"/>
                <a:ea typeface="Big Shoulders Display"/>
                <a:cs typeface="Big Shoulders Display"/>
                <a:sym typeface="Big Shoulders Display"/>
              </a:rPr>
              <a:t> module </a:t>
            </a:r>
            <a:r>
              <a:rPr lang="en-US" sz="5000" dirty="0" err="1">
                <a:solidFill>
                  <a:srgbClr val="1A1F41"/>
                </a:solidFill>
                <a:latin typeface="Big Shoulders Display"/>
                <a:ea typeface="Big Shoulders Display"/>
                <a:cs typeface="Big Shoulders Display"/>
                <a:sym typeface="Big Shoulders Display"/>
              </a:rPr>
              <a:t>được</a:t>
            </a:r>
            <a:r>
              <a:rPr lang="en-US" sz="5000" dirty="0">
                <a:solidFill>
                  <a:srgbClr val="1A1F41"/>
                </a:solidFill>
                <a:latin typeface="Big Shoulders Display"/>
                <a:ea typeface="Big Shoulders Display"/>
                <a:cs typeface="Big Shoulders Display"/>
                <a:sym typeface="Big Shoulders Display"/>
              </a:rPr>
              <a:t> </a:t>
            </a:r>
            <a:r>
              <a:rPr lang="en-US" sz="5000" dirty="0" err="1">
                <a:solidFill>
                  <a:srgbClr val="1A1F41"/>
                </a:solidFill>
                <a:latin typeface="Big Shoulders Display"/>
                <a:ea typeface="Big Shoulders Display"/>
                <a:cs typeface="Big Shoulders Display"/>
                <a:sym typeface="Big Shoulders Display"/>
              </a:rPr>
              <a:t>kiểm</a:t>
            </a:r>
            <a:r>
              <a:rPr lang="en-US" sz="5000" dirty="0">
                <a:solidFill>
                  <a:srgbClr val="1A1F41"/>
                </a:solidFill>
                <a:latin typeface="Big Shoulders Display"/>
                <a:ea typeface="Big Shoulders Display"/>
                <a:cs typeface="Big Shoulders Display"/>
                <a:sym typeface="Big Shoulders Display"/>
              </a:rPr>
              <a:t> </a:t>
            </a:r>
            <a:r>
              <a:rPr lang="en-US" sz="5000" dirty="0" err="1">
                <a:solidFill>
                  <a:srgbClr val="1A1F41"/>
                </a:solidFill>
                <a:latin typeface="Big Shoulders Display"/>
                <a:ea typeface="Big Shoulders Display"/>
                <a:cs typeface="Big Shoulders Display"/>
                <a:sym typeface="Big Shoulders Display"/>
              </a:rPr>
              <a:t>thử</a:t>
            </a:r>
            <a:endParaRPr lang="en-US" sz="5000" dirty="0">
              <a:solidFill>
                <a:srgbClr val="1A1F41"/>
              </a:solidFill>
              <a:latin typeface="Big Shoulders Display"/>
              <a:ea typeface="Big Shoulders Display"/>
              <a:cs typeface="Big Shoulders Display"/>
              <a:sym typeface="Big Shoulders Display"/>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646234">
            <a:off x="14757720" y="8087970"/>
            <a:ext cx="3820236" cy="2695003"/>
          </a:xfrm>
          <a:custGeom>
            <a:avLst/>
            <a:gdLst/>
            <a:ahLst/>
            <a:cxnLst/>
            <a:rect l="l" t="t" r="r" b="b"/>
            <a:pathLst>
              <a:path w="3820236" h="2695003">
                <a:moveTo>
                  <a:pt x="0" y="0"/>
                </a:moveTo>
                <a:lnTo>
                  <a:pt x="3820236" y="0"/>
                </a:lnTo>
                <a:lnTo>
                  <a:pt x="3820236" y="2695003"/>
                </a:lnTo>
                <a:lnTo>
                  <a:pt x="0" y="2695003"/>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3" name="Freeform 3"/>
          <p:cNvSpPr/>
          <p:nvPr/>
        </p:nvSpPr>
        <p:spPr>
          <a:xfrm rot="1041331">
            <a:off x="-1056878" y="5259749"/>
            <a:ext cx="2710700" cy="1912276"/>
          </a:xfrm>
          <a:custGeom>
            <a:avLst/>
            <a:gdLst/>
            <a:ahLst/>
            <a:cxnLst/>
            <a:rect l="l" t="t" r="r" b="b"/>
            <a:pathLst>
              <a:path w="2710700" h="1912276">
                <a:moveTo>
                  <a:pt x="0" y="0"/>
                </a:moveTo>
                <a:lnTo>
                  <a:pt x="2710700" y="0"/>
                </a:lnTo>
                <a:lnTo>
                  <a:pt x="2710700" y="1912276"/>
                </a:lnTo>
                <a:lnTo>
                  <a:pt x="0" y="1912276"/>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4" name="Freeform 4"/>
          <p:cNvSpPr/>
          <p:nvPr/>
        </p:nvSpPr>
        <p:spPr>
          <a:xfrm>
            <a:off x="722059" y="9070975"/>
            <a:ext cx="5578495" cy="5578495"/>
          </a:xfrm>
          <a:custGeom>
            <a:avLst/>
            <a:gdLst/>
            <a:ahLst/>
            <a:cxnLst/>
            <a:rect l="l" t="t" r="r" b="b"/>
            <a:pathLst>
              <a:path w="5578495" h="5578495">
                <a:moveTo>
                  <a:pt x="0" y="0"/>
                </a:moveTo>
                <a:lnTo>
                  <a:pt x="5578495" y="0"/>
                </a:lnTo>
                <a:lnTo>
                  <a:pt x="5578495" y="5578495"/>
                </a:lnTo>
                <a:lnTo>
                  <a:pt x="0" y="5578495"/>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5" name="Freeform 5"/>
          <p:cNvSpPr/>
          <p:nvPr/>
        </p:nvSpPr>
        <p:spPr>
          <a:xfrm>
            <a:off x="14750624" y="1028700"/>
            <a:ext cx="2958261" cy="2856066"/>
          </a:xfrm>
          <a:custGeom>
            <a:avLst/>
            <a:gdLst/>
            <a:ahLst/>
            <a:cxnLst/>
            <a:rect l="l" t="t" r="r" b="b"/>
            <a:pathLst>
              <a:path w="2958261" h="2856066">
                <a:moveTo>
                  <a:pt x="0" y="0"/>
                </a:moveTo>
                <a:lnTo>
                  <a:pt x="2958261" y="0"/>
                </a:lnTo>
                <a:lnTo>
                  <a:pt x="2958261" y="2856066"/>
                </a:lnTo>
                <a:lnTo>
                  <a:pt x="0" y="2856066"/>
                </a:lnTo>
                <a:lnTo>
                  <a:pt x="0" y="0"/>
                </a:lnTo>
                <a:close/>
              </a:path>
            </a:pathLst>
          </a:custGeom>
          <a:blipFill>
            <a:blip>
              <a:extLst>
                <a:ext uri="{96DAC541-7B7A-43D3-8B79-37D633B846F1}">
                  <asvg:svgBlip xmlns:asvg="http://schemas.microsoft.com/office/drawing/2016/SVG/main" xmlns="" r:embed="rId4"/>
                </a:ext>
              </a:extLst>
            </a:blip>
            <a:stretch>
              <a:fillRect/>
            </a:stretch>
          </a:blipFill>
        </p:spPr>
        <p:txBody>
          <a:bodyPr/>
          <a:lstStyle/>
          <a:p>
            <a:endParaRPr lang="en-US"/>
          </a:p>
        </p:txBody>
      </p:sp>
      <p:sp>
        <p:nvSpPr>
          <p:cNvPr id="6" name="TextBox 6"/>
          <p:cNvSpPr txBox="1"/>
          <p:nvPr/>
        </p:nvSpPr>
        <p:spPr>
          <a:xfrm>
            <a:off x="-333641" y="669925"/>
            <a:ext cx="6925046" cy="736600"/>
          </a:xfrm>
          <a:prstGeom prst="rect">
            <a:avLst/>
          </a:prstGeom>
        </p:spPr>
        <p:txBody>
          <a:bodyPr lIns="0" tIns="0" rIns="0" bIns="0" rtlCol="0" anchor="t">
            <a:spAutoFit/>
          </a:bodyPr>
          <a:lstStyle/>
          <a:p>
            <a:pPr marL="0" lvl="0" indent="0" algn="ctr">
              <a:lnSpc>
                <a:spcPts val="5750"/>
              </a:lnSpc>
              <a:spcBef>
                <a:spcPct val="0"/>
              </a:spcBef>
            </a:pPr>
            <a:r>
              <a:rPr lang="en-US" sz="5000" b="1">
                <a:solidFill>
                  <a:srgbClr val="1A1F41"/>
                </a:solidFill>
                <a:latin typeface="Big Shoulders Display Bold"/>
                <a:ea typeface="Big Shoulders Display Bold"/>
                <a:cs typeface="Big Shoulders Display Bold"/>
                <a:sym typeface="Big Shoulders Display Bold"/>
              </a:rPr>
              <a:t>6.TỔNG KẾT</a:t>
            </a:r>
          </a:p>
        </p:txBody>
      </p:sp>
      <p:sp>
        <p:nvSpPr>
          <p:cNvPr id="7" name="TextBox 7"/>
          <p:cNvSpPr txBox="1"/>
          <p:nvPr/>
        </p:nvSpPr>
        <p:spPr>
          <a:xfrm>
            <a:off x="2139249" y="2705054"/>
            <a:ext cx="9942557" cy="3946525"/>
          </a:xfrm>
          <a:prstGeom prst="rect">
            <a:avLst/>
          </a:prstGeom>
        </p:spPr>
        <p:txBody>
          <a:bodyPr lIns="0" tIns="0" rIns="0" bIns="0" rtlCol="0" anchor="t">
            <a:spAutoFit/>
          </a:bodyPr>
          <a:lstStyle/>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Xây dựng thành công game Caro trực tuyến theo mô hình Client–Server sử dụng TCP/IP.</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Phát triển bằng C# (.NET 9) và Windows Forms.</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Hoàn thành các chức năng chính:</a:t>
            </a:r>
          </a:p>
          <a:p>
            <a:pPr marL="1079499" lvl="2" indent="-359833" algn="l">
              <a:lnSpc>
                <a:spcPts val="3499"/>
              </a:lnSpc>
              <a:spcBef>
                <a:spcPct val="0"/>
              </a:spcBef>
              <a:buFont typeface="Arial"/>
              <a:buChar char="⚬"/>
            </a:pPr>
            <a:r>
              <a:rPr lang="en-US" sz="2499">
                <a:solidFill>
                  <a:srgbClr val="1A1F41"/>
                </a:solidFill>
                <a:latin typeface="Poppins"/>
                <a:ea typeface="Poppins"/>
                <a:cs typeface="Poppins"/>
                <a:sym typeface="Poppins"/>
              </a:rPr>
              <a:t>Đăng nhập và kết nối Server.</a:t>
            </a:r>
          </a:p>
          <a:p>
            <a:pPr marL="1079499" lvl="2" indent="-359833" algn="l">
              <a:lnSpc>
                <a:spcPts val="3499"/>
              </a:lnSpc>
              <a:spcBef>
                <a:spcPct val="0"/>
              </a:spcBef>
              <a:buFont typeface="Arial"/>
              <a:buChar char="⚬"/>
            </a:pPr>
            <a:r>
              <a:rPr lang="en-US" sz="2499">
                <a:solidFill>
                  <a:srgbClr val="1A1F41"/>
                </a:solidFill>
                <a:latin typeface="Poppins"/>
                <a:ea typeface="Poppins"/>
                <a:cs typeface="Poppins"/>
                <a:sym typeface="Poppins"/>
              </a:rPr>
              <a:t>Sảnh chờ, gửi lời mời và ghép trận.</a:t>
            </a:r>
          </a:p>
          <a:p>
            <a:pPr marL="1079499" lvl="2" indent="-359833" algn="l">
              <a:lnSpc>
                <a:spcPts val="3499"/>
              </a:lnSpc>
              <a:spcBef>
                <a:spcPct val="0"/>
              </a:spcBef>
              <a:buFont typeface="Arial"/>
              <a:buChar char="⚬"/>
            </a:pPr>
            <a:r>
              <a:rPr lang="en-US" sz="2499">
                <a:solidFill>
                  <a:srgbClr val="1A1F41"/>
                </a:solidFill>
                <a:latin typeface="Poppins"/>
                <a:ea typeface="Poppins"/>
                <a:cs typeface="Poppins"/>
                <a:sym typeface="Poppins"/>
              </a:rPr>
              <a:t>Chơi PvP và chơi với Bot (3 mức độ khó).</a:t>
            </a:r>
          </a:p>
          <a:p>
            <a:pPr marL="1079499" lvl="2" indent="-359833" algn="l">
              <a:lnSpc>
                <a:spcPts val="3499"/>
              </a:lnSpc>
              <a:spcBef>
                <a:spcPct val="0"/>
              </a:spcBef>
              <a:buFont typeface="Arial"/>
              <a:buChar char="⚬"/>
            </a:pPr>
            <a:r>
              <a:rPr lang="en-US" sz="2499">
                <a:solidFill>
                  <a:srgbClr val="1A1F41"/>
                </a:solidFill>
                <a:latin typeface="Poppins"/>
                <a:ea typeface="Poppins"/>
                <a:cs typeface="Poppins"/>
                <a:sym typeface="Poppins"/>
              </a:rPr>
              <a:t>Chat, đầu hàng, cầu hòa, giới hạn thời gian.</a:t>
            </a:r>
          </a:p>
          <a:p>
            <a:pPr marL="1079499" lvl="2" indent="-359833" algn="l">
              <a:lnSpc>
                <a:spcPts val="3499"/>
              </a:lnSpc>
              <a:buFont typeface="Arial"/>
              <a:buChar char="⚬"/>
            </a:pPr>
            <a:r>
              <a:rPr lang="en-US" sz="2499">
                <a:solidFill>
                  <a:srgbClr val="1A1F41"/>
                </a:solidFill>
                <a:latin typeface="Poppins"/>
                <a:ea typeface="Poppins"/>
                <a:cs typeface="Poppins"/>
                <a:sym typeface="Poppins"/>
              </a:rPr>
              <a:t>Lưu và xem lại lịch sử ván đấu.</a:t>
            </a:r>
          </a:p>
        </p:txBody>
      </p:sp>
      <p:sp>
        <p:nvSpPr>
          <p:cNvPr id="8" name="TextBox 8"/>
          <p:cNvSpPr txBox="1"/>
          <p:nvPr/>
        </p:nvSpPr>
        <p:spPr>
          <a:xfrm>
            <a:off x="1935582" y="1516344"/>
            <a:ext cx="3964781" cy="736600"/>
          </a:xfrm>
          <a:prstGeom prst="rect">
            <a:avLst/>
          </a:prstGeom>
        </p:spPr>
        <p:txBody>
          <a:bodyPr lIns="0" tIns="0" rIns="0" bIns="0" rtlCol="0" anchor="t">
            <a:spAutoFit/>
          </a:bodyPr>
          <a:lstStyle/>
          <a:p>
            <a:pPr algn="ctr">
              <a:lnSpc>
                <a:spcPts val="5750"/>
              </a:lnSpc>
              <a:spcBef>
                <a:spcPct val="0"/>
              </a:spcBef>
            </a:pPr>
            <a:r>
              <a:rPr lang="en-US" sz="5000">
                <a:solidFill>
                  <a:srgbClr val="1A1F41"/>
                </a:solidFill>
                <a:latin typeface="Big Shoulders Display"/>
                <a:ea typeface="Big Shoulders Display"/>
                <a:cs typeface="Big Shoulders Display"/>
                <a:sym typeface="Big Shoulders Display"/>
              </a:rPr>
              <a:t>6.1 kết quả đạt được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1691021">
            <a:off x="15919929" y="2558110"/>
            <a:ext cx="2846485" cy="2008066"/>
          </a:xfrm>
          <a:custGeom>
            <a:avLst/>
            <a:gdLst/>
            <a:ahLst/>
            <a:cxnLst/>
            <a:rect l="l" t="t" r="r" b="b"/>
            <a:pathLst>
              <a:path w="2846485" h="2008066">
                <a:moveTo>
                  <a:pt x="0" y="0"/>
                </a:moveTo>
                <a:lnTo>
                  <a:pt x="2846486" y="0"/>
                </a:lnTo>
                <a:lnTo>
                  <a:pt x="2846486" y="2008065"/>
                </a:lnTo>
                <a:lnTo>
                  <a:pt x="0" y="2008065"/>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3" name="TextBox 3"/>
          <p:cNvSpPr txBox="1"/>
          <p:nvPr/>
        </p:nvSpPr>
        <p:spPr>
          <a:xfrm>
            <a:off x="1611403" y="1495907"/>
            <a:ext cx="5778315" cy="736600"/>
          </a:xfrm>
          <a:prstGeom prst="rect">
            <a:avLst/>
          </a:prstGeom>
        </p:spPr>
        <p:txBody>
          <a:bodyPr lIns="0" tIns="0" rIns="0" bIns="0" rtlCol="0" anchor="t">
            <a:spAutoFit/>
          </a:bodyPr>
          <a:lstStyle/>
          <a:p>
            <a:pPr algn="l">
              <a:lnSpc>
                <a:spcPts val="5750"/>
              </a:lnSpc>
              <a:spcBef>
                <a:spcPct val="0"/>
              </a:spcBef>
            </a:pPr>
            <a:r>
              <a:rPr lang="en-US" sz="5000" b="1">
                <a:solidFill>
                  <a:srgbClr val="1A1F41"/>
                </a:solidFill>
                <a:latin typeface="Big Shoulders Display Bold"/>
                <a:ea typeface="Big Shoulders Display Bold"/>
                <a:cs typeface="Big Shoulders Display Bold"/>
                <a:sym typeface="Big Shoulders Display Bold"/>
              </a:rPr>
              <a:t>6.TỔNG KẾT</a:t>
            </a:r>
          </a:p>
        </p:txBody>
      </p:sp>
      <p:sp>
        <p:nvSpPr>
          <p:cNvPr id="4" name="Freeform 4"/>
          <p:cNvSpPr/>
          <p:nvPr/>
        </p:nvSpPr>
        <p:spPr>
          <a:xfrm rot="1658979">
            <a:off x="-410794" y="9084614"/>
            <a:ext cx="2465303" cy="1739159"/>
          </a:xfrm>
          <a:custGeom>
            <a:avLst/>
            <a:gdLst/>
            <a:ahLst/>
            <a:cxnLst/>
            <a:rect l="l" t="t" r="r" b="b"/>
            <a:pathLst>
              <a:path w="2465303" h="1739159">
                <a:moveTo>
                  <a:pt x="0" y="0"/>
                </a:moveTo>
                <a:lnTo>
                  <a:pt x="2465303" y="0"/>
                </a:lnTo>
                <a:lnTo>
                  <a:pt x="2465303" y="1739159"/>
                </a:lnTo>
                <a:lnTo>
                  <a:pt x="0" y="1739159"/>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5" name="Freeform 5"/>
          <p:cNvSpPr/>
          <p:nvPr/>
        </p:nvSpPr>
        <p:spPr>
          <a:xfrm>
            <a:off x="8540080" y="-4549002"/>
            <a:ext cx="5578495" cy="5578495"/>
          </a:xfrm>
          <a:custGeom>
            <a:avLst/>
            <a:gdLst/>
            <a:ahLst/>
            <a:cxnLst/>
            <a:rect l="l" t="t" r="r" b="b"/>
            <a:pathLst>
              <a:path w="5578495" h="5578495">
                <a:moveTo>
                  <a:pt x="0" y="0"/>
                </a:moveTo>
                <a:lnTo>
                  <a:pt x="5578495" y="0"/>
                </a:lnTo>
                <a:lnTo>
                  <a:pt x="5578495" y="5578495"/>
                </a:lnTo>
                <a:lnTo>
                  <a:pt x="0" y="5578495"/>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6" name="TextBox 6"/>
          <p:cNvSpPr txBox="1"/>
          <p:nvPr/>
        </p:nvSpPr>
        <p:spPr>
          <a:xfrm>
            <a:off x="1611403" y="2332849"/>
            <a:ext cx="5387132" cy="441325"/>
          </a:xfrm>
          <a:prstGeom prst="rect">
            <a:avLst/>
          </a:prstGeom>
        </p:spPr>
        <p:txBody>
          <a:bodyPr lIns="0" tIns="0" rIns="0" bIns="0" rtlCol="0" anchor="t">
            <a:spAutoFit/>
          </a:bodyPr>
          <a:lstStyle/>
          <a:p>
            <a:pPr algn="ctr">
              <a:lnSpc>
                <a:spcPts val="3499"/>
              </a:lnSpc>
              <a:spcBef>
                <a:spcPct val="0"/>
              </a:spcBef>
            </a:pPr>
            <a:r>
              <a:rPr lang="en-US" sz="2499">
                <a:solidFill>
                  <a:srgbClr val="1A1F41"/>
                </a:solidFill>
                <a:latin typeface="Poppins"/>
                <a:ea typeface="Poppins"/>
                <a:cs typeface="Poppins"/>
                <a:sym typeface="Poppins"/>
              </a:rPr>
              <a:t>6.2 Đánh giá và huớgng phát triển</a:t>
            </a:r>
          </a:p>
        </p:txBody>
      </p:sp>
      <p:sp>
        <p:nvSpPr>
          <p:cNvPr id="7" name="TextBox 7"/>
          <p:cNvSpPr txBox="1"/>
          <p:nvPr/>
        </p:nvSpPr>
        <p:spPr>
          <a:xfrm>
            <a:off x="1611403" y="2977448"/>
            <a:ext cx="12665618" cy="5699125"/>
          </a:xfrm>
          <a:prstGeom prst="rect">
            <a:avLst/>
          </a:prstGeom>
        </p:spPr>
        <p:txBody>
          <a:bodyPr lIns="0" tIns="0" rIns="0" bIns="0" rtlCol="0" anchor="t">
            <a:spAutoFit/>
          </a:bodyPr>
          <a:lstStyle/>
          <a:p>
            <a:pPr algn="l">
              <a:lnSpc>
                <a:spcPts val="3499"/>
              </a:lnSpc>
            </a:pPr>
            <a:r>
              <a:rPr lang="en-US" sz="2499">
                <a:solidFill>
                  <a:srgbClr val="1A1F41"/>
                </a:solidFill>
                <a:latin typeface="Poppins"/>
                <a:ea typeface="Poppins"/>
                <a:cs typeface="Poppins"/>
                <a:sym typeface="Poppins"/>
              </a:rPr>
              <a:t>Ưu điểm</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Kiến trúc Client–Server rõ ràng, dùng Shared Library chung.</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Xử lý bất đồng bộ (async/await), hệ thống ổn định.</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Xử lý tốt lỗi kết nối và dữ liệu.</a:t>
            </a:r>
          </a:p>
          <a:p>
            <a:pPr algn="l">
              <a:lnSpc>
                <a:spcPts val="3499"/>
              </a:lnSpc>
              <a:spcBef>
                <a:spcPct val="0"/>
              </a:spcBef>
            </a:pPr>
            <a:r>
              <a:rPr lang="en-US" sz="2499">
                <a:solidFill>
                  <a:srgbClr val="1A1F41"/>
                </a:solidFill>
                <a:latin typeface="Poppins"/>
                <a:ea typeface="Poppins"/>
                <a:cs typeface="Poppins"/>
                <a:sym typeface="Poppins"/>
              </a:rPr>
              <a:t>Hạn chế</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Chưa có đăng nhập/xác thực người dùng.</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Lưu lịch sử bằng JSON, chưa dùng cơ sở dữ liệu.</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Chưa hỗ trợ ghép cặp tự động.</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Chưa có phòng chờ công khai.</a:t>
            </a:r>
          </a:p>
          <a:p>
            <a:pPr algn="l">
              <a:lnSpc>
                <a:spcPts val="3499"/>
              </a:lnSpc>
              <a:spcBef>
                <a:spcPct val="0"/>
              </a:spcBef>
            </a:pPr>
            <a:r>
              <a:rPr lang="en-US" sz="2499">
                <a:solidFill>
                  <a:srgbClr val="1A1F41"/>
                </a:solidFill>
                <a:latin typeface="Poppins"/>
                <a:ea typeface="Poppins"/>
                <a:cs typeface="Poppins"/>
                <a:sym typeface="Poppins"/>
              </a:rPr>
              <a:t>Hướng phát triển</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Tích hợp SQL Server/SQLite.</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Thêm bảng xếp hạng (ELO), phòng công khai và ghép cặp tự động.</a:t>
            </a:r>
          </a:p>
          <a:p>
            <a:pPr algn="l">
              <a:lnSpc>
                <a:spcPts val="3499"/>
              </a:lnSpc>
            </a:pPr>
            <a:endParaRPr lang="en-US" sz="2499">
              <a:solidFill>
                <a:srgbClr val="1A1F41"/>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1691021">
            <a:off x="15919929" y="2558110"/>
            <a:ext cx="2846485" cy="2008066"/>
          </a:xfrm>
          <a:custGeom>
            <a:avLst/>
            <a:gdLst/>
            <a:ahLst/>
            <a:cxnLst/>
            <a:rect l="l" t="t" r="r" b="b"/>
            <a:pathLst>
              <a:path w="2846485" h="2008066">
                <a:moveTo>
                  <a:pt x="0" y="0"/>
                </a:moveTo>
                <a:lnTo>
                  <a:pt x="2846486" y="0"/>
                </a:lnTo>
                <a:lnTo>
                  <a:pt x="2846486" y="2008065"/>
                </a:lnTo>
                <a:lnTo>
                  <a:pt x="0" y="2008065"/>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3" name="TextBox 3"/>
          <p:cNvSpPr txBox="1"/>
          <p:nvPr/>
        </p:nvSpPr>
        <p:spPr>
          <a:xfrm>
            <a:off x="6875987" y="1526164"/>
            <a:ext cx="5778315" cy="736600"/>
          </a:xfrm>
          <a:prstGeom prst="rect">
            <a:avLst/>
          </a:prstGeom>
        </p:spPr>
        <p:txBody>
          <a:bodyPr lIns="0" tIns="0" rIns="0" bIns="0" rtlCol="0" anchor="t">
            <a:spAutoFit/>
          </a:bodyPr>
          <a:lstStyle/>
          <a:p>
            <a:pPr algn="l">
              <a:lnSpc>
                <a:spcPts val="5750"/>
              </a:lnSpc>
              <a:spcBef>
                <a:spcPct val="0"/>
              </a:spcBef>
            </a:pPr>
            <a:r>
              <a:rPr lang="en-US" sz="5000" b="1">
                <a:solidFill>
                  <a:srgbClr val="1A1F41"/>
                </a:solidFill>
                <a:latin typeface="Big Shoulders Display Bold"/>
                <a:ea typeface="Big Shoulders Display Bold"/>
                <a:cs typeface="Big Shoulders Display Bold"/>
                <a:sym typeface="Big Shoulders Display Bold"/>
              </a:rPr>
              <a:t>KẾT LUẬN</a:t>
            </a:r>
          </a:p>
        </p:txBody>
      </p:sp>
      <p:sp>
        <p:nvSpPr>
          <p:cNvPr id="4" name="Freeform 4"/>
          <p:cNvSpPr/>
          <p:nvPr/>
        </p:nvSpPr>
        <p:spPr>
          <a:xfrm rot="1658979">
            <a:off x="-410794" y="9084614"/>
            <a:ext cx="2465303" cy="1739159"/>
          </a:xfrm>
          <a:custGeom>
            <a:avLst/>
            <a:gdLst/>
            <a:ahLst/>
            <a:cxnLst/>
            <a:rect l="l" t="t" r="r" b="b"/>
            <a:pathLst>
              <a:path w="2465303" h="1739159">
                <a:moveTo>
                  <a:pt x="0" y="0"/>
                </a:moveTo>
                <a:lnTo>
                  <a:pt x="2465303" y="0"/>
                </a:lnTo>
                <a:lnTo>
                  <a:pt x="2465303" y="1739159"/>
                </a:lnTo>
                <a:lnTo>
                  <a:pt x="0" y="1739159"/>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5" name="Freeform 5"/>
          <p:cNvSpPr/>
          <p:nvPr/>
        </p:nvSpPr>
        <p:spPr>
          <a:xfrm>
            <a:off x="8540080" y="-4549002"/>
            <a:ext cx="5578495" cy="5578495"/>
          </a:xfrm>
          <a:custGeom>
            <a:avLst/>
            <a:gdLst/>
            <a:ahLst/>
            <a:cxnLst/>
            <a:rect l="l" t="t" r="r" b="b"/>
            <a:pathLst>
              <a:path w="5578495" h="5578495">
                <a:moveTo>
                  <a:pt x="0" y="0"/>
                </a:moveTo>
                <a:lnTo>
                  <a:pt x="5578495" y="0"/>
                </a:lnTo>
                <a:lnTo>
                  <a:pt x="5578495" y="5578495"/>
                </a:lnTo>
                <a:lnTo>
                  <a:pt x="0" y="5578495"/>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6" name="TextBox 6"/>
          <p:cNvSpPr txBox="1"/>
          <p:nvPr/>
        </p:nvSpPr>
        <p:spPr>
          <a:xfrm>
            <a:off x="2317283" y="2949575"/>
            <a:ext cx="12665618" cy="2193925"/>
          </a:xfrm>
          <a:prstGeom prst="rect">
            <a:avLst/>
          </a:prstGeom>
        </p:spPr>
        <p:txBody>
          <a:bodyPr lIns="0" tIns="0" rIns="0" bIns="0" rtlCol="0" anchor="t">
            <a:spAutoFit/>
          </a:bodyPr>
          <a:lstStyle/>
          <a:p>
            <a:pPr algn="ctr">
              <a:lnSpc>
                <a:spcPts val="3499"/>
              </a:lnSpc>
              <a:spcBef>
                <a:spcPct val="0"/>
              </a:spcBef>
            </a:pPr>
            <a:r>
              <a:rPr lang="en-US" sz="2499">
                <a:solidFill>
                  <a:srgbClr val="1A1F41"/>
                </a:solidFill>
                <a:latin typeface="Poppins"/>
                <a:ea typeface="Poppins"/>
                <a:cs typeface="Poppins"/>
                <a:sym typeface="Poppins"/>
              </a:rPr>
              <a:t>Qua quá trình thực hiện, nhóm đã xây dựng thành công ứng dụng game Caro trực tuyến theo mô hình Client–Server, vận dụng hiệu quả các kiến thức về lập trình mạng, xử lý bất đồng bộ và trí tuệ nhân tạo. Mặc dù vẫn còn một số hạn chế, sản phẩm đã đáp ứng đầy đủ các mục tiêu đề ra và là nền tảng để tiếp tục phát triển trong tương lai.</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TextBox 2"/>
          <p:cNvSpPr txBox="1"/>
          <p:nvPr/>
        </p:nvSpPr>
        <p:spPr>
          <a:xfrm>
            <a:off x="6716871" y="4254331"/>
            <a:ext cx="5147566" cy="1473200"/>
          </a:xfrm>
          <a:prstGeom prst="rect">
            <a:avLst/>
          </a:prstGeom>
        </p:spPr>
        <p:txBody>
          <a:bodyPr lIns="0" tIns="0" rIns="0" bIns="0" rtlCol="0" anchor="t">
            <a:spAutoFit/>
          </a:bodyPr>
          <a:lstStyle/>
          <a:p>
            <a:pPr marL="0" lvl="0" indent="0" algn="l">
              <a:lnSpc>
                <a:spcPts val="11499"/>
              </a:lnSpc>
              <a:spcBef>
                <a:spcPct val="0"/>
              </a:spcBef>
            </a:pPr>
            <a:r>
              <a:rPr lang="en-US" sz="9999" b="1" u="none" strike="noStrike">
                <a:solidFill>
                  <a:srgbClr val="1A1F41"/>
                </a:solidFill>
                <a:latin typeface="Big Shoulders Display Bold"/>
                <a:ea typeface="Big Shoulders Display Bold"/>
                <a:cs typeface="Big Shoulders Display Bold"/>
                <a:sym typeface="Big Shoulders Display Bold"/>
              </a:rPr>
              <a:t>THANK YOU</a:t>
            </a:r>
          </a:p>
        </p:txBody>
      </p:sp>
      <p:sp>
        <p:nvSpPr>
          <p:cNvPr id="3" name="Freeform 3"/>
          <p:cNvSpPr/>
          <p:nvPr/>
        </p:nvSpPr>
        <p:spPr>
          <a:xfrm rot="-1691021">
            <a:off x="15183415" y="1100870"/>
            <a:ext cx="2846485" cy="2008066"/>
          </a:xfrm>
          <a:custGeom>
            <a:avLst/>
            <a:gdLst/>
            <a:ahLst/>
            <a:cxnLst/>
            <a:rect l="l" t="t" r="r" b="b"/>
            <a:pathLst>
              <a:path w="2846485" h="2008066">
                <a:moveTo>
                  <a:pt x="0" y="0"/>
                </a:moveTo>
                <a:lnTo>
                  <a:pt x="2846486" y="0"/>
                </a:lnTo>
                <a:lnTo>
                  <a:pt x="2846486" y="2008066"/>
                </a:lnTo>
                <a:lnTo>
                  <a:pt x="0" y="2008066"/>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4" name="Freeform 4"/>
          <p:cNvSpPr/>
          <p:nvPr/>
        </p:nvSpPr>
        <p:spPr>
          <a:xfrm rot="1658979">
            <a:off x="-106706" y="8600514"/>
            <a:ext cx="2465303" cy="1739159"/>
          </a:xfrm>
          <a:custGeom>
            <a:avLst/>
            <a:gdLst/>
            <a:ahLst/>
            <a:cxnLst/>
            <a:rect l="l" t="t" r="r" b="b"/>
            <a:pathLst>
              <a:path w="2465303" h="1739159">
                <a:moveTo>
                  <a:pt x="0" y="0"/>
                </a:moveTo>
                <a:lnTo>
                  <a:pt x="2465302" y="0"/>
                </a:lnTo>
                <a:lnTo>
                  <a:pt x="2465302" y="1739159"/>
                </a:lnTo>
                <a:lnTo>
                  <a:pt x="0" y="1739159"/>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5" name="Freeform 5"/>
          <p:cNvSpPr/>
          <p:nvPr/>
        </p:nvSpPr>
        <p:spPr>
          <a:xfrm>
            <a:off x="12276263" y="9451472"/>
            <a:ext cx="5578495" cy="5578495"/>
          </a:xfrm>
          <a:custGeom>
            <a:avLst/>
            <a:gdLst/>
            <a:ahLst/>
            <a:cxnLst/>
            <a:rect l="l" t="t" r="r" b="b"/>
            <a:pathLst>
              <a:path w="5578495" h="5578495">
                <a:moveTo>
                  <a:pt x="0" y="0"/>
                </a:moveTo>
                <a:lnTo>
                  <a:pt x="5578495" y="0"/>
                </a:lnTo>
                <a:lnTo>
                  <a:pt x="5578495" y="5578495"/>
                </a:lnTo>
                <a:lnTo>
                  <a:pt x="0" y="5578495"/>
                </a:lnTo>
                <a:lnTo>
                  <a:pt x="0" y="0"/>
                </a:lnTo>
                <a:close/>
              </a:path>
            </a:pathLst>
          </a:custGeom>
          <a:blipFill>
            <a:blip>
              <a:extLst>
                <a:ext uri="{96DAC541-7B7A-43D3-8B79-37D633B846F1}">
                  <asvg:svgBlip xmlns:asvg="http://schemas.microsoft.com/office/drawing/2016/SVG/main" xmlns="" r:embed="rId3"/>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840</TotalTime>
  <Words>1847</Words>
  <Application>Microsoft Office PowerPoint</Application>
  <PresentationFormat>Custom</PresentationFormat>
  <Paragraphs>186</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Calibri</vt:lpstr>
      <vt:lpstr>Poppins</vt:lpstr>
      <vt:lpstr>Big Shoulders Display</vt:lpstr>
      <vt:lpstr>Courier New</vt:lpstr>
      <vt:lpstr>Arial</vt:lpstr>
      <vt:lpstr>Big Shoulders Display Bold</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Simple Games Presentation</dc:title>
  <dc:creator>Khoa Ho</dc:creator>
  <cp:lastModifiedBy>PC</cp:lastModifiedBy>
  <cp:revision>5</cp:revision>
  <dcterms:created xsi:type="dcterms:W3CDTF">2006-08-16T00:00:00Z</dcterms:created>
  <dcterms:modified xsi:type="dcterms:W3CDTF">2026-07-07T07:48:47Z</dcterms:modified>
  <dc:identifier>DAHOD0Sukfs</dc:identifier>
</cp:coreProperties>
</file>